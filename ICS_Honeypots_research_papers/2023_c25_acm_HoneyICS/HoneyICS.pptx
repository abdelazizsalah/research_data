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70" r:id="rId3"/>
    <p:sldId id="271" r:id="rId4"/>
    <p:sldId id="257" r:id="rId5"/>
    <p:sldId id="258" r:id="rId6"/>
    <p:sldId id="259" r:id="rId7"/>
    <p:sldId id="260" r:id="rId8"/>
    <p:sldId id="261" r:id="rId9"/>
    <p:sldId id="262" r:id="rId10"/>
    <p:sldId id="263" r:id="rId11"/>
    <p:sldId id="264" r:id="rId12"/>
    <p:sldId id="272" r:id="rId13"/>
    <p:sldId id="268" r:id="rId14"/>
    <p:sldId id="266" r:id="rId15"/>
    <p:sldId id="267" r:id="rId16"/>
    <p:sldId id="269" r:id="rId17"/>
    <p:sldId id="273" r:id="rId18"/>
    <p:sldId id="275" r:id="rId19"/>
    <p:sldId id="276" r:id="rId20"/>
    <p:sldId id="277" r:id="rId21"/>
    <p:sldId id="278" r:id="rId22"/>
    <p:sldId id="279" r:id="rId23"/>
    <p:sldId id="274" r:id="rId24"/>
    <p:sldId id="280" r:id="rId25"/>
    <p:sldId id="281" r:id="rId26"/>
    <p:sldId id="282" r:id="rId27"/>
    <p:sldId id="283" r:id="rId28"/>
    <p:sldId id="285" r:id="rId29"/>
    <p:sldId id="28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257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_rels/data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1912EE-816B-420E-A169-E15D288135F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DE61636-1E9E-493C-BA85-C28D7A55BEFD}">
      <dgm:prSet/>
      <dgm:spPr/>
      <dgm:t>
        <a:bodyPr/>
        <a:lstStyle/>
        <a:p>
          <a:r>
            <a:rPr lang="en-US" dirty="0"/>
            <a:t>PLC</a:t>
          </a:r>
        </a:p>
      </dgm:t>
    </dgm:pt>
    <dgm:pt modelId="{8E0696A3-3D71-4E25-97A6-6DA59075FC97}" type="parTrans" cxnId="{69A353E5-767A-420F-BC89-4C7A79FE264D}">
      <dgm:prSet/>
      <dgm:spPr/>
      <dgm:t>
        <a:bodyPr/>
        <a:lstStyle/>
        <a:p>
          <a:endParaRPr lang="en-US"/>
        </a:p>
      </dgm:t>
    </dgm:pt>
    <dgm:pt modelId="{C0357672-4150-46D8-951A-AB2138440D25}" type="sibTrans" cxnId="{69A353E5-767A-420F-BC89-4C7A79FE264D}">
      <dgm:prSet/>
      <dgm:spPr/>
      <dgm:t>
        <a:bodyPr/>
        <a:lstStyle/>
        <a:p>
          <a:endParaRPr lang="en-US"/>
        </a:p>
      </dgm:t>
    </dgm:pt>
    <dgm:pt modelId="{104C2F6C-71AB-4B04-AC93-4A6DC184B254}">
      <dgm:prSet/>
      <dgm:spPr/>
      <dgm:t>
        <a:bodyPr/>
        <a:lstStyle/>
        <a:p>
          <a:r>
            <a:rPr lang="en-US" dirty="0"/>
            <a:t>HMI</a:t>
          </a:r>
        </a:p>
      </dgm:t>
    </dgm:pt>
    <dgm:pt modelId="{6A19863B-76B6-4F63-84A4-AFC1E1329EF8}" type="parTrans" cxnId="{BEA34C38-2E6D-42E7-884B-C9BDD58CF6BF}">
      <dgm:prSet/>
      <dgm:spPr/>
      <dgm:t>
        <a:bodyPr/>
        <a:lstStyle/>
        <a:p>
          <a:endParaRPr lang="en-US"/>
        </a:p>
      </dgm:t>
    </dgm:pt>
    <dgm:pt modelId="{FA35A82D-C91F-409D-8A9E-A9767CC3C9A1}" type="sibTrans" cxnId="{BEA34C38-2E6D-42E7-884B-C9BDD58CF6BF}">
      <dgm:prSet/>
      <dgm:spPr/>
      <dgm:t>
        <a:bodyPr/>
        <a:lstStyle/>
        <a:p>
          <a:endParaRPr lang="en-US"/>
        </a:p>
      </dgm:t>
    </dgm:pt>
    <dgm:pt modelId="{14794016-94BE-4C03-B980-A3A3D7E3E22F}">
      <dgm:prSet/>
      <dgm:spPr/>
      <dgm:t>
        <a:bodyPr/>
        <a:lstStyle/>
        <a:p>
          <a:r>
            <a:rPr lang="en-US" dirty="0"/>
            <a:t>Physical Plants</a:t>
          </a:r>
        </a:p>
      </dgm:t>
    </dgm:pt>
    <dgm:pt modelId="{12357DE9-E4C1-44B7-9023-FCD908EBAA1F}" type="parTrans" cxnId="{4795162C-BE72-4318-8FB5-AD74368AE857}">
      <dgm:prSet/>
      <dgm:spPr/>
      <dgm:t>
        <a:bodyPr/>
        <a:lstStyle/>
        <a:p>
          <a:endParaRPr lang="en-US"/>
        </a:p>
      </dgm:t>
    </dgm:pt>
    <dgm:pt modelId="{43C61EAB-BE02-4A83-9425-A66A808B6310}" type="sibTrans" cxnId="{4795162C-BE72-4318-8FB5-AD74368AE857}">
      <dgm:prSet/>
      <dgm:spPr/>
      <dgm:t>
        <a:bodyPr/>
        <a:lstStyle/>
        <a:p>
          <a:endParaRPr lang="en-US"/>
        </a:p>
      </dgm:t>
    </dgm:pt>
    <dgm:pt modelId="{55802614-4C5F-493F-963E-C776F1C6885F}">
      <dgm:prSet/>
      <dgm:spPr/>
      <dgm:t>
        <a:bodyPr/>
        <a:lstStyle/>
        <a:p>
          <a:r>
            <a:rPr lang="en-US" dirty="0"/>
            <a:t> Management and  Monitoring System</a:t>
          </a:r>
        </a:p>
      </dgm:t>
    </dgm:pt>
    <dgm:pt modelId="{1499A038-F3AE-43A8-B870-414242A6E5CF}" type="parTrans" cxnId="{CEFC928F-ED2B-460D-825E-CF42881C22BD}">
      <dgm:prSet/>
      <dgm:spPr/>
      <dgm:t>
        <a:bodyPr/>
        <a:lstStyle/>
        <a:p>
          <a:endParaRPr lang="en-US"/>
        </a:p>
      </dgm:t>
    </dgm:pt>
    <dgm:pt modelId="{ED3F20FD-A89F-48CD-AC03-1EF3BF4CDC6D}" type="sibTrans" cxnId="{CEFC928F-ED2B-460D-825E-CF42881C22BD}">
      <dgm:prSet/>
      <dgm:spPr/>
      <dgm:t>
        <a:bodyPr/>
        <a:lstStyle/>
        <a:p>
          <a:endParaRPr lang="en-US"/>
        </a:p>
      </dgm:t>
    </dgm:pt>
    <dgm:pt modelId="{99D0C05C-10B0-49A3-BCA1-C76C13CB93EA}">
      <dgm:prSet/>
      <dgm:spPr/>
      <dgm:t>
        <a:bodyPr/>
        <a:lstStyle/>
        <a:p>
          <a:r>
            <a:rPr lang="en-US"/>
            <a:t>Supervisory</a:t>
          </a:r>
        </a:p>
      </dgm:t>
    </dgm:pt>
    <dgm:pt modelId="{D46A48FA-9C0B-43F2-880C-1B6D5FC7AD65}" type="parTrans" cxnId="{481732A4-1928-4694-801A-A861694E338A}">
      <dgm:prSet/>
      <dgm:spPr/>
      <dgm:t>
        <a:bodyPr/>
        <a:lstStyle/>
        <a:p>
          <a:endParaRPr lang="en-US"/>
        </a:p>
      </dgm:t>
    </dgm:pt>
    <dgm:pt modelId="{C6544D9F-6189-4654-9D44-921CA2C2E5C5}" type="sibTrans" cxnId="{481732A4-1928-4694-801A-A861694E338A}">
      <dgm:prSet/>
      <dgm:spPr/>
      <dgm:t>
        <a:bodyPr/>
        <a:lstStyle/>
        <a:p>
          <a:endParaRPr lang="en-US"/>
        </a:p>
      </dgm:t>
    </dgm:pt>
    <dgm:pt modelId="{7DBED50B-3877-401C-B14C-49A9A9AEC29E}">
      <dgm:prSet/>
      <dgm:spPr/>
      <dgm:t>
        <a:bodyPr/>
        <a:lstStyle/>
        <a:p>
          <a:r>
            <a:rPr lang="en-US"/>
            <a:t>Field communication</a:t>
          </a:r>
        </a:p>
      </dgm:t>
    </dgm:pt>
    <dgm:pt modelId="{A4E5960A-5A71-4AC7-A872-4A805137C09E}" type="parTrans" cxnId="{96D8E839-B9BF-4E6C-B518-643FA3E0CB69}">
      <dgm:prSet/>
      <dgm:spPr/>
      <dgm:t>
        <a:bodyPr/>
        <a:lstStyle/>
        <a:p>
          <a:endParaRPr lang="en-US"/>
        </a:p>
      </dgm:t>
    </dgm:pt>
    <dgm:pt modelId="{BB5A94AB-7AE3-4387-8772-8B965376FFD4}" type="sibTrans" cxnId="{96D8E839-B9BF-4E6C-B518-643FA3E0CB69}">
      <dgm:prSet/>
      <dgm:spPr/>
      <dgm:t>
        <a:bodyPr/>
        <a:lstStyle/>
        <a:p>
          <a:endParaRPr lang="en-US"/>
        </a:p>
      </dgm:t>
    </dgm:pt>
    <dgm:pt modelId="{4C73C59A-D258-46B8-B9BF-63CCAA85FEED}" type="pres">
      <dgm:prSet presAssocID="{4C1912EE-816B-420E-A169-E15D288135F8}" presName="root" presStyleCnt="0">
        <dgm:presLayoutVars>
          <dgm:dir/>
          <dgm:resizeHandles val="exact"/>
        </dgm:presLayoutVars>
      </dgm:prSet>
      <dgm:spPr/>
    </dgm:pt>
    <dgm:pt modelId="{15BE03A2-2BCB-46D0-BF97-F4C92E5B23F3}" type="pres">
      <dgm:prSet presAssocID="{1DE61636-1E9E-493C-BA85-C28D7A55BEFD}" presName="compNode" presStyleCnt="0"/>
      <dgm:spPr/>
    </dgm:pt>
    <dgm:pt modelId="{0C4CADE3-1711-491F-BA5D-0564C9466023}" type="pres">
      <dgm:prSet presAssocID="{1DE61636-1E9E-493C-BA85-C28D7A55BEFD}" presName="bgRect" presStyleLbl="bgShp" presStyleIdx="0" presStyleCnt="4"/>
      <dgm:spPr/>
    </dgm:pt>
    <dgm:pt modelId="{B051DFCF-6CEC-449B-81B6-6C0759FC61CE}" type="pres">
      <dgm:prSet presAssocID="{1DE61636-1E9E-493C-BA85-C28D7A55BEF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28EDF3B9-4C91-42A7-93BE-5988D586812A}" type="pres">
      <dgm:prSet presAssocID="{1DE61636-1E9E-493C-BA85-C28D7A55BEFD}" presName="spaceRect" presStyleCnt="0"/>
      <dgm:spPr/>
    </dgm:pt>
    <dgm:pt modelId="{63093C6F-CF3A-430A-8950-3684B05FFA37}" type="pres">
      <dgm:prSet presAssocID="{1DE61636-1E9E-493C-BA85-C28D7A55BEFD}" presName="parTx" presStyleLbl="revTx" presStyleIdx="0" presStyleCnt="5">
        <dgm:presLayoutVars>
          <dgm:chMax val="0"/>
          <dgm:chPref val="0"/>
        </dgm:presLayoutVars>
      </dgm:prSet>
      <dgm:spPr/>
    </dgm:pt>
    <dgm:pt modelId="{CF8B5529-28C9-4689-AE30-F7EF8E5ED4EB}" type="pres">
      <dgm:prSet presAssocID="{C0357672-4150-46D8-951A-AB2138440D25}" presName="sibTrans" presStyleCnt="0"/>
      <dgm:spPr/>
    </dgm:pt>
    <dgm:pt modelId="{4E5C1C94-28B2-44E4-BEA1-9500CFB22928}" type="pres">
      <dgm:prSet presAssocID="{104C2F6C-71AB-4B04-AC93-4A6DC184B254}" presName="compNode" presStyleCnt="0"/>
      <dgm:spPr/>
    </dgm:pt>
    <dgm:pt modelId="{B17BC534-3EA3-49EB-B008-D95F6C89C20E}" type="pres">
      <dgm:prSet presAssocID="{104C2F6C-71AB-4B04-AC93-4A6DC184B254}" presName="bgRect" presStyleLbl="bgShp" presStyleIdx="1" presStyleCnt="4"/>
      <dgm:spPr/>
    </dgm:pt>
    <dgm:pt modelId="{DEEBCFBE-6B7F-4CCC-B248-7EE0833723A1}" type="pres">
      <dgm:prSet presAssocID="{104C2F6C-71AB-4B04-AC93-4A6DC184B25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mote control"/>
        </a:ext>
      </dgm:extLst>
    </dgm:pt>
    <dgm:pt modelId="{D9DAD430-31A6-45B9-9713-A5ADEB4797E7}" type="pres">
      <dgm:prSet presAssocID="{104C2F6C-71AB-4B04-AC93-4A6DC184B254}" presName="spaceRect" presStyleCnt="0"/>
      <dgm:spPr/>
    </dgm:pt>
    <dgm:pt modelId="{45C46E1D-D4B9-49AB-82C4-38ED371E1C75}" type="pres">
      <dgm:prSet presAssocID="{104C2F6C-71AB-4B04-AC93-4A6DC184B254}" presName="parTx" presStyleLbl="revTx" presStyleIdx="1" presStyleCnt="5">
        <dgm:presLayoutVars>
          <dgm:chMax val="0"/>
          <dgm:chPref val="0"/>
        </dgm:presLayoutVars>
      </dgm:prSet>
      <dgm:spPr/>
    </dgm:pt>
    <dgm:pt modelId="{4F52E112-824B-41C9-8667-B44311821706}" type="pres">
      <dgm:prSet presAssocID="{FA35A82D-C91F-409D-8A9E-A9767CC3C9A1}" presName="sibTrans" presStyleCnt="0"/>
      <dgm:spPr/>
    </dgm:pt>
    <dgm:pt modelId="{BAD758DB-7101-4F0A-B125-9497ABD924C3}" type="pres">
      <dgm:prSet presAssocID="{14794016-94BE-4C03-B980-A3A3D7E3E22F}" presName="compNode" presStyleCnt="0"/>
      <dgm:spPr/>
    </dgm:pt>
    <dgm:pt modelId="{F8946C1A-E41E-4226-B2EA-43104F3137A2}" type="pres">
      <dgm:prSet presAssocID="{14794016-94BE-4C03-B980-A3A3D7E3E22F}" presName="bgRect" presStyleLbl="bgShp" presStyleIdx="2" presStyleCnt="4"/>
      <dgm:spPr/>
    </dgm:pt>
    <dgm:pt modelId="{3961C189-F59E-4BE7-87B9-D6AEADDAFE52}" type="pres">
      <dgm:prSet presAssocID="{14794016-94BE-4C03-B980-A3A3D7E3E22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er"/>
        </a:ext>
      </dgm:extLst>
    </dgm:pt>
    <dgm:pt modelId="{64862D20-753F-44DC-A5B4-66C5798EB852}" type="pres">
      <dgm:prSet presAssocID="{14794016-94BE-4C03-B980-A3A3D7E3E22F}" presName="spaceRect" presStyleCnt="0"/>
      <dgm:spPr/>
    </dgm:pt>
    <dgm:pt modelId="{62E242D1-D28B-4A9B-BA0C-440ABC834EBC}" type="pres">
      <dgm:prSet presAssocID="{14794016-94BE-4C03-B980-A3A3D7E3E22F}" presName="parTx" presStyleLbl="revTx" presStyleIdx="2" presStyleCnt="5">
        <dgm:presLayoutVars>
          <dgm:chMax val="0"/>
          <dgm:chPref val="0"/>
        </dgm:presLayoutVars>
      </dgm:prSet>
      <dgm:spPr/>
    </dgm:pt>
    <dgm:pt modelId="{FF92FA55-A1F8-48F4-9777-7F74B41321C3}" type="pres">
      <dgm:prSet presAssocID="{43C61EAB-BE02-4A83-9425-A66A808B6310}" presName="sibTrans" presStyleCnt="0"/>
      <dgm:spPr/>
    </dgm:pt>
    <dgm:pt modelId="{DFA615FD-49E0-484D-AB5A-2B48316DC936}" type="pres">
      <dgm:prSet presAssocID="{55802614-4C5F-493F-963E-C776F1C6885F}" presName="compNode" presStyleCnt="0"/>
      <dgm:spPr/>
    </dgm:pt>
    <dgm:pt modelId="{8A368D14-20DC-42FE-B518-981C8691FA55}" type="pres">
      <dgm:prSet presAssocID="{55802614-4C5F-493F-963E-C776F1C6885F}" presName="bgRect" presStyleLbl="bgShp" presStyleIdx="3" presStyleCnt="4"/>
      <dgm:spPr/>
    </dgm:pt>
    <dgm:pt modelId="{C22FE6E2-54D4-41A4-BEFF-9E150DCBA4DF}" type="pres">
      <dgm:prSet presAssocID="{55802614-4C5F-493F-963E-C776F1C6885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ierarchy"/>
        </a:ext>
      </dgm:extLst>
    </dgm:pt>
    <dgm:pt modelId="{F0EECA1F-9241-4928-BA79-65E098803C9D}" type="pres">
      <dgm:prSet presAssocID="{55802614-4C5F-493F-963E-C776F1C6885F}" presName="spaceRect" presStyleCnt="0"/>
      <dgm:spPr/>
    </dgm:pt>
    <dgm:pt modelId="{8A233E50-272B-4465-B5A1-879E6E8F56E2}" type="pres">
      <dgm:prSet presAssocID="{55802614-4C5F-493F-963E-C776F1C6885F}" presName="parTx" presStyleLbl="revTx" presStyleIdx="3" presStyleCnt="5">
        <dgm:presLayoutVars>
          <dgm:chMax val="0"/>
          <dgm:chPref val="0"/>
        </dgm:presLayoutVars>
      </dgm:prSet>
      <dgm:spPr/>
    </dgm:pt>
    <dgm:pt modelId="{52C48B65-365C-48DD-9B4C-3E43ECF9F818}" type="pres">
      <dgm:prSet presAssocID="{55802614-4C5F-493F-963E-C776F1C6885F}" presName="desTx" presStyleLbl="revTx" presStyleIdx="4" presStyleCnt="5">
        <dgm:presLayoutVars/>
      </dgm:prSet>
      <dgm:spPr/>
    </dgm:pt>
  </dgm:ptLst>
  <dgm:cxnLst>
    <dgm:cxn modelId="{23DA270F-E625-49FE-8EF7-EE8CCDCBAA87}" type="presOf" srcId="{104C2F6C-71AB-4B04-AC93-4A6DC184B254}" destId="{45C46E1D-D4B9-49AB-82C4-38ED371E1C75}" srcOrd="0" destOrd="0" presId="urn:microsoft.com/office/officeart/2018/2/layout/IconVerticalSolidList"/>
    <dgm:cxn modelId="{4795162C-BE72-4318-8FB5-AD74368AE857}" srcId="{4C1912EE-816B-420E-A169-E15D288135F8}" destId="{14794016-94BE-4C03-B980-A3A3D7E3E22F}" srcOrd="2" destOrd="0" parTransId="{12357DE9-E4C1-44B7-9023-FCD908EBAA1F}" sibTransId="{43C61EAB-BE02-4A83-9425-A66A808B6310}"/>
    <dgm:cxn modelId="{BEA34C38-2E6D-42E7-884B-C9BDD58CF6BF}" srcId="{4C1912EE-816B-420E-A169-E15D288135F8}" destId="{104C2F6C-71AB-4B04-AC93-4A6DC184B254}" srcOrd="1" destOrd="0" parTransId="{6A19863B-76B6-4F63-84A4-AFC1E1329EF8}" sibTransId="{FA35A82D-C91F-409D-8A9E-A9767CC3C9A1}"/>
    <dgm:cxn modelId="{96D8E839-B9BF-4E6C-B518-643FA3E0CB69}" srcId="{55802614-4C5F-493F-963E-C776F1C6885F}" destId="{7DBED50B-3877-401C-B14C-49A9A9AEC29E}" srcOrd="1" destOrd="0" parTransId="{A4E5960A-5A71-4AC7-A872-4A805137C09E}" sibTransId="{BB5A94AB-7AE3-4387-8772-8B965376FFD4}"/>
    <dgm:cxn modelId="{D9D48676-97C6-4B0C-87FA-DAB16D460EC2}" type="presOf" srcId="{99D0C05C-10B0-49A3-BCA1-C76C13CB93EA}" destId="{52C48B65-365C-48DD-9B4C-3E43ECF9F818}" srcOrd="0" destOrd="0" presId="urn:microsoft.com/office/officeart/2018/2/layout/IconVerticalSolidList"/>
    <dgm:cxn modelId="{CEFC928F-ED2B-460D-825E-CF42881C22BD}" srcId="{4C1912EE-816B-420E-A169-E15D288135F8}" destId="{55802614-4C5F-493F-963E-C776F1C6885F}" srcOrd="3" destOrd="0" parTransId="{1499A038-F3AE-43A8-B870-414242A6E5CF}" sibTransId="{ED3F20FD-A89F-48CD-AC03-1EF3BF4CDC6D}"/>
    <dgm:cxn modelId="{EE95C2A3-5852-4AC5-AB08-74669367F6B0}" type="presOf" srcId="{1DE61636-1E9E-493C-BA85-C28D7A55BEFD}" destId="{63093C6F-CF3A-430A-8950-3684B05FFA37}" srcOrd="0" destOrd="0" presId="urn:microsoft.com/office/officeart/2018/2/layout/IconVerticalSolidList"/>
    <dgm:cxn modelId="{481732A4-1928-4694-801A-A861694E338A}" srcId="{55802614-4C5F-493F-963E-C776F1C6885F}" destId="{99D0C05C-10B0-49A3-BCA1-C76C13CB93EA}" srcOrd="0" destOrd="0" parTransId="{D46A48FA-9C0B-43F2-880C-1B6D5FC7AD65}" sibTransId="{C6544D9F-6189-4654-9D44-921CA2C2E5C5}"/>
    <dgm:cxn modelId="{C55DF0B2-7EBA-402B-BEBE-F28116ECF7CD}" type="presOf" srcId="{14794016-94BE-4C03-B980-A3A3D7E3E22F}" destId="{62E242D1-D28B-4A9B-BA0C-440ABC834EBC}" srcOrd="0" destOrd="0" presId="urn:microsoft.com/office/officeart/2018/2/layout/IconVerticalSolidList"/>
    <dgm:cxn modelId="{467922B3-C1BD-48CB-A199-C9D7534F9DC2}" type="presOf" srcId="{55802614-4C5F-493F-963E-C776F1C6885F}" destId="{8A233E50-272B-4465-B5A1-879E6E8F56E2}" srcOrd="0" destOrd="0" presId="urn:microsoft.com/office/officeart/2018/2/layout/IconVerticalSolidList"/>
    <dgm:cxn modelId="{94F1A4D4-F8AC-429C-8D4D-CF1429A77C86}" type="presOf" srcId="{4C1912EE-816B-420E-A169-E15D288135F8}" destId="{4C73C59A-D258-46B8-B9BF-63CCAA85FEED}" srcOrd="0" destOrd="0" presId="urn:microsoft.com/office/officeart/2018/2/layout/IconVerticalSolidList"/>
    <dgm:cxn modelId="{A74B46E4-6B60-4EFA-912B-0547AFA6ECEC}" type="presOf" srcId="{7DBED50B-3877-401C-B14C-49A9A9AEC29E}" destId="{52C48B65-365C-48DD-9B4C-3E43ECF9F818}" srcOrd="0" destOrd="1" presId="urn:microsoft.com/office/officeart/2018/2/layout/IconVerticalSolidList"/>
    <dgm:cxn modelId="{69A353E5-767A-420F-BC89-4C7A79FE264D}" srcId="{4C1912EE-816B-420E-A169-E15D288135F8}" destId="{1DE61636-1E9E-493C-BA85-C28D7A55BEFD}" srcOrd="0" destOrd="0" parTransId="{8E0696A3-3D71-4E25-97A6-6DA59075FC97}" sibTransId="{C0357672-4150-46D8-951A-AB2138440D25}"/>
    <dgm:cxn modelId="{B3CC9035-1A35-4C19-BC90-E5E36CBE6534}" type="presParOf" srcId="{4C73C59A-D258-46B8-B9BF-63CCAA85FEED}" destId="{15BE03A2-2BCB-46D0-BF97-F4C92E5B23F3}" srcOrd="0" destOrd="0" presId="urn:microsoft.com/office/officeart/2018/2/layout/IconVerticalSolidList"/>
    <dgm:cxn modelId="{DDC75A70-F362-4D4E-90C1-8414E7993615}" type="presParOf" srcId="{15BE03A2-2BCB-46D0-BF97-F4C92E5B23F3}" destId="{0C4CADE3-1711-491F-BA5D-0564C9466023}" srcOrd="0" destOrd="0" presId="urn:microsoft.com/office/officeart/2018/2/layout/IconVerticalSolidList"/>
    <dgm:cxn modelId="{0FF4BED9-5F66-47CB-B8AC-49BFD0FBE2DD}" type="presParOf" srcId="{15BE03A2-2BCB-46D0-BF97-F4C92E5B23F3}" destId="{B051DFCF-6CEC-449B-81B6-6C0759FC61CE}" srcOrd="1" destOrd="0" presId="urn:microsoft.com/office/officeart/2018/2/layout/IconVerticalSolidList"/>
    <dgm:cxn modelId="{8F40E15A-D17F-4909-8A54-9FB1CD30ED74}" type="presParOf" srcId="{15BE03A2-2BCB-46D0-BF97-F4C92E5B23F3}" destId="{28EDF3B9-4C91-42A7-93BE-5988D586812A}" srcOrd="2" destOrd="0" presId="urn:microsoft.com/office/officeart/2018/2/layout/IconVerticalSolidList"/>
    <dgm:cxn modelId="{3102ECBE-E382-490D-BC21-1101E2C0CBA4}" type="presParOf" srcId="{15BE03A2-2BCB-46D0-BF97-F4C92E5B23F3}" destId="{63093C6F-CF3A-430A-8950-3684B05FFA37}" srcOrd="3" destOrd="0" presId="urn:microsoft.com/office/officeart/2018/2/layout/IconVerticalSolidList"/>
    <dgm:cxn modelId="{40CA2C12-8285-4471-889A-634A2A49F9C0}" type="presParOf" srcId="{4C73C59A-D258-46B8-B9BF-63CCAA85FEED}" destId="{CF8B5529-28C9-4689-AE30-F7EF8E5ED4EB}" srcOrd="1" destOrd="0" presId="urn:microsoft.com/office/officeart/2018/2/layout/IconVerticalSolidList"/>
    <dgm:cxn modelId="{004B1650-6680-4ABD-BCAD-ABE85C8F4E64}" type="presParOf" srcId="{4C73C59A-D258-46B8-B9BF-63CCAA85FEED}" destId="{4E5C1C94-28B2-44E4-BEA1-9500CFB22928}" srcOrd="2" destOrd="0" presId="urn:microsoft.com/office/officeart/2018/2/layout/IconVerticalSolidList"/>
    <dgm:cxn modelId="{F2ED3876-ED1E-498E-BA78-85E2C1B54695}" type="presParOf" srcId="{4E5C1C94-28B2-44E4-BEA1-9500CFB22928}" destId="{B17BC534-3EA3-49EB-B008-D95F6C89C20E}" srcOrd="0" destOrd="0" presId="urn:microsoft.com/office/officeart/2018/2/layout/IconVerticalSolidList"/>
    <dgm:cxn modelId="{A0519032-91C3-4ECE-8564-FFE3B4CEC8D3}" type="presParOf" srcId="{4E5C1C94-28B2-44E4-BEA1-9500CFB22928}" destId="{DEEBCFBE-6B7F-4CCC-B248-7EE0833723A1}" srcOrd="1" destOrd="0" presId="urn:microsoft.com/office/officeart/2018/2/layout/IconVerticalSolidList"/>
    <dgm:cxn modelId="{6551A2AB-A688-4A75-8654-FCA490FCB391}" type="presParOf" srcId="{4E5C1C94-28B2-44E4-BEA1-9500CFB22928}" destId="{D9DAD430-31A6-45B9-9713-A5ADEB4797E7}" srcOrd="2" destOrd="0" presId="urn:microsoft.com/office/officeart/2018/2/layout/IconVerticalSolidList"/>
    <dgm:cxn modelId="{CF0DB7AD-D6CC-4E25-9C5D-CB547FE23C05}" type="presParOf" srcId="{4E5C1C94-28B2-44E4-BEA1-9500CFB22928}" destId="{45C46E1D-D4B9-49AB-82C4-38ED371E1C75}" srcOrd="3" destOrd="0" presId="urn:microsoft.com/office/officeart/2018/2/layout/IconVerticalSolidList"/>
    <dgm:cxn modelId="{AB98E39D-6AF5-43ED-BF58-F3528C4BD1EE}" type="presParOf" srcId="{4C73C59A-D258-46B8-B9BF-63CCAA85FEED}" destId="{4F52E112-824B-41C9-8667-B44311821706}" srcOrd="3" destOrd="0" presId="urn:microsoft.com/office/officeart/2018/2/layout/IconVerticalSolidList"/>
    <dgm:cxn modelId="{20B48286-CDB0-4361-989A-3FC2B6DB7949}" type="presParOf" srcId="{4C73C59A-D258-46B8-B9BF-63CCAA85FEED}" destId="{BAD758DB-7101-4F0A-B125-9497ABD924C3}" srcOrd="4" destOrd="0" presId="urn:microsoft.com/office/officeart/2018/2/layout/IconVerticalSolidList"/>
    <dgm:cxn modelId="{8E924B6D-BCEB-442F-8E5B-72DC6812D59F}" type="presParOf" srcId="{BAD758DB-7101-4F0A-B125-9497ABD924C3}" destId="{F8946C1A-E41E-4226-B2EA-43104F3137A2}" srcOrd="0" destOrd="0" presId="urn:microsoft.com/office/officeart/2018/2/layout/IconVerticalSolidList"/>
    <dgm:cxn modelId="{226EAC44-CF53-4367-8F1D-6B8E9CC44B83}" type="presParOf" srcId="{BAD758DB-7101-4F0A-B125-9497ABD924C3}" destId="{3961C189-F59E-4BE7-87B9-D6AEADDAFE52}" srcOrd="1" destOrd="0" presId="urn:microsoft.com/office/officeart/2018/2/layout/IconVerticalSolidList"/>
    <dgm:cxn modelId="{67D32BA5-EECD-4362-97B8-6BBC149246AF}" type="presParOf" srcId="{BAD758DB-7101-4F0A-B125-9497ABD924C3}" destId="{64862D20-753F-44DC-A5B4-66C5798EB852}" srcOrd="2" destOrd="0" presId="urn:microsoft.com/office/officeart/2018/2/layout/IconVerticalSolidList"/>
    <dgm:cxn modelId="{E18043C6-C138-408D-8A65-71CB7D5554A0}" type="presParOf" srcId="{BAD758DB-7101-4F0A-B125-9497ABD924C3}" destId="{62E242D1-D28B-4A9B-BA0C-440ABC834EBC}" srcOrd="3" destOrd="0" presId="urn:microsoft.com/office/officeart/2018/2/layout/IconVerticalSolidList"/>
    <dgm:cxn modelId="{DDAE48E3-833C-4E91-B7B6-B43B0B721664}" type="presParOf" srcId="{4C73C59A-D258-46B8-B9BF-63CCAA85FEED}" destId="{FF92FA55-A1F8-48F4-9777-7F74B41321C3}" srcOrd="5" destOrd="0" presId="urn:microsoft.com/office/officeart/2018/2/layout/IconVerticalSolidList"/>
    <dgm:cxn modelId="{AE480276-FC0E-4818-955F-F59E56BCA95A}" type="presParOf" srcId="{4C73C59A-D258-46B8-B9BF-63CCAA85FEED}" destId="{DFA615FD-49E0-484D-AB5A-2B48316DC936}" srcOrd="6" destOrd="0" presId="urn:microsoft.com/office/officeart/2018/2/layout/IconVerticalSolidList"/>
    <dgm:cxn modelId="{9A4F0D41-CCAC-4EE4-936B-66EF8CF69348}" type="presParOf" srcId="{DFA615FD-49E0-484D-AB5A-2B48316DC936}" destId="{8A368D14-20DC-42FE-B518-981C8691FA55}" srcOrd="0" destOrd="0" presId="urn:microsoft.com/office/officeart/2018/2/layout/IconVerticalSolidList"/>
    <dgm:cxn modelId="{997C7704-845E-452D-948A-8D03E443D260}" type="presParOf" srcId="{DFA615FD-49E0-484D-AB5A-2B48316DC936}" destId="{C22FE6E2-54D4-41A4-BEFF-9E150DCBA4DF}" srcOrd="1" destOrd="0" presId="urn:microsoft.com/office/officeart/2018/2/layout/IconVerticalSolidList"/>
    <dgm:cxn modelId="{8B1EB7C7-16B9-4087-BAC3-7C8BA9BF4282}" type="presParOf" srcId="{DFA615FD-49E0-484D-AB5A-2B48316DC936}" destId="{F0EECA1F-9241-4928-BA79-65E098803C9D}" srcOrd="2" destOrd="0" presId="urn:microsoft.com/office/officeart/2018/2/layout/IconVerticalSolidList"/>
    <dgm:cxn modelId="{EBF61154-BBAA-4F29-861A-3EB879D30893}" type="presParOf" srcId="{DFA615FD-49E0-484D-AB5A-2B48316DC936}" destId="{8A233E50-272B-4465-B5A1-879E6E8F56E2}" srcOrd="3" destOrd="0" presId="urn:microsoft.com/office/officeart/2018/2/layout/IconVerticalSolidList"/>
    <dgm:cxn modelId="{7709367B-4436-4163-BC1F-35723AD74E9A}" type="presParOf" srcId="{DFA615FD-49E0-484D-AB5A-2B48316DC936}" destId="{52C48B65-365C-48DD-9B4C-3E43ECF9F818}"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787F9E8-95B6-4B20-9979-BFBA9A6397B0}"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098842D-855F-40B5-B1E3-74CC27AA59C2}">
      <dgm:prSet/>
      <dgm:spPr/>
      <dgm:t>
        <a:bodyPr/>
        <a:lstStyle/>
        <a:p>
          <a:pPr>
            <a:lnSpc>
              <a:spcPct val="100000"/>
            </a:lnSpc>
          </a:pPr>
          <a:r>
            <a:rPr lang="en-US"/>
            <a:t>can integerate both physical and software PLCs</a:t>
          </a:r>
        </a:p>
      </dgm:t>
    </dgm:pt>
    <dgm:pt modelId="{5E6943FF-9EF3-4BA8-8E98-908162AA76A9}" type="parTrans" cxnId="{C657C63D-A340-4DB9-AEE8-C98FAEDA0270}">
      <dgm:prSet/>
      <dgm:spPr/>
      <dgm:t>
        <a:bodyPr/>
        <a:lstStyle/>
        <a:p>
          <a:endParaRPr lang="en-US"/>
        </a:p>
      </dgm:t>
    </dgm:pt>
    <dgm:pt modelId="{D5A80919-0176-454C-995A-C46B6DDDD629}" type="sibTrans" cxnId="{C657C63D-A340-4DB9-AEE8-C98FAEDA0270}">
      <dgm:prSet/>
      <dgm:spPr/>
      <dgm:t>
        <a:bodyPr/>
        <a:lstStyle/>
        <a:p>
          <a:pPr>
            <a:lnSpc>
              <a:spcPct val="100000"/>
            </a:lnSpc>
          </a:pPr>
          <a:endParaRPr lang="en-US"/>
        </a:p>
      </dgm:t>
    </dgm:pt>
    <dgm:pt modelId="{0181AE9B-4D01-46A6-BDB8-0A39A7974DDC}">
      <dgm:prSet/>
      <dgm:spPr/>
      <dgm:t>
        <a:bodyPr/>
        <a:lstStyle/>
        <a:p>
          <a:pPr>
            <a:lnSpc>
              <a:spcPct val="100000"/>
            </a:lnSpc>
          </a:pPr>
          <a:r>
            <a:rPr lang="en-US" dirty="0"/>
            <a:t>for the Software PLCS, they support low and high interaction levels</a:t>
          </a:r>
        </a:p>
      </dgm:t>
    </dgm:pt>
    <dgm:pt modelId="{CA553914-ED31-4238-9F3E-EF48B314F328}" type="parTrans" cxnId="{A700B93A-6844-46A9-AC44-50037B78896B}">
      <dgm:prSet/>
      <dgm:spPr/>
      <dgm:t>
        <a:bodyPr/>
        <a:lstStyle/>
        <a:p>
          <a:endParaRPr lang="en-US"/>
        </a:p>
      </dgm:t>
    </dgm:pt>
    <dgm:pt modelId="{5B646FFF-5044-4BD6-9C35-979F59C0BE6C}" type="sibTrans" cxnId="{A700B93A-6844-46A9-AC44-50037B78896B}">
      <dgm:prSet/>
      <dgm:spPr/>
      <dgm:t>
        <a:bodyPr/>
        <a:lstStyle/>
        <a:p>
          <a:pPr>
            <a:lnSpc>
              <a:spcPct val="100000"/>
            </a:lnSpc>
          </a:pPr>
          <a:endParaRPr lang="en-US"/>
        </a:p>
      </dgm:t>
    </dgm:pt>
    <dgm:pt modelId="{9AD46071-4111-4B3C-8EE6-BD65F056B1CE}">
      <dgm:prSet/>
      <dgm:spPr/>
      <dgm:t>
        <a:bodyPr/>
        <a:lstStyle/>
        <a:p>
          <a:pPr>
            <a:lnSpc>
              <a:spcPct val="100000"/>
            </a:lnSpc>
          </a:pPr>
          <a:r>
            <a:rPr lang="en-US" dirty="0"/>
            <a:t>for Low-level they return the accurate fingerprints</a:t>
          </a:r>
        </a:p>
      </dgm:t>
    </dgm:pt>
    <dgm:pt modelId="{2CF801E0-FD74-475B-B97D-453EDD039BCA}" type="parTrans" cxnId="{AAA94F01-4BB3-4D3D-B8EB-54D4404127A0}">
      <dgm:prSet/>
      <dgm:spPr/>
      <dgm:t>
        <a:bodyPr/>
        <a:lstStyle/>
        <a:p>
          <a:endParaRPr lang="en-US"/>
        </a:p>
      </dgm:t>
    </dgm:pt>
    <dgm:pt modelId="{76D8A790-8FED-48FD-9FF7-02D202D50883}" type="sibTrans" cxnId="{AAA94F01-4BB3-4D3D-B8EB-54D4404127A0}">
      <dgm:prSet/>
      <dgm:spPr/>
      <dgm:t>
        <a:bodyPr/>
        <a:lstStyle/>
        <a:p>
          <a:pPr>
            <a:lnSpc>
              <a:spcPct val="100000"/>
            </a:lnSpc>
          </a:pPr>
          <a:endParaRPr lang="en-US"/>
        </a:p>
      </dgm:t>
    </dgm:pt>
    <dgm:pt modelId="{834450E6-5B96-4EEA-A635-EE13781A161F}">
      <dgm:prSet/>
      <dgm:spPr/>
      <dgm:t>
        <a:bodyPr/>
        <a:lstStyle/>
        <a:p>
          <a:pPr>
            <a:lnSpc>
              <a:spcPct val="100000"/>
            </a:lnSpc>
          </a:pPr>
          <a:r>
            <a:rPr lang="en-US" dirty="0"/>
            <a:t>while for High-level they emulates ICS protocols supporting  specific commands to modify PLCs registers</a:t>
          </a:r>
        </a:p>
      </dgm:t>
    </dgm:pt>
    <dgm:pt modelId="{A4A67EA8-2A77-426E-9F8C-3C56AEF0678A}" type="parTrans" cxnId="{17BDD007-2708-4CAD-9058-BD55029587D2}">
      <dgm:prSet/>
      <dgm:spPr/>
      <dgm:t>
        <a:bodyPr/>
        <a:lstStyle/>
        <a:p>
          <a:endParaRPr lang="en-US"/>
        </a:p>
      </dgm:t>
    </dgm:pt>
    <dgm:pt modelId="{18A2258A-99EC-4131-B043-DA532C0DB6CF}" type="sibTrans" cxnId="{17BDD007-2708-4CAD-9058-BD55029587D2}">
      <dgm:prSet/>
      <dgm:spPr/>
      <dgm:t>
        <a:bodyPr/>
        <a:lstStyle/>
        <a:p>
          <a:pPr>
            <a:lnSpc>
              <a:spcPct val="100000"/>
            </a:lnSpc>
          </a:pPr>
          <a:endParaRPr lang="en-US"/>
        </a:p>
      </dgm:t>
    </dgm:pt>
    <dgm:pt modelId="{B43C0B0F-CCBE-4C25-AD7E-95FE0406C456}" type="pres">
      <dgm:prSet presAssocID="{7787F9E8-95B6-4B20-9979-BFBA9A6397B0}" presName="root" presStyleCnt="0">
        <dgm:presLayoutVars>
          <dgm:dir/>
          <dgm:resizeHandles val="exact"/>
        </dgm:presLayoutVars>
      </dgm:prSet>
      <dgm:spPr/>
    </dgm:pt>
    <dgm:pt modelId="{E8BD5EE7-8DAF-4687-817E-5FC9E621F93B}" type="pres">
      <dgm:prSet presAssocID="{7787F9E8-95B6-4B20-9979-BFBA9A6397B0}" presName="container" presStyleCnt="0">
        <dgm:presLayoutVars>
          <dgm:dir/>
          <dgm:resizeHandles val="exact"/>
        </dgm:presLayoutVars>
      </dgm:prSet>
      <dgm:spPr/>
    </dgm:pt>
    <dgm:pt modelId="{B5569491-8CA7-412A-914D-65472F39C710}" type="pres">
      <dgm:prSet presAssocID="{5098842D-855F-40B5-B1E3-74CC27AA59C2}" presName="compNode" presStyleCnt="0"/>
      <dgm:spPr/>
    </dgm:pt>
    <dgm:pt modelId="{840E3095-A52C-4804-AECB-ACB318624E50}" type="pres">
      <dgm:prSet presAssocID="{5098842D-855F-40B5-B1E3-74CC27AA59C2}" presName="iconBgRect" presStyleLbl="bgShp" presStyleIdx="0" presStyleCnt="4"/>
      <dgm:spPr/>
    </dgm:pt>
    <dgm:pt modelId="{C0AC3609-55AF-4F9D-9ECB-1B7CC651469E}" type="pres">
      <dgm:prSet presAssocID="{5098842D-855F-40B5-B1E3-74CC27AA59C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F710747C-14E1-495A-8307-09D5F6C6E425}" type="pres">
      <dgm:prSet presAssocID="{5098842D-855F-40B5-B1E3-74CC27AA59C2}" presName="spaceRect" presStyleCnt="0"/>
      <dgm:spPr/>
    </dgm:pt>
    <dgm:pt modelId="{B4A08469-DE49-4FE2-BFEA-792253F30777}" type="pres">
      <dgm:prSet presAssocID="{5098842D-855F-40B5-B1E3-74CC27AA59C2}" presName="textRect" presStyleLbl="revTx" presStyleIdx="0" presStyleCnt="4">
        <dgm:presLayoutVars>
          <dgm:chMax val="1"/>
          <dgm:chPref val="1"/>
        </dgm:presLayoutVars>
      </dgm:prSet>
      <dgm:spPr/>
    </dgm:pt>
    <dgm:pt modelId="{F25434E3-750C-44AB-8575-F93AE4A41AB0}" type="pres">
      <dgm:prSet presAssocID="{D5A80919-0176-454C-995A-C46B6DDDD629}" presName="sibTrans" presStyleLbl="sibTrans2D1" presStyleIdx="0" presStyleCnt="0"/>
      <dgm:spPr/>
    </dgm:pt>
    <dgm:pt modelId="{FC1ED7AD-3B5D-45FF-95DD-87E1B58FA791}" type="pres">
      <dgm:prSet presAssocID="{0181AE9B-4D01-46A6-BDB8-0A39A7974DDC}" presName="compNode" presStyleCnt="0"/>
      <dgm:spPr/>
    </dgm:pt>
    <dgm:pt modelId="{81F967EC-A968-49E7-BA61-9BCA3BBAE006}" type="pres">
      <dgm:prSet presAssocID="{0181AE9B-4D01-46A6-BDB8-0A39A7974DDC}" presName="iconBgRect" presStyleLbl="bgShp" presStyleIdx="1" presStyleCnt="4"/>
      <dgm:spPr/>
    </dgm:pt>
    <dgm:pt modelId="{E6E4EA99-1FC9-44A9-BCE5-9F8E82101123}" type="pres">
      <dgm:prSet presAssocID="{0181AE9B-4D01-46A6-BDB8-0A39A7974DD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l center"/>
        </a:ext>
      </dgm:extLst>
    </dgm:pt>
    <dgm:pt modelId="{088D6730-633B-48B8-9B8B-C690550C181B}" type="pres">
      <dgm:prSet presAssocID="{0181AE9B-4D01-46A6-BDB8-0A39A7974DDC}" presName="spaceRect" presStyleCnt="0"/>
      <dgm:spPr/>
    </dgm:pt>
    <dgm:pt modelId="{C97013A9-7826-4400-BB0B-8317DFEB30D8}" type="pres">
      <dgm:prSet presAssocID="{0181AE9B-4D01-46A6-BDB8-0A39A7974DDC}" presName="textRect" presStyleLbl="revTx" presStyleIdx="1" presStyleCnt="4">
        <dgm:presLayoutVars>
          <dgm:chMax val="1"/>
          <dgm:chPref val="1"/>
        </dgm:presLayoutVars>
      </dgm:prSet>
      <dgm:spPr/>
    </dgm:pt>
    <dgm:pt modelId="{9B8C45DA-2E44-41A0-BD05-6FE374473D92}" type="pres">
      <dgm:prSet presAssocID="{5B646FFF-5044-4BD6-9C35-979F59C0BE6C}" presName="sibTrans" presStyleLbl="sibTrans2D1" presStyleIdx="0" presStyleCnt="0"/>
      <dgm:spPr/>
    </dgm:pt>
    <dgm:pt modelId="{53628E0A-A199-478E-9FF6-532D1E8180C8}" type="pres">
      <dgm:prSet presAssocID="{9AD46071-4111-4B3C-8EE6-BD65F056B1CE}" presName="compNode" presStyleCnt="0"/>
      <dgm:spPr/>
    </dgm:pt>
    <dgm:pt modelId="{5C30478E-1472-4BAD-A38B-DA64A585078F}" type="pres">
      <dgm:prSet presAssocID="{9AD46071-4111-4B3C-8EE6-BD65F056B1CE}" presName="iconBgRect" presStyleLbl="bgShp" presStyleIdx="2" presStyleCnt="4"/>
      <dgm:spPr/>
    </dgm:pt>
    <dgm:pt modelId="{826C2728-9213-49C6-B4BE-D0C797A9864B}" type="pres">
      <dgm:prSet presAssocID="{9AD46071-4111-4B3C-8EE6-BD65F056B1C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nger Print"/>
        </a:ext>
      </dgm:extLst>
    </dgm:pt>
    <dgm:pt modelId="{F7AFCA63-6B38-4429-AAAA-376C102F7B4C}" type="pres">
      <dgm:prSet presAssocID="{9AD46071-4111-4B3C-8EE6-BD65F056B1CE}" presName="spaceRect" presStyleCnt="0"/>
      <dgm:spPr/>
    </dgm:pt>
    <dgm:pt modelId="{57C53D78-4050-4266-B0E9-F35685B789EF}" type="pres">
      <dgm:prSet presAssocID="{9AD46071-4111-4B3C-8EE6-BD65F056B1CE}" presName="textRect" presStyleLbl="revTx" presStyleIdx="2" presStyleCnt="4">
        <dgm:presLayoutVars>
          <dgm:chMax val="1"/>
          <dgm:chPref val="1"/>
        </dgm:presLayoutVars>
      </dgm:prSet>
      <dgm:spPr/>
    </dgm:pt>
    <dgm:pt modelId="{26140BDD-CB2E-4BE6-B863-B1BC30F13F01}" type="pres">
      <dgm:prSet presAssocID="{76D8A790-8FED-48FD-9FF7-02D202D50883}" presName="sibTrans" presStyleLbl="sibTrans2D1" presStyleIdx="0" presStyleCnt="0"/>
      <dgm:spPr/>
    </dgm:pt>
    <dgm:pt modelId="{623A2CFB-3B31-419A-AABD-6D513604AD80}" type="pres">
      <dgm:prSet presAssocID="{834450E6-5B96-4EEA-A635-EE13781A161F}" presName="compNode" presStyleCnt="0"/>
      <dgm:spPr/>
    </dgm:pt>
    <dgm:pt modelId="{01E8D248-7107-4E59-ADF2-BA7EF7EFEFA8}" type="pres">
      <dgm:prSet presAssocID="{834450E6-5B96-4EEA-A635-EE13781A161F}" presName="iconBgRect" presStyleLbl="bgShp" presStyleIdx="3" presStyleCnt="4"/>
      <dgm:spPr/>
    </dgm:pt>
    <dgm:pt modelId="{EDAADF82-5FF3-4987-950A-5F4F9C2B8483}" type="pres">
      <dgm:prSet presAssocID="{834450E6-5B96-4EEA-A635-EE13781A161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EBD6DFEC-51CD-4FF5-97F9-763F164A0FC6}" type="pres">
      <dgm:prSet presAssocID="{834450E6-5B96-4EEA-A635-EE13781A161F}" presName="spaceRect" presStyleCnt="0"/>
      <dgm:spPr/>
    </dgm:pt>
    <dgm:pt modelId="{CB9941F1-E0A4-40A7-AF36-45CABD01C304}" type="pres">
      <dgm:prSet presAssocID="{834450E6-5B96-4EEA-A635-EE13781A161F}" presName="textRect" presStyleLbl="revTx" presStyleIdx="3" presStyleCnt="4">
        <dgm:presLayoutVars>
          <dgm:chMax val="1"/>
          <dgm:chPref val="1"/>
        </dgm:presLayoutVars>
      </dgm:prSet>
      <dgm:spPr/>
    </dgm:pt>
  </dgm:ptLst>
  <dgm:cxnLst>
    <dgm:cxn modelId="{AAA94F01-4BB3-4D3D-B8EB-54D4404127A0}" srcId="{7787F9E8-95B6-4B20-9979-BFBA9A6397B0}" destId="{9AD46071-4111-4B3C-8EE6-BD65F056B1CE}" srcOrd="2" destOrd="0" parTransId="{2CF801E0-FD74-475B-B97D-453EDD039BCA}" sibTransId="{76D8A790-8FED-48FD-9FF7-02D202D50883}"/>
    <dgm:cxn modelId="{17BDD007-2708-4CAD-9058-BD55029587D2}" srcId="{7787F9E8-95B6-4B20-9979-BFBA9A6397B0}" destId="{834450E6-5B96-4EEA-A635-EE13781A161F}" srcOrd="3" destOrd="0" parTransId="{A4A67EA8-2A77-426E-9F8C-3C56AEF0678A}" sibTransId="{18A2258A-99EC-4131-B043-DA532C0DB6CF}"/>
    <dgm:cxn modelId="{D620C311-5AFA-4FC9-9357-5E8BD77CEEE5}" type="presOf" srcId="{9AD46071-4111-4B3C-8EE6-BD65F056B1CE}" destId="{57C53D78-4050-4266-B0E9-F35685B789EF}" srcOrd="0" destOrd="0" presId="urn:microsoft.com/office/officeart/2018/2/layout/IconCircleList"/>
    <dgm:cxn modelId="{E27A2720-CEAD-42CD-9AEE-767C5ECE96DE}" type="presOf" srcId="{D5A80919-0176-454C-995A-C46B6DDDD629}" destId="{F25434E3-750C-44AB-8575-F93AE4A41AB0}" srcOrd="0" destOrd="0" presId="urn:microsoft.com/office/officeart/2018/2/layout/IconCircleList"/>
    <dgm:cxn modelId="{A700B93A-6844-46A9-AC44-50037B78896B}" srcId="{7787F9E8-95B6-4B20-9979-BFBA9A6397B0}" destId="{0181AE9B-4D01-46A6-BDB8-0A39A7974DDC}" srcOrd="1" destOrd="0" parTransId="{CA553914-ED31-4238-9F3E-EF48B314F328}" sibTransId="{5B646FFF-5044-4BD6-9C35-979F59C0BE6C}"/>
    <dgm:cxn modelId="{C657C63D-A340-4DB9-AEE8-C98FAEDA0270}" srcId="{7787F9E8-95B6-4B20-9979-BFBA9A6397B0}" destId="{5098842D-855F-40B5-B1E3-74CC27AA59C2}" srcOrd="0" destOrd="0" parTransId="{5E6943FF-9EF3-4BA8-8E98-908162AA76A9}" sibTransId="{D5A80919-0176-454C-995A-C46B6DDDD629}"/>
    <dgm:cxn modelId="{84B7225E-79D3-4F67-BD20-01B07CB6D211}" type="presOf" srcId="{5B646FFF-5044-4BD6-9C35-979F59C0BE6C}" destId="{9B8C45DA-2E44-41A0-BD05-6FE374473D92}" srcOrd="0" destOrd="0" presId="urn:microsoft.com/office/officeart/2018/2/layout/IconCircleList"/>
    <dgm:cxn modelId="{50601C41-326B-4582-9C56-3779FB598D68}" type="presOf" srcId="{0181AE9B-4D01-46A6-BDB8-0A39A7974DDC}" destId="{C97013A9-7826-4400-BB0B-8317DFEB30D8}" srcOrd="0" destOrd="0" presId="urn:microsoft.com/office/officeart/2018/2/layout/IconCircleList"/>
    <dgm:cxn modelId="{B47A4154-EA63-4D0C-94AE-BB7F41CABEF7}" type="presOf" srcId="{7787F9E8-95B6-4B20-9979-BFBA9A6397B0}" destId="{B43C0B0F-CCBE-4C25-AD7E-95FE0406C456}" srcOrd="0" destOrd="0" presId="urn:microsoft.com/office/officeart/2018/2/layout/IconCircleList"/>
    <dgm:cxn modelId="{982A9D7B-1886-4F46-AA97-53E0EC5DC883}" type="presOf" srcId="{834450E6-5B96-4EEA-A635-EE13781A161F}" destId="{CB9941F1-E0A4-40A7-AF36-45CABD01C304}" srcOrd="0" destOrd="0" presId="urn:microsoft.com/office/officeart/2018/2/layout/IconCircleList"/>
    <dgm:cxn modelId="{6628AD7B-4F8E-4CFD-881E-AC48B45340EA}" type="presOf" srcId="{76D8A790-8FED-48FD-9FF7-02D202D50883}" destId="{26140BDD-CB2E-4BE6-B863-B1BC30F13F01}" srcOrd="0" destOrd="0" presId="urn:microsoft.com/office/officeart/2018/2/layout/IconCircleList"/>
    <dgm:cxn modelId="{41D9C7C0-2647-4645-AFCD-49B66B8D8570}" type="presOf" srcId="{5098842D-855F-40B5-B1E3-74CC27AA59C2}" destId="{B4A08469-DE49-4FE2-BFEA-792253F30777}" srcOrd="0" destOrd="0" presId="urn:microsoft.com/office/officeart/2018/2/layout/IconCircleList"/>
    <dgm:cxn modelId="{5F3252D6-C67A-476D-8041-C3AA4459EAC5}" type="presParOf" srcId="{B43C0B0F-CCBE-4C25-AD7E-95FE0406C456}" destId="{E8BD5EE7-8DAF-4687-817E-5FC9E621F93B}" srcOrd="0" destOrd="0" presId="urn:microsoft.com/office/officeart/2018/2/layout/IconCircleList"/>
    <dgm:cxn modelId="{6D975C1E-425A-456A-90D1-26E7BB54611A}" type="presParOf" srcId="{E8BD5EE7-8DAF-4687-817E-5FC9E621F93B}" destId="{B5569491-8CA7-412A-914D-65472F39C710}" srcOrd="0" destOrd="0" presId="urn:microsoft.com/office/officeart/2018/2/layout/IconCircleList"/>
    <dgm:cxn modelId="{CCF78E38-3FEC-4AFA-9E2F-28965530CA5B}" type="presParOf" srcId="{B5569491-8CA7-412A-914D-65472F39C710}" destId="{840E3095-A52C-4804-AECB-ACB318624E50}" srcOrd="0" destOrd="0" presId="urn:microsoft.com/office/officeart/2018/2/layout/IconCircleList"/>
    <dgm:cxn modelId="{E69BC99A-2846-48F2-9C1A-E1D066982146}" type="presParOf" srcId="{B5569491-8CA7-412A-914D-65472F39C710}" destId="{C0AC3609-55AF-4F9D-9ECB-1B7CC651469E}" srcOrd="1" destOrd="0" presId="urn:microsoft.com/office/officeart/2018/2/layout/IconCircleList"/>
    <dgm:cxn modelId="{077FFAEF-C317-41F5-8D0D-D704DE78CAE8}" type="presParOf" srcId="{B5569491-8CA7-412A-914D-65472F39C710}" destId="{F710747C-14E1-495A-8307-09D5F6C6E425}" srcOrd="2" destOrd="0" presId="urn:microsoft.com/office/officeart/2018/2/layout/IconCircleList"/>
    <dgm:cxn modelId="{C2156CF8-6668-43DE-92AC-7D5417980B42}" type="presParOf" srcId="{B5569491-8CA7-412A-914D-65472F39C710}" destId="{B4A08469-DE49-4FE2-BFEA-792253F30777}" srcOrd="3" destOrd="0" presId="urn:microsoft.com/office/officeart/2018/2/layout/IconCircleList"/>
    <dgm:cxn modelId="{5A4EBF88-6D62-46D3-8018-3C0D3AF8CF8C}" type="presParOf" srcId="{E8BD5EE7-8DAF-4687-817E-5FC9E621F93B}" destId="{F25434E3-750C-44AB-8575-F93AE4A41AB0}" srcOrd="1" destOrd="0" presId="urn:microsoft.com/office/officeart/2018/2/layout/IconCircleList"/>
    <dgm:cxn modelId="{773A3A72-5427-4D93-A48E-35949222E950}" type="presParOf" srcId="{E8BD5EE7-8DAF-4687-817E-5FC9E621F93B}" destId="{FC1ED7AD-3B5D-45FF-95DD-87E1B58FA791}" srcOrd="2" destOrd="0" presId="urn:microsoft.com/office/officeart/2018/2/layout/IconCircleList"/>
    <dgm:cxn modelId="{4A52E51A-8EA5-4061-8175-235E173983C3}" type="presParOf" srcId="{FC1ED7AD-3B5D-45FF-95DD-87E1B58FA791}" destId="{81F967EC-A968-49E7-BA61-9BCA3BBAE006}" srcOrd="0" destOrd="0" presId="urn:microsoft.com/office/officeart/2018/2/layout/IconCircleList"/>
    <dgm:cxn modelId="{B1B16CDE-84FB-46F1-BE3F-42278C998A38}" type="presParOf" srcId="{FC1ED7AD-3B5D-45FF-95DD-87E1B58FA791}" destId="{E6E4EA99-1FC9-44A9-BCE5-9F8E82101123}" srcOrd="1" destOrd="0" presId="urn:microsoft.com/office/officeart/2018/2/layout/IconCircleList"/>
    <dgm:cxn modelId="{08431451-6855-4968-970C-B35EA7BCCC59}" type="presParOf" srcId="{FC1ED7AD-3B5D-45FF-95DD-87E1B58FA791}" destId="{088D6730-633B-48B8-9B8B-C690550C181B}" srcOrd="2" destOrd="0" presId="urn:microsoft.com/office/officeart/2018/2/layout/IconCircleList"/>
    <dgm:cxn modelId="{39851302-3E2D-40E2-AC36-3C537EBDACFE}" type="presParOf" srcId="{FC1ED7AD-3B5D-45FF-95DD-87E1B58FA791}" destId="{C97013A9-7826-4400-BB0B-8317DFEB30D8}" srcOrd="3" destOrd="0" presId="urn:microsoft.com/office/officeart/2018/2/layout/IconCircleList"/>
    <dgm:cxn modelId="{950BB070-B131-46E5-BC7D-64DF2983CD5F}" type="presParOf" srcId="{E8BD5EE7-8DAF-4687-817E-5FC9E621F93B}" destId="{9B8C45DA-2E44-41A0-BD05-6FE374473D92}" srcOrd="3" destOrd="0" presId="urn:microsoft.com/office/officeart/2018/2/layout/IconCircleList"/>
    <dgm:cxn modelId="{1F078422-6A7C-4A8E-9974-0A609AA04A83}" type="presParOf" srcId="{E8BD5EE7-8DAF-4687-817E-5FC9E621F93B}" destId="{53628E0A-A199-478E-9FF6-532D1E8180C8}" srcOrd="4" destOrd="0" presId="urn:microsoft.com/office/officeart/2018/2/layout/IconCircleList"/>
    <dgm:cxn modelId="{4C8D41AC-F0EB-4497-927F-B5D022FF2C7E}" type="presParOf" srcId="{53628E0A-A199-478E-9FF6-532D1E8180C8}" destId="{5C30478E-1472-4BAD-A38B-DA64A585078F}" srcOrd="0" destOrd="0" presId="urn:microsoft.com/office/officeart/2018/2/layout/IconCircleList"/>
    <dgm:cxn modelId="{DA64257C-9B3D-4473-B6E3-42830CBCFE75}" type="presParOf" srcId="{53628E0A-A199-478E-9FF6-532D1E8180C8}" destId="{826C2728-9213-49C6-B4BE-D0C797A9864B}" srcOrd="1" destOrd="0" presId="urn:microsoft.com/office/officeart/2018/2/layout/IconCircleList"/>
    <dgm:cxn modelId="{6F9492BE-D710-443D-A332-46E2824FBA6D}" type="presParOf" srcId="{53628E0A-A199-478E-9FF6-532D1E8180C8}" destId="{F7AFCA63-6B38-4429-AAAA-376C102F7B4C}" srcOrd="2" destOrd="0" presId="urn:microsoft.com/office/officeart/2018/2/layout/IconCircleList"/>
    <dgm:cxn modelId="{56364E0D-07E6-4DCC-A80C-4ED18DEB0AD6}" type="presParOf" srcId="{53628E0A-A199-478E-9FF6-532D1E8180C8}" destId="{57C53D78-4050-4266-B0E9-F35685B789EF}" srcOrd="3" destOrd="0" presId="urn:microsoft.com/office/officeart/2018/2/layout/IconCircleList"/>
    <dgm:cxn modelId="{FFBFBB6F-9162-46FC-B530-0302C27AB679}" type="presParOf" srcId="{E8BD5EE7-8DAF-4687-817E-5FC9E621F93B}" destId="{26140BDD-CB2E-4BE6-B863-B1BC30F13F01}" srcOrd="5" destOrd="0" presId="urn:microsoft.com/office/officeart/2018/2/layout/IconCircleList"/>
    <dgm:cxn modelId="{17DC91A3-F2D4-4F19-80B8-7B2813560605}" type="presParOf" srcId="{E8BD5EE7-8DAF-4687-817E-5FC9E621F93B}" destId="{623A2CFB-3B31-419A-AABD-6D513604AD80}" srcOrd="6" destOrd="0" presId="urn:microsoft.com/office/officeart/2018/2/layout/IconCircleList"/>
    <dgm:cxn modelId="{50688A4C-F49C-4061-A482-CDEA88D33EF7}" type="presParOf" srcId="{623A2CFB-3B31-419A-AABD-6D513604AD80}" destId="{01E8D248-7107-4E59-ADF2-BA7EF7EFEFA8}" srcOrd="0" destOrd="0" presId="urn:microsoft.com/office/officeart/2018/2/layout/IconCircleList"/>
    <dgm:cxn modelId="{99C3EB97-B66A-48BD-98F4-FB0D336008E5}" type="presParOf" srcId="{623A2CFB-3B31-419A-AABD-6D513604AD80}" destId="{EDAADF82-5FF3-4987-950A-5F4F9C2B8483}" srcOrd="1" destOrd="0" presId="urn:microsoft.com/office/officeart/2018/2/layout/IconCircleList"/>
    <dgm:cxn modelId="{1387A3A4-FBEE-4FC4-AF0B-AC70E1195144}" type="presParOf" srcId="{623A2CFB-3B31-419A-AABD-6D513604AD80}" destId="{EBD6DFEC-51CD-4FF5-97F9-763F164A0FC6}" srcOrd="2" destOrd="0" presId="urn:microsoft.com/office/officeart/2018/2/layout/IconCircleList"/>
    <dgm:cxn modelId="{812213F8-2326-4C26-BF07-2C7301C575CD}" type="presParOf" srcId="{623A2CFB-3B31-419A-AABD-6D513604AD80}" destId="{CB9941F1-E0A4-40A7-AF36-45CABD01C304}"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D664D7-3681-4214-87F8-5C261767382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8083E6F-7118-49C7-88CE-D353FD2A329F}">
      <dgm:prSet/>
      <dgm:spPr/>
      <dgm:t>
        <a:bodyPr/>
        <a:lstStyle/>
        <a:p>
          <a:pPr>
            <a:lnSpc>
              <a:spcPct val="100000"/>
            </a:lnSpc>
            <a:defRPr cap="all"/>
          </a:pPr>
          <a:r>
            <a:rPr lang="en-US" dirty="0"/>
            <a:t>their presence allows </a:t>
          </a:r>
          <a:r>
            <a:rPr lang="en-US" dirty="0" err="1"/>
            <a:t>HoneyICS</a:t>
          </a:r>
          <a:r>
            <a:rPr lang="en-US" dirty="0"/>
            <a:t> to support attacks</a:t>
          </a:r>
        </a:p>
      </dgm:t>
    </dgm:pt>
    <dgm:pt modelId="{D1FECC50-6F9E-44B6-954F-7669D53EE3CC}" type="parTrans" cxnId="{6FD80BD4-A652-4EF6-9FAD-1D5E9A205F06}">
      <dgm:prSet/>
      <dgm:spPr/>
      <dgm:t>
        <a:bodyPr/>
        <a:lstStyle/>
        <a:p>
          <a:endParaRPr lang="en-US"/>
        </a:p>
      </dgm:t>
    </dgm:pt>
    <dgm:pt modelId="{1B790BF4-8A09-4783-82F1-6735FF490F47}" type="sibTrans" cxnId="{6FD80BD4-A652-4EF6-9FAD-1D5E9A205F06}">
      <dgm:prSet/>
      <dgm:spPr/>
      <dgm:t>
        <a:bodyPr/>
        <a:lstStyle/>
        <a:p>
          <a:endParaRPr lang="en-US"/>
        </a:p>
      </dgm:t>
    </dgm:pt>
    <dgm:pt modelId="{3379903B-686D-405A-9942-A6323CBDF43E}">
      <dgm:prSet/>
      <dgm:spPr/>
      <dgm:t>
        <a:bodyPr/>
        <a:lstStyle/>
        <a:p>
          <a:pPr>
            <a:lnSpc>
              <a:spcPct val="100000"/>
            </a:lnSpc>
            <a:defRPr cap="all"/>
          </a:pPr>
          <a:r>
            <a:rPr lang="en-US"/>
            <a:t>where the attacker gain access over the HMIs via password brute-force Or </a:t>
          </a:r>
          <a:r>
            <a:rPr lang="en-US" dirty="0"/>
            <a:t>Via phishing. </a:t>
          </a:r>
        </a:p>
      </dgm:t>
    </dgm:pt>
    <dgm:pt modelId="{D43796EE-8EC6-412A-8984-064F1144D97E}" type="parTrans" cxnId="{840D1E24-C675-4F0E-B359-AB04B8C85CF6}">
      <dgm:prSet/>
      <dgm:spPr/>
      <dgm:t>
        <a:bodyPr/>
        <a:lstStyle/>
        <a:p>
          <a:endParaRPr lang="en-US"/>
        </a:p>
      </dgm:t>
    </dgm:pt>
    <dgm:pt modelId="{67BA7E5E-A727-4EFB-BEDD-15EDCAF0AF6C}" type="sibTrans" cxnId="{840D1E24-C675-4F0E-B359-AB04B8C85CF6}">
      <dgm:prSet/>
      <dgm:spPr/>
      <dgm:t>
        <a:bodyPr/>
        <a:lstStyle/>
        <a:p>
          <a:endParaRPr lang="en-US"/>
        </a:p>
      </dgm:t>
    </dgm:pt>
    <dgm:pt modelId="{155D6E35-2B48-44A9-93EE-CA0519DB8AF6}">
      <dgm:prSet/>
      <dgm:spPr/>
      <dgm:t>
        <a:bodyPr/>
        <a:lstStyle/>
        <a:p>
          <a:pPr>
            <a:lnSpc>
              <a:spcPct val="100000"/>
            </a:lnSpc>
            <a:defRPr cap="all"/>
          </a:pPr>
          <a:r>
            <a:rPr lang="en-US"/>
            <a:t>And sends actuator commands directly through them</a:t>
          </a:r>
        </a:p>
      </dgm:t>
    </dgm:pt>
    <dgm:pt modelId="{257D6230-4AA5-4CAC-8623-4EAA877C1277}" type="parTrans" cxnId="{F621167B-39EF-4084-A54D-409468BF9BB5}">
      <dgm:prSet/>
      <dgm:spPr/>
      <dgm:t>
        <a:bodyPr/>
        <a:lstStyle/>
        <a:p>
          <a:endParaRPr lang="en-US"/>
        </a:p>
      </dgm:t>
    </dgm:pt>
    <dgm:pt modelId="{7C71AC27-1E55-4504-9F44-BAB003203A3D}" type="sibTrans" cxnId="{F621167B-39EF-4084-A54D-409468BF9BB5}">
      <dgm:prSet/>
      <dgm:spPr/>
      <dgm:t>
        <a:bodyPr/>
        <a:lstStyle/>
        <a:p>
          <a:endParaRPr lang="en-US"/>
        </a:p>
      </dgm:t>
    </dgm:pt>
    <dgm:pt modelId="{607A72B0-A497-449E-80EC-8385CC830BEC}" type="pres">
      <dgm:prSet presAssocID="{48D664D7-3681-4214-87F8-5C2617673828}" presName="root" presStyleCnt="0">
        <dgm:presLayoutVars>
          <dgm:dir/>
          <dgm:resizeHandles val="exact"/>
        </dgm:presLayoutVars>
      </dgm:prSet>
      <dgm:spPr/>
    </dgm:pt>
    <dgm:pt modelId="{3BDE2AD8-906A-49C5-A8B4-62F36A6CF6B9}" type="pres">
      <dgm:prSet presAssocID="{F8083E6F-7118-49C7-88CE-D353FD2A329F}" presName="compNode" presStyleCnt="0"/>
      <dgm:spPr/>
    </dgm:pt>
    <dgm:pt modelId="{8E7021A0-5856-4CD9-B597-D0CD0672D1D2}" type="pres">
      <dgm:prSet presAssocID="{F8083E6F-7118-49C7-88CE-D353FD2A329F}" presName="iconBgRect" presStyleLbl="bgShp" presStyleIdx="0" presStyleCnt="3"/>
      <dgm:spPr>
        <a:prstGeom prst="round2DiagRect">
          <a:avLst>
            <a:gd name="adj1" fmla="val 29727"/>
            <a:gd name="adj2" fmla="val 0"/>
          </a:avLst>
        </a:prstGeom>
      </dgm:spPr>
    </dgm:pt>
    <dgm:pt modelId="{215F82DB-C510-4618-A201-3C271072CC1F}" type="pres">
      <dgm:prSet presAssocID="{F8083E6F-7118-49C7-88CE-D353FD2A329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96B56D8-2DF9-4EEB-AE9F-2A27B52C6939}" type="pres">
      <dgm:prSet presAssocID="{F8083E6F-7118-49C7-88CE-D353FD2A329F}" presName="spaceRect" presStyleCnt="0"/>
      <dgm:spPr/>
    </dgm:pt>
    <dgm:pt modelId="{3BF9F78F-60C2-4CEB-88E3-7B77604EAD61}" type="pres">
      <dgm:prSet presAssocID="{F8083E6F-7118-49C7-88CE-D353FD2A329F}" presName="textRect" presStyleLbl="revTx" presStyleIdx="0" presStyleCnt="3">
        <dgm:presLayoutVars>
          <dgm:chMax val="1"/>
          <dgm:chPref val="1"/>
        </dgm:presLayoutVars>
      </dgm:prSet>
      <dgm:spPr/>
    </dgm:pt>
    <dgm:pt modelId="{2DAF6DFA-6D78-4870-B337-C30E2D850ECA}" type="pres">
      <dgm:prSet presAssocID="{1B790BF4-8A09-4783-82F1-6735FF490F47}" presName="sibTrans" presStyleCnt="0"/>
      <dgm:spPr/>
    </dgm:pt>
    <dgm:pt modelId="{66CE808D-F5A2-44DB-88C2-AA94B973F3D2}" type="pres">
      <dgm:prSet presAssocID="{3379903B-686D-405A-9942-A6323CBDF43E}" presName="compNode" presStyleCnt="0"/>
      <dgm:spPr/>
    </dgm:pt>
    <dgm:pt modelId="{36341740-8E9D-4AE8-BBEB-2B1E92CB2D3D}" type="pres">
      <dgm:prSet presAssocID="{3379903B-686D-405A-9942-A6323CBDF43E}" presName="iconBgRect" presStyleLbl="bgShp" presStyleIdx="1" presStyleCnt="3"/>
      <dgm:spPr>
        <a:prstGeom prst="round2DiagRect">
          <a:avLst>
            <a:gd name="adj1" fmla="val 29727"/>
            <a:gd name="adj2" fmla="val 0"/>
          </a:avLst>
        </a:prstGeom>
      </dgm:spPr>
    </dgm:pt>
    <dgm:pt modelId="{35D0A24E-E946-4DDE-B43A-AF6EF6CFE498}" type="pres">
      <dgm:prSet presAssocID="{3379903B-686D-405A-9942-A6323CBDF43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2F87C2FA-CA33-4168-A7A7-2264D22940D0}" type="pres">
      <dgm:prSet presAssocID="{3379903B-686D-405A-9942-A6323CBDF43E}" presName="spaceRect" presStyleCnt="0"/>
      <dgm:spPr/>
    </dgm:pt>
    <dgm:pt modelId="{CA7D9FE5-D076-4C4E-9772-1CCC98D8732C}" type="pres">
      <dgm:prSet presAssocID="{3379903B-686D-405A-9942-A6323CBDF43E}" presName="textRect" presStyleLbl="revTx" presStyleIdx="1" presStyleCnt="3">
        <dgm:presLayoutVars>
          <dgm:chMax val="1"/>
          <dgm:chPref val="1"/>
        </dgm:presLayoutVars>
      </dgm:prSet>
      <dgm:spPr/>
    </dgm:pt>
    <dgm:pt modelId="{89C1E0FF-AB90-403C-A105-46E89029CC1D}" type="pres">
      <dgm:prSet presAssocID="{67BA7E5E-A727-4EFB-BEDD-15EDCAF0AF6C}" presName="sibTrans" presStyleCnt="0"/>
      <dgm:spPr/>
    </dgm:pt>
    <dgm:pt modelId="{AC4BEC17-E957-4366-9192-06BD17D16D5F}" type="pres">
      <dgm:prSet presAssocID="{155D6E35-2B48-44A9-93EE-CA0519DB8AF6}" presName="compNode" presStyleCnt="0"/>
      <dgm:spPr/>
    </dgm:pt>
    <dgm:pt modelId="{B8DB7A98-C26A-488F-B915-67E7BC76AF12}" type="pres">
      <dgm:prSet presAssocID="{155D6E35-2B48-44A9-93EE-CA0519DB8AF6}" presName="iconBgRect" presStyleLbl="bgShp" presStyleIdx="2" presStyleCnt="3"/>
      <dgm:spPr>
        <a:prstGeom prst="round2DiagRect">
          <a:avLst>
            <a:gd name="adj1" fmla="val 29727"/>
            <a:gd name="adj2" fmla="val 0"/>
          </a:avLst>
        </a:prstGeom>
      </dgm:spPr>
    </dgm:pt>
    <dgm:pt modelId="{9C9E54B7-E407-487E-98DD-C538D2FA16A2}" type="pres">
      <dgm:prSet presAssocID="{155D6E35-2B48-44A9-93EE-CA0519DB8AF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in"/>
        </a:ext>
      </dgm:extLst>
    </dgm:pt>
    <dgm:pt modelId="{DAFDDE2A-4ED7-4734-B43C-D6E59760723A}" type="pres">
      <dgm:prSet presAssocID="{155D6E35-2B48-44A9-93EE-CA0519DB8AF6}" presName="spaceRect" presStyleCnt="0"/>
      <dgm:spPr/>
    </dgm:pt>
    <dgm:pt modelId="{5D09EF2C-EDBB-47FF-9A09-DB25B4C0B0A1}" type="pres">
      <dgm:prSet presAssocID="{155D6E35-2B48-44A9-93EE-CA0519DB8AF6}" presName="textRect" presStyleLbl="revTx" presStyleIdx="2" presStyleCnt="3">
        <dgm:presLayoutVars>
          <dgm:chMax val="1"/>
          <dgm:chPref val="1"/>
        </dgm:presLayoutVars>
      </dgm:prSet>
      <dgm:spPr/>
    </dgm:pt>
  </dgm:ptLst>
  <dgm:cxnLst>
    <dgm:cxn modelId="{2527090B-3ED0-44A4-B4B7-C166CD4FF160}" type="presOf" srcId="{155D6E35-2B48-44A9-93EE-CA0519DB8AF6}" destId="{5D09EF2C-EDBB-47FF-9A09-DB25B4C0B0A1}" srcOrd="0" destOrd="0" presId="urn:microsoft.com/office/officeart/2018/5/layout/IconLeafLabelList"/>
    <dgm:cxn modelId="{8343620E-FC06-48F1-8524-C0E0C47C31C7}" type="presOf" srcId="{F8083E6F-7118-49C7-88CE-D353FD2A329F}" destId="{3BF9F78F-60C2-4CEB-88E3-7B77604EAD61}" srcOrd="0" destOrd="0" presId="urn:microsoft.com/office/officeart/2018/5/layout/IconLeafLabelList"/>
    <dgm:cxn modelId="{840D1E24-C675-4F0E-B359-AB04B8C85CF6}" srcId="{48D664D7-3681-4214-87F8-5C2617673828}" destId="{3379903B-686D-405A-9942-A6323CBDF43E}" srcOrd="1" destOrd="0" parTransId="{D43796EE-8EC6-412A-8984-064F1144D97E}" sibTransId="{67BA7E5E-A727-4EFB-BEDD-15EDCAF0AF6C}"/>
    <dgm:cxn modelId="{DBC21F36-1058-4012-9CE1-723B34EA3C2F}" type="presOf" srcId="{3379903B-686D-405A-9942-A6323CBDF43E}" destId="{CA7D9FE5-D076-4C4E-9772-1CCC98D8732C}" srcOrd="0" destOrd="0" presId="urn:microsoft.com/office/officeart/2018/5/layout/IconLeafLabelList"/>
    <dgm:cxn modelId="{F621167B-39EF-4084-A54D-409468BF9BB5}" srcId="{48D664D7-3681-4214-87F8-5C2617673828}" destId="{155D6E35-2B48-44A9-93EE-CA0519DB8AF6}" srcOrd="2" destOrd="0" parTransId="{257D6230-4AA5-4CAC-8623-4EAA877C1277}" sibTransId="{7C71AC27-1E55-4504-9F44-BAB003203A3D}"/>
    <dgm:cxn modelId="{7B16549C-4E1E-4604-9F8F-51D596F0E6CB}" type="presOf" srcId="{48D664D7-3681-4214-87F8-5C2617673828}" destId="{607A72B0-A497-449E-80EC-8385CC830BEC}" srcOrd="0" destOrd="0" presId="urn:microsoft.com/office/officeart/2018/5/layout/IconLeafLabelList"/>
    <dgm:cxn modelId="{6FD80BD4-A652-4EF6-9FAD-1D5E9A205F06}" srcId="{48D664D7-3681-4214-87F8-5C2617673828}" destId="{F8083E6F-7118-49C7-88CE-D353FD2A329F}" srcOrd="0" destOrd="0" parTransId="{D1FECC50-6F9E-44B6-954F-7669D53EE3CC}" sibTransId="{1B790BF4-8A09-4783-82F1-6735FF490F47}"/>
    <dgm:cxn modelId="{261F0196-ABCA-45B4-BF32-BCFEA7CB3B34}" type="presParOf" srcId="{607A72B0-A497-449E-80EC-8385CC830BEC}" destId="{3BDE2AD8-906A-49C5-A8B4-62F36A6CF6B9}" srcOrd="0" destOrd="0" presId="urn:microsoft.com/office/officeart/2018/5/layout/IconLeafLabelList"/>
    <dgm:cxn modelId="{2E72EE92-4857-4CDE-B6F4-027EF31E55FF}" type="presParOf" srcId="{3BDE2AD8-906A-49C5-A8B4-62F36A6CF6B9}" destId="{8E7021A0-5856-4CD9-B597-D0CD0672D1D2}" srcOrd="0" destOrd="0" presId="urn:microsoft.com/office/officeart/2018/5/layout/IconLeafLabelList"/>
    <dgm:cxn modelId="{C25ED0CC-D24C-4535-AA19-C921366953D0}" type="presParOf" srcId="{3BDE2AD8-906A-49C5-A8B4-62F36A6CF6B9}" destId="{215F82DB-C510-4618-A201-3C271072CC1F}" srcOrd="1" destOrd="0" presId="urn:microsoft.com/office/officeart/2018/5/layout/IconLeafLabelList"/>
    <dgm:cxn modelId="{981F3267-97A5-4D62-B9EF-44F58D89E7EA}" type="presParOf" srcId="{3BDE2AD8-906A-49C5-A8B4-62F36A6CF6B9}" destId="{296B56D8-2DF9-4EEB-AE9F-2A27B52C6939}" srcOrd="2" destOrd="0" presId="urn:microsoft.com/office/officeart/2018/5/layout/IconLeafLabelList"/>
    <dgm:cxn modelId="{4F69F5F7-931C-47C4-800E-95CF27E0E7C5}" type="presParOf" srcId="{3BDE2AD8-906A-49C5-A8B4-62F36A6CF6B9}" destId="{3BF9F78F-60C2-4CEB-88E3-7B77604EAD61}" srcOrd="3" destOrd="0" presId="urn:microsoft.com/office/officeart/2018/5/layout/IconLeafLabelList"/>
    <dgm:cxn modelId="{DC9554EF-0BDD-4FF3-974A-2054B6F96011}" type="presParOf" srcId="{607A72B0-A497-449E-80EC-8385CC830BEC}" destId="{2DAF6DFA-6D78-4870-B337-C30E2D850ECA}" srcOrd="1" destOrd="0" presId="urn:microsoft.com/office/officeart/2018/5/layout/IconLeafLabelList"/>
    <dgm:cxn modelId="{831D1C5C-9D11-4593-BE11-B4A8A2688653}" type="presParOf" srcId="{607A72B0-A497-449E-80EC-8385CC830BEC}" destId="{66CE808D-F5A2-44DB-88C2-AA94B973F3D2}" srcOrd="2" destOrd="0" presId="urn:microsoft.com/office/officeart/2018/5/layout/IconLeafLabelList"/>
    <dgm:cxn modelId="{05E9D998-AD15-4FCA-9EC3-B692ACF3BA86}" type="presParOf" srcId="{66CE808D-F5A2-44DB-88C2-AA94B973F3D2}" destId="{36341740-8E9D-4AE8-BBEB-2B1E92CB2D3D}" srcOrd="0" destOrd="0" presId="urn:microsoft.com/office/officeart/2018/5/layout/IconLeafLabelList"/>
    <dgm:cxn modelId="{27C1859F-EDAD-497F-8276-6F77BE987BF4}" type="presParOf" srcId="{66CE808D-F5A2-44DB-88C2-AA94B973F3D2}" destId="{35D0A24E-E946-4DDE-B43A-AF6EF6CFE498}" srcOrd="1" destOrd="0" presId="urn:microsoft.com/office/officeart/2018/5/layout/IconLeafLabelList"/>
    <dgm:cxn modelId="{438C4B93-01C1-481F-BEEA-379E683487C4}" type="presParOf" srcId="{66CE808D-F5A2-44DB-88C2-AA94B973F3D2}" destId="{2F87C2FA-CA33-4168-A7A7-2264D22940D0}" srcOrd="2" destOrd="0" presId="urn:microsoft.com/office/officeart/2018/5/layout/IconLeafLabelList"/>
    <dgm:cxn modelId="{F09D5C3C-D20B-4BE6-A5ED-B7CE5D727E1B}" type="presParOf" srcId="{66CE808D-F5A2-44DB-88C2-AA94B973F3D2}" destId="{CA7D9FE5-D076-4C4E-9772-1CCC98D8732C}" srcOrd="3" destOrd="0" presId="urn:microsoft.com/office/officeart/2018/5/layout/IconLeafLabelList"/>
    <dgm:cxn modelId="{B03DB5F4-FB41-43AF-A806-334D38299734}" type="presParOf" srcId="{607A72B0-A497-449E-80EC-8385CC830BEC}" destId="{89C1E0FF-AB90-403C-A105-46E89029CC1D}" srcOrd="3" destOrd="0" presId="urn:microsoft.com/office/officeart/2018/5/layout/IconLeafLabelList"/>
    <dgm:cxn modelId="{9C850DC2-2EEE-4B68-86B6-4B6E82C4470E}" type="presParOf" srcId="{607A72B0-A497-449E-80EC-8385CC830BEC}" destId="{AC4BEC17-E957-4366-9192-06BD17D16D5F}" srcOrd="4" destOrd="0" presId="urn:microsoft.com/office/officeart/2018/5/layout/IconLeafLabelList"/>
    <dgm:cxn modelId="{77E031D1-1D31-493B-A84E-7F40C6C96DDE}" type="presParOf" srcId="{AC4BEC17-E957-4366-9192-06BD17D16D5F}" destId="{B8DB7A98-C26A-488F-B915-67E7BC76AF12}" srcOrd="0" destOrd="0" presId="urn:microsoft.com/office/officeart/2018/5/layout/IconLeafLabelList"/>
    <dgm:cxn modelId="{E951AD39-6D1D-4A2E-AC58-9AA80D5F4F83}" type="presParOf" srcId="{AC4BEC17-E957-4366-9192-06BD17D16D5F}" destId="{9C9E54B7-E407-487E-98DD-C538D2FA16A2}" srcOrd="1" destOrd="0" presId="urn:microsoft.com/office/officeart/2018/5/layout/IconLeafLabelList"/>
    <dgm:cxn modelId="{86A41502-EFF9-457A-9053-DA8B54D8FD37}" type="presParOf" srcId="{AC4BEC17-E957-4366-9192-06BD17D16D5F}" destId="{DAFDDE2A-4ED7-4734-B43C-D6E59760723A}" srcOrd="2" destOrd="0" presId="urn:microsoft.com/office/officeart/2018/5/layout/IconLeafLabelList"/>
    <dgm:cxn modelId="{D07F6843-FF40-4BC3-A6F7-81BE5462789C}" type="presParOf" srcId="{AC4BEC17-E957-4366-9192-06BD17D16D5F}" destId="{5D09EF2C-EDBB-47FF-9A09-DB25B4C0B0A1}"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3DA07C-D8D1-4251-91CD-95B279C6811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A9C99A7-5CF1-4516-9E5D-B271E7920856}">
      <dgm:prSet/>
      <dgm:spPr/>
      <dgm:t>
        <a:bodyPr/>
        <a:lstStyle/>
        <a:p>
          <a:pPr>
            <a:lnSpc>
              <a:spcPct val="100000"/>
            </a:lnSpc>
          </a:pPr>
          <a:r>
            <a:rPr lang="en-US" dirty="0"/>
            <a:t>Physical Plant: they assume the presence of underlying physical processes to realize physics-awareness</a:t>
          </a:r>
        </a:p>
      </dgm:t>
    </dgm:pt>
    <dgm:pt modelId="{DAF8A965-F413-442A-8121-D24A02007818}" type="parTrans" cxnId="{B5E765A7-B651-421F-9165-B5CACAE56F58}">
      <dgm:prSet/>
      <dgm:spPr/>
      <dgm:t>
        <a:bodyPr/>
        <a:lstStyle/>
        <a:p>
          <a:endParaRPr lang="en-US"/>
        </a:p>
      </dgm:t>
    </dgm:pt>
    <dgm:pt modelId="{BA32DB5D-BC0A-4286-8D0E-4BBC300F6DB5}" type="sibTrans" cxnId="{B5E765A7-B651-421F-9165-B5CACAE56F58}">
      <dgm:prSet/>
      <dgm:spPr/>
      <dgm:t>
        <a:bodyPr/>
        <a:lstStyle/>
        <a:p>
          <a:endParaRPr lang="en-US"/>
        </a:p>
      </dgm:t>
    </dgm:pt>
    <dgm:pt modelId="{C85CEFA9-15F0-4FAA-90A3-DD97D9F2BA8A}">
      <dgm:prSet/>
      <dgm:spPr/>
      <dgm:t>
        <a:bodyPr/>
        <a:lstStyle/>
        <a:p>
          <a:pPr>
            <a:lnSpc>
              <a:spcPct val="100000"/>
            </a:lnSpc>
          </a:pPr>
          <a:r>
            <a:rPr lang="en-US" dirty="0"/>
            <a:t>such plants can either be real physical systems, or can be simulated using classical tools</a:t>
          </a:r>
        </a:p>
      </dgm:t>
    </dgm:pt>
    <dgm:pt modelId="{03F40762-AB53-418B-B85B-C9D13C7C12B2}" type="parTrans" cxnId="{582A3648-5727-4349-A9BA-98D39DC6B22C}">
      <dgm:prSet/>
      <dgm:spPr/>
      <dgm:t>
        <a:bodyPr/>
        <a:lstStyle/>
        <a:p>
          <a:endParaRPr lang="en-US"/>
        </a:p>
      </dgm:t>
    </dgm:pt>
    <dgm:pt modelId="{1D0FFCF7-D68F-4CD6-9DEA-9EA2797B7B63}" type="sibTrans" cxnId="{582A3648-5727-4349-A9BA-98D39DC6B22C}">
      <dgm:prSet/>
      <dgm:spPr/>
      <dgm:t>
        <a:bodyPr/>
        <a:lstStyle/>
        <a:p>
          <a:endParaRPr lang="en-US"/>
        </a:p>
      </dgm:t>
    </dgm:pt>
    <dgm:pt modelId="{8751988E-6A45-450A-BE61-4A71785C8BC9}" type="pres">
      <dgm:prSet presAssocID="{C03DA07C-D8D1-4251-91CD-95B279C68119}" presName="root" presStyleCnt="0">
        <dgm:presLayoutVars>
          <dgm:dir/>
          <dgm:resizeHandles val="exact"/>
        </dgm:presLayoutVars>
      </dgm:prSet>
      <dgm:spPr/>
    </dgm:pt>
    <dgm:pt modelId="{413C3533-4E6C-4F23-AAED-0425AC6B6705}" type="pres">
      <dgm:prSet presAssocID="{BA9C99A7-5CF1-4516-9E5D-B271E7920856}" presName="compNode" presStyleCnt="0"/>
      <dgm:spPr/>
    </dgm:pt>
    <dgm:pt modelId="{510EB46F-6D78-430B-8945-08BF63EBF45F}" type="pres">
      <dgm:prSet presAssocID="{BA9C99A7-5CF1-4516-9E5D-B271E7920856}" presName="bgRect" presStyleLbl="bgShp" presStyleIdx="0" presStyleCnt="2"/>
      <dgm:spPr/>
    </dgm:pt>
    <dgm:pt modelId="{D5D8D4BC-BFEE-4969-9748-549F224EC0F8}" type="pres">
      <dgm:prSet presAssocID="{BA9C99A7-5CF1-4516-9E5D-B271E792085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lant"/>
        </a:ext>
      </dgm:extLst>
    </dgm:pt>
    <dgm:pt modelId="{1C019C51-3179-44F7-A29C-15E2E40EEE84}" type="pres">
      <dgm:prSet presAssocID="{BA9C99A7-5CF1-4516-9E5D-B271E7920856}" presName="spaceRect" presStyleCnt="0"/>
      <dgm:spPr/>
    </dgm:pt>
    <dgm:pt modelId="{827C1DF8-BBAB-49A2-8E5B-89FF70C8FA10}" type="pres">
      <dgm:prSet presAssocID="{BA9C99A7-5CF1-4516-9E5D-B271E7920856}" presName="parTx" presStyleLbl="revTx" presStyleIdx="0" presStyleCnt="2">
        <dgm:presLayoutVars>
          <dgm:chMax val="0"/>
          <dgm:chPref val="0"/>
        </dgm:presLayoutVars>
      </dgm:prSet>
      <dgm:spPr/>
    </dgm:pt>
    <dgm:pt modelId="{F4E22799-A06F-4A1B-AA54-0B286EB21A55}" type="pres">
      <dgm:prSet presAssocID="{BA32DB5D-BC0A-4286-8D0E-4BBC300F6DB5}" presName="sibTrans" presStyleCnt="0"/>
      <dgm:spPr/>
    </dgm:pt>
    <dgm:pt modelId="{6B8A48E2-6FFB-43B0-8305-C9C3506FE481}" type="pres">
      <dgm:prSet presAssocID="{C85CEFA9-15F0-4FAA-90A3-DD97D9F2BA8A}" presName="compNode" presStyleCnt="0"/>
      <dgm:spPr/>
    </dgm:pt>
    <dgm:pt modelId="{2BD43FAF-3379-4D95-9E4F-263F664E93A4}" type="pres">
      <dgm:prSet presAssocID="{C85CEFA9-15F0-4FAA-90A3-DD97D9F2BA8A}" presName="bgRect" presStyleLbl="bgShp" presStyleIdx="1" presStyleCnt="2"/>
      <dgm:spPr/>
    </dgm:pt>
    <dgm:pt modelId="{D29E76E4-2A23-4EC7-A842-909F075E5442}" type="pres">
      <dgm:prSet presAssocID="{C85CEFA9-15F0-4FAA-90A3-DD97D9F2BA8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E7A3A7B6-FE2A-4B86-B986-6E332F5D24B0}" type="pres">
      <dgm:prSet presAssocID="{C85CEFA9-15F0-4FAA-90A3-DD97D9F2BA8A}" presName="spaceRect" presStyleCnt="0"/>
      <dgm:spPr/>
    </dgm:pt>
    <dgm:pt modelId="{D6984176-859A-4510-BE77-5CD9F5B6D5DE}" type="pres">
      <dgm:prSet presAssocID="{C85CEFA9-15F0-4FAA-90A3-DD97D9F2BA8A}" presName="parTx" presStyleLbl="revTx" presStyleIdx="1" presStyleCnt="2">
        <dgm:presLayoutVars>
          <dgm:chMax val="0"/>
          <dgm:chPref val="0"/>
        </dgm:presLayoutVars>
      </dgm:prSet>
      <dgm:spPr/>
    </dgm:pt>
  </dgm:ptLst>
  <dgm:cxnLst>
    <dgm:cxn modelId="{582A3648-5727-4349-A9BA-98D39DC6B22C}" srcId="{C03DA07C-D8D1-4251-91CD-95B279C68119}" destId="{C85CEFA9-15F0-4FAA-90A3-DD97D9F2BA8A}" srcOrd="1" destOrd="0" parTransId="{03F40762-AB53-418B-B85B-C9D13C7C12B2}" sibTransId="{1D0FFCF7-D68F-4CD6-9DEA-9EA2797B7B63}"/>
    <dgm:cxn modelId="{B5E765A7-B651-421F-9165-B5CACAE56F58}" srcId="{C03DA07C-D8D1-4251-91CD-95B279C68119}" destId="{BA9C99A7-5CF1-4516-9E5D-B271E7920856}" srcOrd="0" destOrd="0" parTransId="{DAF8A965-F413-442A-8121-D24A02007818}" sibTransId="{BA32DB5D-BC0A-4286-8D0E-4BBC300F6DB5}"/>
    <dgm:cxn modelId="{9AC1EAAA-1AA5-4CB9-9E1D-1E33B72637FA}" type="presOf" srcId="{C85CEFA9-15F0-4FAA-90A3-DD97D9F2BA8A}" destId="{D6984176-859A-4510-BE77-5CD9F5B6D5DE}" srcOrd="0" destOrd="0" presId="urn:microsoft.com/office/officeart/2018/2/layout/IconVerticalSolidList"/>
    <dgm:cxn modelId="{75A118CE-4FEC-4C1D-99EA-F3B3E012708F}" type="presOf" srcId="{BA9C99A7-5CF1-4516-9E5D-B271E7920856}" destId="{827C1DF8-BBAB-49A2-8E5B-89FF70C8FA10}" srcOrd="0" destOrd="0" presId="urn:microsoft.com/office/officeart/2018/2/layout/IconVerticalSolidList"/>
    <dgm:cxn modelId="{FDEF62E3-0BB8-4B30-BDFE-F4A756CBABE6}" type="presOf" srcId="{C03DA07C-D8D1-4251-91CD-95B279C68119}" destId="{8751988E-6A45-450A-BE61-4A71785C8BC9}" srcOrd="0" destOrd="0" presId="urn:microsoft.com/office/officeart/2018/2/layout/IconVerticalSolidList"/>
    <dgm:cxn modelId="{63CA32DC-E6DF-414E-9187-E93CB2AB1641}" type="presParOf" srcId="{8751988E-6A45-450A-BE61-4A71785C8BC9}" destId="{413C3533-4E6C-4F23-AAED-0425AC6B6705}" srcOrd="0" destOrd="0" presId="urn:microsoft.com/office/officeart/2018/2/layout/IconVerticalSolidList"/>
    <dgm:cxn modelId="{1B8729F7-6A28-480A-A1F7-FA6EFA475B87}" type="presParOf" srcId="{413C3533-4E6C-4F23-AAED-0425AC6B6705}" destId="{510EB46F-6D78-430B-8945-08BF63EBF45F}" srcOrd="0" destOrd="0" presId="urn:microsoft.com/office/officeart/2018/2/layout/IconVerticalSolidList"/>
    <dgm:cxn modelId="{EB557F45-63E6-4E89-813A-983A89FAD62B}" type="presParOf" srcId="{413C3533-4E6C-4F23-AAED-0425AC6B6705}" destId="{D5D8D4BC-BFEE-4969-9748-549F224EC0F8}" srcOrd="1" destOrd="0" presId="urn:microsoft.com/office/officeart/2018/2/layout/IconVerticalSolidList"/>
    <dgm:cxn modelId="{1258E6ED-7A35-49DA-BEBE-268EBF6D81A3}" type="presParOf" srcId="{413C3533-4E6C-4F23-AAED-0425AC6B6705}" destId="{1C019C51-3179-44F7-A29C-15E2E40EEE84}" srcOrd="2" destOrd="0" presId="urn:microsoft.com/office/officeart/2018/2/layout/IconVerticalSolidList"/>
    <dgm:cxn modelId="{78B1CCB3-9B5D-41D2-8D6E-97E79900FD3A}" type="presParOf" srcId="{413C3533-4E6C-4F23-AAED-0425AC6B6705}" destId="{827C1DF8-BBAB-49A2-8E5B-89FF70C8FA10}" srcOrd="3" destOrd="0" presId="urn:microsoft.com/office/officeart/2018/2/layout/IconVerticalSolidList"/>
    <dgm:cxn modelId="{9C68E075-3EA2-4BAE-AA2D-BDEE33C24429}" type="presParOf" srcId="{8751988E-6A45-450A-BE61-4A71785C8BC9}" destId="{F4E22799-A06F-4A1B-AA54-0B286EB21A55}" srcOrd="1" destOrd="0" presId="urn:microsoft.com/office/officeart/2018/2/layout/IconVerticalSolidList"/>
    <dgm:cxn modelId="{77AA7763-3A1F-43ED-9F47-E58638952589}" type="presParOf" srcId="{8751988E-6A45-450A-BE61-4A71785C8BC9}" destId="{6B8A48E2-6FFB-43B0-8305-C9C3506FE481}" srcOrd="2" destOrd="0" presId="urn:microsoft.com/office/officeart/2018/2/layout/IconVerticalSolidList"/>
    <dgm:cxn modelId="{7CC18204-87D3-48DD-A679-9E1F428B7AA4}" type="presParOf" srcId="{6B8A48E2-6FFB-43B0-8305-C9C3506FE481}" destId="{2BD43FAF-3379-4D95-9E4F-263F664E93A4}" srcOrd="0" destOrd="0" presId="urn:microsoft.com/office/officeart/2018/2/layout/IconVerticalSolidList"/>
    <dgm:cxn modelId="{85AF85B1-C873-46C9-8A31-E78D60A024CD}" type="presParOf" srcId="{6B8A48E2-6FFB-43B0-8305-C9C3506FE481}" destId="{D29E76E4-2A23-4EC7-A842-909F075E5442}" srcOrd="1" destOrd="0" presId="urn:microsoft.com/office/officeart/2018/2/layout/IconVerticalSolidList"/>
    <dgm:cxn modelId="{FFFDDF0E-4C57-4CDA-AAF0-E1CC2D86F696}" type="presParOf" srcId="{6B8A48E2-6FFB-43B0-8305-C9C3506FE481}" destId="{E7A3A7B6-FE2A-4B86-B986-6E332F5D24B0}" srcOrd="2" destOrd="0" presId="urn:microsoft.com/office/officeart/2018/2/layout/IconVerticalSolidList"/>
    <dgm:cxn modelId="{3C99F0D6-5E2B-4049-9D81-F206D839A6C2}" type="presParOf" srcId="{6B8A48E2-6FFB-43B0-8305-C9C3506FE481}" destId="{D6984176-859A-4510-BE77-5CD9F5B6D5D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C5B8C9B-F32C-49D2-A1A4-13AC16EBF13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8F75DF5-DF47-43B6-B748-E4E0E0534240}">
      <dgm:prSet/>
      <dgm:spPr/>
      <dgm:t>
        <a:bodyPr/>
        <a:lstStyle/>
        <a:p>
          <a:pPr>
            <a:lnSpc>
              <a:spcPct val="100000"/>
            </a:lnSpc>
          </a:pPr>
          <a:r>
            <a:rPr lang="en-US"/>
            <a:t>The network layer of OpenPLC is responsible for establishing and maintaining network</a:t>
          </a:r>
        </a:p>
      </dgm:t>
    </dgm:pt>
    <dgm:pt modelId="{C642CAC2-16D2-44F4-8383-597B55A215A7}" type="parTrans" cxnId="{B4679CD8-2E66-406B-B29B-13FF4AA7B2F1}">
      <dgm:prSet/>
      <dgm:spPr/>
      <dgm:t>
        <a:bodyPr/>
        <a:lstStyle/>
        <a:p>
          <a:endParaRPr lang="en-US"/>
        </a:p>
      </dgm:t>
    </dgm:pt>
    <dgm:pt modelId="{BD909110-101A-4ADB-9B5B-2AF80C3054C4}" type="sibTrans" cxnId="{B4679CD8-2E66-406B-B29B-13FF4AA7B2F1}">
      <dgm:prSet/>
      <dgm:spPr/>
      <dgm:t>
        <a:bodyPr/>
        <a:lstStyle/>
        <a:p>
          <a:endParaRPr lang="en-US"/>
        </a:p>
      </dgm:t>
    </dgm:pt>
    <dgm:pt modelId="{3202EC37-EC82-4C59-84A0-B186392EF36A}">
      <dgm:prSet/>
      <dgm:spPr/>
      <dgm:t>
        <a:bodyPr/>
        <a:lstStyle/>
        <a:p>
          <a:pPr>
            <a:lnSpc>
              <a:spcPct val="100000"/>
            </a:lnSpc>
          </a:pPr>
          <a:r>
            <a:rPr lang="en-US"/>
            <a:t>connections over Modbus by accessing the I/O image tables, i.e., the PLC registers storing, for instance, the current state of inputs (sensor measurements) and outputs (actuator commands)</a:t>
          </a:r>
        </a:p>
      </dgm:t>
    </dgm:pt>
    <dgm:pt modelId="{41DDA95E-E570-4F53-BDDC-955A7F6EC9A5}" type="parTrans" cxnId="{1BEA0200-94F5-4CB0-949D-23E468131112}">
      <dgm:prSet/>
      <dgm:spPr/>
      <dgm:t>
        <a:bodyPr/>
        <a:lstStyle/>
        <a:p>
          <a:endParaRPr lang="en-US"/>
        </a:p>
      </dgm:t>
    </dgm:pt>
    <dgm:pt modelId="{437A924F-2063-4314-A65C-C9310FAB5388}" type="sibTrans" cxnId="{1BEA0200-94F5-4CB0-949D-23E468131112}">
      <dgm:prSet/>
      <dgm:spPr/>
      <dgm:t>
        <a:bodyPr/>
        <a:lstStyle/>
        <a:p>
          <a:endParaRPr lang="en-US"/>
        </a:p>
      </dgm:t>
    </dgm:pt>
    <dgm:pt modelId="{0C612FF4-5A0D-403C-A70A-B96E0A53103A}" type="pres">
      <dgm:prSet presAssocID="{8C5B8C9B-F32C-49D2-A1A4-13AC16EBF135}" presName="root" presStyleCnt="0">
        <dgm:presLayoutVars>
          <dgm:dir/>
          <dgm:resizeHandles val="exact"/>
        </dgm:presLayoutVars>
      </dgm:prSet>
      <dgm:spPr/>
    </dgm:pt>
    <dgm:pt modelId="{815A6630-AF8C-483F-A0DA-4966BE3041A3}" type="pres">
      <dgm:prSet presAssocID="{F8F75DF5-DF47-43B6-B748-E4E0E0534240}" presName="compNode" presStyleCnt="0"/>
      <dgm:spPr/>
    </dgm:pt>
    <dgm:pt modelId="{CC2CA662-6155-40CA-B198-266CC2C2A08A}" type="pres">
      <dgm:prSet presAssocID="{F8F75DF5-DF47-43B6-B748-E4E0E0534240}" presName="bgRect" presStyleLbl="bgShp" presStyleIdx="0" presStyleCnt="2"/>
      <dgm:spPr/>
    </dgm:pt>
    <dgm:pt modelId="{8B2BFAE5-35B3-498F-91BF-FD87ED1D6956}" type="pres">
      <dgm:prSet presAssocID="{F8F75DF5-DF47-43B6-B748-E4E0E053424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twork"/>
        </a:ext>
      </dgm:extLst>
    </dgm:pt>
    <dgm:pt modelId="{AB792C78-E0C0-44ED-934E-0C5DD1E2E569}" type="pres">
      <dgm:prSet presAssocID="{F8F75DF5-DF47-43B6-B748-E4E0E0534240}" presName="spaceRect" presStyleCnt="0"/>
      <dgm:spPr/>
    </dgm:pt>
    <dgm:pt modelId="{4CC8E0AF-A476-49B1-8AA5-1ECC20847B02}" type="pres">
      <dgm:prSet presAssocID="{F8F75DF5-DF47-43B6-B748-E4E0E0534240}" presName="parTx" presStyleLbl="revTx" presStyleIdx="0" presStyleCnt="2">
        <dgm:presLayoutVars>
          <dgm:chMax val="0"/>
          <dgm:chPref val="0"/>
        </dgm:presLayoutVars>
      </dgm:prSet>
      <dgm:spPr/>
    </dgm:pt>
    <dgm:pt modelId="{958C38E8-5D4A-453F-9F83-1C614A3A96C0}" type="pres">
      <dgm:prSet presAssocID="{BD909110-101A-4ADB-9B5B-2AF80C3054C4}" presName="sibTrans" presStyleCnt="0"/>
      <dgm:spPr/>
    </dgm:pt>
    <dgm:pt modelId="{D2ECA46F-192C-4BCA-A51E-ECBAC7229E0B}" type="pres">
      <dgm:prSet presAssocID="{3202EC37-EC82-4C59-84A0-B186392EF36A}" presName="compNode" presStyleCnt="0"/>
      <dgm:spPr/>
    </dgm:pt>
    <dgm:pt modelId="{EB03DF75-C3D4-4120-BB22-9E9D6F51E09E}" type="pres">
      <dgm:prSet presAssocID="{3202EC37-EC82-4C59-84A0-B186392EF36A}" presName="bgRect" presStyleLbl="bgShp" presStyleIdx="1" presStyleCnt="2"/>
      <dgm:spPr/>
    </dgm:pt>
    <dgm:pt modelId="{82E56403-8096-4004-A240-4CE651944413}" type="pres">
      <dgm:prSet presAssocID="{3202EC37-EC82-4C59-84A0-B186392EF36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9567470A-6A67-42E4-B3AE-D0DE57B9BDE8}" type="pres">
      <dgm:prSet presAssocID="{3202EC37-EC82-4C59-84A0-B186392EF36A}" presName="spaceRect" presStyleCnt="0"/>
      <dgm:spPr/>
    </dgm:pt>
    <dgm:pt modelId="{BCDC357A-0FDC-4152-9AA4-B20D1403D8D8}" type="pres">
      <dgm:prSet presAssocID="{3202EC37-EC82-4C59-84A0-B186392EF36A}" presName="parTx" presStyleLbl="revTx" presStyleIdx="1" presStyleCnt="2">
        <dgm:presLayoutVars>
          <dgm:chMax val="0"/>
          <dgm:chPref val="0"/>
        </dgm:presLayoutVars>
      </dgm:prSet>
      <dgm:spPr/>
    </dgm:pt>
  </dgm:ptLst>
  <dgm:cxnLst>
    <dgm:cxn modelId="{1BEA0200-94F5-4CB0-949D-23E468131112}" srcId="{8C5B8C9B-F32C-49D2-A1A4-13AC16EBF135}" destId="{3202EC37-EC82-4C59-84A0-B186392EF36A}" srcOrd="1" destOrd="0" parTransId="{41DDA95E-E570-4F53-BDDC-955A7F6EC9A5}" sibTransId="{437A924F-2063-4314-A65C-C9310FAB5388}"/>
    <dgm:cxn modelId="{10907729-65DF-4445-B0AB-188CCF8CC69D}" type="presOf" srcId="{3202EC37-EC82-4C59-84A0-B186392EF36A}" destId="{BCDC357A-0FDC-4152-9AA4-B20D1403D8D8}" srcOrd="0" destOrd="0" presId="urn:microsoft.com/office/officeart/2018/2/layout/IconVerticalSolidList"/>
    <dgm:cxn modelId="{08A68751-8B37-4B05-B5BF-3F87E421E103}" type="presOf" srcId="{8C5B8C9B-F32C-49D2-A1A4-13AC16EBF135}" destId="{0C612FF4-5A0D-403C-A70A-B96E0A53103A}" srcOrd="0" destOrd="0" presId="urn:microsoft.com/office/officeart/2018/2/layout/IconVerticalSolidList"/>
    <dgm:cxn modelId="{B4679CD8-2E66-406B-B29B-13FF4AA7B2F1}" srcId="{8C5B8C9B-F32C-49D2-A1A4-13AC16EBF135}" destId="{F8F75DF5-DF47-43B6-B748-E4E0E0534240}" srcOrd="0" destOrd="0" parTransId="{C642CAC2-16D2-44F4-8383-597B55A215A7}" sibTransId="{BD909110-101A-4ADB-9B5B-2AF80C3054C4}"/>
    <dgm:cxn modelId="{644EBEF2-42B2-44E0-BF69-83F03807BE8E}" type="presOf" srcId="{F8F75DF5-DF47-43B6-B748-E4E0E0534240}" destId="{4CC8E0AF-A476-49B1-8AA5-1ECC20847B02}" srcOrd="0" destOrd="0" presId="urn:microsoft.com/office/officeart/2018/2/layout/IconVerticalSolidList"/>
    <dgm:cxn modelId="{8507008E-618D-4FD8-B234-5E2266FB82F0}" type="presParOf" srcId="{0C612FF4-5A0D-403C-A70A-B96E0A53103A}" destId="{815A6630-AF8C-483F-A0DA-4966BE3041A3}" srcOrd="0" destOrd="0" presId="urn:microsoft.com/office/officeart/2018/2/layout/IconVerticalSolidList"/>
    <dgm:cxn modelId="{29AC35E3-2D06-4D35-A4ED-AFC7CEF5F2E0}" type="presParOf" srcId="{815A6630-AF8C-483F-A0DA-4966BE3041A3}" destId="{CC2CA662-6155-40CA-B198-266CC2C2A08A}" srcOrd="0" destOrd="0" presId="urn:microsoft.com/office/officeart/2018/2/layout/IconVerticalSolidList"/>
    <dgm:cxn modelId="{2A5CA020-5441-4661-8FB8-C219E7CCEAA8}" type="presParOf" srcId="{815A6630-AF8C-483F-A0DA-4966BE3041A3}" destId="{8B2BFAE5-35B3-498F-91BF-FD87ED1D6956}" srcOrd="1" destOrd="0" presId="urn:microsoft.com/office/officeart/2018/2/layout/IconVerticalSolidList"/>
    <dgm:cxn modelId="{E4CEF2C0-BAF8-447B-95AD-2DC146A538D9}" type="presParOf" srcId="{815A6630-AF8C-483F-A0DA-4966BE3041A3}" destId="{AB792C78-E0C0-44ED-934E-0C5DD1E2E569}" srcOrd="2" destOrd="0" presId="urn:microsoft.com/office/officeart/2018/2/layout/IconVerticalSolidList"/>
    <dgm:cxn modelId="{818554D7-4DC7-4A93-92CC-1194891D8E95}" type="presParOf" srcId="{815A6630-AF8C-483F-A0DA-4966BE3041A3}" destId="{4CC8E0AF-A476-49B1-8AA5-1ECC20847B02}" srcOrd="3" destOrd="0" presId="urn:microsoft.com/office/officeart/2018/2/layout/IconVerticalSolidList"/>
    <dgm:cxn modelId="{84393175-F42E-4455-91DC-7D4E1599D7A5}" type="presParOf" srcId="{0C612FF4-5A0D-403C-A70A-B96E0A53103A}" destId="{958C38E8-5D4A-453F-9F83-1C614A3A96C0}" srcOrd="1" destOrd="0" presId="urn:microsoft.com/office/officeart/2018/2/layout/IconVerticalSolidList"/>
    <dgm:cxn modelId="{81180302-0C92-4938-B764-1A0116F899DC}" type="presParOf" srcId="{0C612FF4-5A0D-403C-A70A-B96E0A53103A}" destId="{D2ECA46F-192C-4BCA-A51E-ECBAC7229E0B}" srcOrd="2" destOrd="0" presId="urn:microsoft.com/office/officeart/2018/2/layout/IconVerticalSolidList"/>
    <dgm:cxn modelId="{5406129E-7A45-4133-98D8-66A8D5CB6B20}" type="presParOf" srcId="{D2ECA46F-192C-4BCA-A51E-ECBAC7229E0B}" destId="{EB03DF75-C3D4-4120-BB22-9E9D6F51E09E}" srcOrd="0" destOrd="0" presId="urn:microsoft.com/office/officeart/2018/2/layout/IconVerticalSolidList"/>
    <dgm:cxn modelId="{9098CFAA-3676-449E-805E-28663BAC2718}" type="presParOf" srcId="{D2ECA46F-192C-4BCA-A51E-ECBAC7229E0B}" destId="{82E56403-8096-4004-A240-4CE651944413}" srcOrd="1" destOrd="0" presId="urn:microsoft.com/office/officeart/2018/2/layout/IconVerticalSolidList"/>
    <dgm:cxn modelId="{0AD55B13-7B2F-461D-AB3B-E1E1B4F153E4}" type="presParOf" srcId="{D2ECA46F-192C-4BCA-A51E-ECBAC7229E0B}" destId="{9567470A-6A67-42E4-B3AE-D0DE57B9BDE8}" srcOrd="2" destOrd="0" presId="urn:microsoft.com/office/officeart/2018/2/layout/IconVerticalSolidList"/>
    <dgm:cxn modelId="{19B9D502-0DFD-497B-B78D-31726E141ABD}" type="presParOf" srcId="{D2ECA46F-192C-4BCA-A51E-ECBAC7229E0B}" destId="{BCDC357A-0FDC-4152-9AA4-B20D1403D8D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4CADE3-1711-491F-BA5D-0564C9466023}">
      <dsp:nvSpPr>
        <dsp:cNvPr id="0" name=""/>
        <dsp:cNvSpPr/>
      </dsp:nvSpPr>
      <dsp:spPr>
        <a:xfrm>
          <a:off x="0" y="2344"/>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1DFCF-6CEC-449B-81B6-6C0759FC61CE}">
      <dsp:nvSpPr>
        <dsp:cNvPr id="0" name=""/>
        <dsp:cNvSpPr/>
      </dsp:nvSpPr>
      <dsp:spPr>
        <a:xfrm>
          <a:off x="359511" y="269750"/>
          <a:ext cx="653657" cy="6536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093C6F-CF3A-430A-8950-3684B05FFA37}">
      <dsp:nvSpPr>
        <dsp:cNvPr id="0" name=""/>
        <dsp:cNvSpPr/>
      </dsp:nvSpPr>
      <dsp:spPr>
        <a:xfrm>
          <a:off x="1372680" y="2344"/>
          <a:ext cx="5424994"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en-US" sz="2200" kern="1200" dirty="0"/>
            <a:t>PLC</a:t>
          </a:r>
        </a:p>
      </dsp:txBody>
      <dsp:txXfrm>
        <a:off x="1372680" y="2344"/>
        <a:ext cx="5424994" cy="1188467"/>
      </dsp:txXfrm>
    </dsp:sp>
    <dsp:sp modelId="{B17BC534-3EA3-49EB-B008-D95F6C89C20E}">
      <dsp:nvSpPr>
        <dsp:cNvPr id="0" name=""/>
        <dsp:cNvSpPr/>
      </dsp:nvSpPr>
      <dsp:spPr>
        <a:xfrm>
          <a:off x="0" y="1487929"/>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EBCFBE-6B7F-4CCC-B248-7EE0833723A1}">
      <dsp:nvSpPr>
        <dsp:cNvPr id="0" name=""/>
        <dsp:cNvSpPr/>
      </dsp:nvSpPr>
      <dsp:spPr>
        <a:xfrm>
          <a:off x="359511" y="1755334"/>
          <a:ext cx="653657" cy="6536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C46E1D-D4B9-49AB-82C4-38ED371E1C75}">
      <dsp:nvSpPr>
        <dsp:cNvPr id="0" name=""/>
        <dsp:cNvSpPr/>
      </dsp:nvSpPr>
      <dsp:spPr>
        <a:xfrm>
          <a:off x="1372680" y="1487929"/>
          <a:ext cx="5424994"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en-US" sz="2200" kern="1200" dirty="0"/>
            <a:t>HMI</a:t>
          </a:r>
        </a:p>
      </dsp:txBody>
      <dsp:txXfrm>
        <a:off x="1372680" y="1487929"/>
        <a:ext cx="5424994" cy="1188467"/>
      </dsp:txXfrm>
    </dsp:sp>
    <dsp:sp modelId="{F8946C1A-E41E-4226-B2EA-43104F3137A2}">
      <dsp:nvSpPr>
        <dsp:cNvPr id="0" name=""/>
        <dsp:cNvSpPr/>
      </dsp:nvSpPr>
      <dsp:spPr>
        <a:xfrm>
          <a:off x="0" y="2973514"/>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61C189-F59E-4BE7-87B9-D6AEADDAFE52}">
      <dsp:nvSpPr>
        <dsp:cNvPr id="0" name=""/>
        <dsp:cNvSpPr/>
      </dsp:nvSpPr>
      <dsp:spPr>
        <a:xfrm>
          <a:off x="359511" y="3240919"/>
          <a:ext cx="653657" cy="6536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2E242D1-D28B-4A9B-BA0C-440ABC834EBC}">
      <dsp:nvSpPr>
        <dsp:cNvPr id="0" name=""/>
        <dsp:cNvSpPr/>
      </dsp:nvSpPr>
      <dsp:spPr>
        <a:xfrm>
          <a:off x="1372680" y="2973514"/>
          <a:ext cx="5424994"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en-US" sz="2200" kern="1200" dirty="0"/>
            <a:t>Physical Plants</a:t>
          </a:r>
        </a:p>
      </dsp:txBody>
      <dsp:txXfrm>
        <a:off x="1372680" y="2973514"/>
        <a:ext cx="5424994" cy="1188467"/>
      </dsp:txXfrm>
    </dsp:sp>
    <dsp:sp modelId="{8A368D14-20DC-42FE-B518-981C8691FA55}">
      <dsp:nvSpPr>
        <dsp:cNvPr id="0" name=""/>
        <dsp:cNvSpPr/>
      </dsp:nvSpPr>
      <dsp:spPr>
        <a:xfrm>
          <a:off x="0" y="4459099"/>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2FE6E2-54D4-41A4-BEFF-9E150DCBA4DF}">
      <dsp:nvSpPr>
        <dsp:cNvPr id="0" name=""/>
        <dsp:cNvSpPr/>
      </dsp:nvSpPr>
      <dsp:spPr>
        <a:xfrm>
          <a:off x="359511" y="4726504"/>
          <a:ext cx="653657" cy="6536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233E50-272B-4465-B5A1-879E6E8F56E2}">
      <dsp:nvSpPr>
        <dsp:cNvPr id="0" name=""/>
        <dsp:cNvSpPr/>
      </dsp:nvSpPr>
      <dsp:spPr>
        <a:xfrm>
          <a:off x="1372680" y="4459099"/>
          <a:ext cx="3058953"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en-US" sz="2200" kern="1200" dirty="0"/>
            <a:t> Management and  Monitoring System</a:t>
          </a:r>
        </a:p>
      </dsp:txBody>
      <dsp:txXfrm>
        <a:off x="1372680" y="4459099"/>
        <a:ext cx="3058953" cy="1188467"/>
      </dsp:txXfrm>
    </dsp:sp>
    <dsp:sp modelId="{52C48B65-365C-48DD-9B4C-3E43ECF9F818}">
      <dsp:nvSpPr>
        <dsp:cNvPr id="0" name=""/>
        <dsp:cNvSpPr/>
      </dsp:nvSpPr>
      <dsp:spPr>
        <a:xfrm>
          <a:off x="4431634" y="4459099"/>
          <a:ext cx="2366040"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755650">
            <a:lnSpc>
              <a:spcPct val="90000"/>
            </a:lnSpc>
            <a:spcBef>
              <a:spcPct val="0"/>
            </a:spcBef>
            <a:spcAft>
              <a:spcPct val="35000"/>
            </a:spcAft>
            <a:buNone/>
          </a:pPr>
          <a:r>
            <a:rPr lang="en-US" sz="1700" kern="1200"/>
            <a:t>Supervisory</a:t>
          </a:r>
        </a:p>
        <a:p>
          <a:pPr marL="0" lvl="0" indent="0" algn="l" defTabSz="755650">
            <a:lnSpc>
              <a:spcPct val="90000"/>
            </a:lnSpc>
            <a:spcBef>
              <a:spcPct val="0"/>
            </a:spcBef>
            <a:spcAft>
              <a:spcPct val="35000"/>
            </a:spcAft>
            <a:buNone/>
          </a:pPr>
          <a:r>
            <a:rPr lang="en-US" sz="1700" kern="1200"/>
            <a:t>Field communication</a:t>
          </a:r>
        </a:p>
      </dsp:txBody>
      <dsp:txXfrm>
        <a:off x="4431634" y="4459099"/>
        <a:ext cx="2366040" cy="11884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0E3095-A52C-4804-AECB-ACB318624E50}">
      <dsp:nvSpPr>
        <dsp:cNvPr id="0" name=""/>
        <dsp:cNvSpPr/>
      </dsp:nvSpPr>
      <dsp:spPr>
        <a:xfrm>
          <a:off x="134825" y="275313"/>
          <a:ext cx="1295909" cy="129590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AC3609-55AF-4F9D-9ECB-1B7CC651469E}">
      <dsp:nvSpPr>
        <dsp:cNvPr id="0" name=""/>
        <dsp:cNvSpPr/>
      </dsp:nvSpPr>
      <dsp:spPr>
        <a:xfrm>
          <a:off x="406966" y="547454"/>
          <a:ext cx="751627" cy="7516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A08469-DE49-4FE2-BFEA-792253F30777}">
      <dsp:nvSpPr>
        <dsp:cNvPr id="0" name=""/>
        <dsp:cNvSpPr/>
      </dsp:nvSpPr>
      <dsp:spPr>
        <a:xfrm>
          <a:off x="1708430" y="275313"/>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can integerate both physical and software PLCs</a:t>
          </a:r>
        </a:p>
      </dsp:txBody>
      <dsp:txXfrm>
        <a:off x="1708430" y="275313"/>
        <a:ext cx="3054644" cy="1295909"/>
      </dsp:txXfrm>
    </dsp:sp>
    <dsp:sp modelId="{81F967EC-A968-49E7-BA61-9BCA3BBAE006}">
      <dsp:nvSpPr>
        <dsp:cNvPr id="0" name=""/>
        <dsp:cNvSpPr/>
      </dsp:nvSpPr>
      <dsp:spPr>
        <a:xfrm>
          <a:off x="5295324" y="275313"/>
          <a:ext cx="1295909" cy="129590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E4EA99-1FC9-44A9-BCE5-9F8E82101123}">
      <dsp:nvSpPr>
        <dsp:cNvPr id="0" name=""/>
        <dsp:cNvSpPr/>
      </dsp:nvSpPr>
      <dsp:spPr>
        <a:xfrm>
          <a:off x="5567465" y="547454"/>
          <a:ext cx="751627" cy="7516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7013A9-7826-4400-BB0B-8317DFEB30D8}">
      <dsp:nvSpPr>
        <dsp:cNvPr id="0" name=""/>
        <dsp:cNvSpPr/>
      </dsp:nvSpPr>
      <dsp:spPr>
        <a:xfrm>
          <a:off x="6868929" y="275313"/>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dirty="0"/>
            <a:t>for the Software PLCS, they support low and high interaction levels</a:t>
          </a:r>
        </a:p>
      </dsp:txBody>
      <dsp:txXfrm>
        <a:off x="6868929" y="275313"/>
        <a:ext cx="3054644" cy="1295909"/>
      </dsp:txXfrm>
    </dsp:sp>
    <dsp:sp modelId="{5C30478E-1472-4BAD-A38B-DA64A585078F}">
      <dsp:nvSpPr>
        <dsp:cNvPr id="0" name=""/>
        <dsp:cNvSpPr/>
      </dsp:nvSpPr>
      <dsp:spPr>
        <a:xfrm>
          <a:off x="134825" y="2214856"/>
          <a:ext cx="1295909" cy="129590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6C2728-9213-49C6-B4BE-D0C797A9864B}">
      <dsp:nvSpPr>
        <dsp:cNvPr id="0" name=""/>
        <dsp:cNvSpPr/>
      </dsp:nvSpPr>
      <dsp:spPr>
        <a:xfrm>
          <a:off x="406966" y="2486997"/>
          <a:ext cx="751627" cy="7516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C53D78-4050-4266-B0E9-F35685B789EF}">
      <dsp:nvSpPr>
        <dsp:cNvPr id="0" name=""/>
        <dsp:cNvSpPr/>
      </dsp:nvSpPr>
      <dsp:spPr>
        <a:xfrm>
          <a:off x="1708430" y="2214856"/>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dirty="0"/>
            <a:t>for Low-level they return the accurate fingerprints</a:t>
          </a:r>
        </a:p>
      </dsp:txBody>
      <dsp:txXfrm>
        <a:off x="1708430" y="2214856"/>
        <a:ext cx="3054644" cy="1295909"/>
      </dsp:txXfrm>
    </dsp:sp>
    <dsp:sp modelId="{01E8D248-7107-4E59-ADF2-BA7EF7EFEFA8}">
      <dsp:nvSpPr>
        <dsp:cNvPr id="0" name=""/>
        <dsp:cNvSpPr/>
      </dsp:nvSpPr>
      <dsp:spPr>
        <a:xfrm>
          <a:off x="5295324" y="2214856"/>
          <a:ext cx="1295909" cy="129590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AADF82-5FF3-4987-950A-5F4F9C2B8483}">
      <dsp:nvSpPr>
        <dsp:cNvPr id="0" name=""/>
        <dsp:cNvSpPr/>
      </dsp:nvSpPr>
      <dsp:spPr>
        <a:xfrm>
          <a:off x="5567465" y="2486997"/>
          <a:ext cx="751627" cy="75162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9941F1-E0A4-40A7-AF36-45CABD01C304}">
      <dsp:nvSpPr>
        <dsp:cNvPr id="0" name=""/>
        <dsp:cNvSpPr/>
      </dsp:nvSpPr>
      <dsp:spPr>
        <a:xfrm>
          <a:off x="6868929" y="2214856"/>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dirty="0"/>
            <a:t>while for High-level they emulates ICS protocols supporting  specific commands to modify PLCs registers</a:t>
          </a:r>
        </a:p>
      </dsp:txBody>
      <dsp:txXfrm>
        <a:off x="6868929" y="2214856"/>
        <a:ext cx="3054644" cy="1295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7021A0-5856-4CD9-B597-D0CD0672D1D2}">
      <dsp:nvSpPr>
        <dsp:cNvPr id="0" name=""/>
        <dsp:cNvSpPr/>
      </dsp:nvSpPr>
      <dsp:spPr>
        <a:xfrm>
          <a:off x="616949" y="340539"/>
          <a:ext cx="1818562" cy="18185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5F82DB-C510-4618-A201-3C271072CC1F}">
      <dsp:nvSpPr>
        <dsp:cNvPr id="0" name=""/>
        <dsp:cNvSpPr/>
      </dsp:nvSpPr>
      <dsp:spPr>
        <a:xfrm>
          <a:off x="1004512" y="728102"/>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BF9F78F-60C2-4CEB-88E3-7B77604EAD61}">
      <dsp:nvSpPr>
        <dsp:cNvPr id="0" name=""/>
        <dsp:cNvSpPr/>
      </dsp:nvSpPr>
      <dsp:spPr>
        <a:xfrm>
          <a:off x="35606"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their presence allows </a:t>
          </a:r>
          <a:r>
            <a:rPr lang="en-US" sz="1500" kern="1200" dirty="0" err="1"/>
            <a:t>HoneyICS</a:t>
          </a:r>
          <a:r>
            <a:rPr lang="en-US" sz="1500" kern="1200" dirty="0"/>
            <a:t> to support attacks</a:t>
          </a:r>
        </a:p>
      </dsp:txBody>
      <dsp:txXfrm>
        <a:off x="35606" y="2725540"/>
        <a:ext cx="2981250" cy="720000"/>
      </dsp:txXfrm>
    </dsp:sp>
    <dsp:sp modelId="{36341740-8E9D-4AE8-BBEB-2B1E92CB2D3D}">
      <dsp:nvSpPr>
        <dsp:cNvPr id="0" name=""/>
        <dsp:cNvSpPr/>
      </dsp:nvSpPr>
      <dsp:spPr>
        <a:xfrm>
          <a:off x="4119918" y="340539"/>
          <a:ext cx="1818562" cy="18185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D0A24E-E946-4DDE-B43A-AF6EF6CFE498}">
      <dsp:nvSpPr>
        <dsp:cNvPr id="0" name=""/>
        <dsp:cNvSpPr/>
      </dsp:nvSpPr>
      <dsp:spPr>
        <a:xfrm>
          <a:off x="4507481" y="72810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7D9FE5-D076-4C4E-9772-1CCC98D8732C}">
      <dsp:nvSpPr>
        <dsp:cNvPr id="0" name=""/>
        <dsp:cNvSpPr/>
      </dsp:nvSpPr>
      <dsp:spPr>
        <a:xfrm>
          <a:off x="3538574"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where the attacker gain access over the HMIs via password brute-force Or </a:t>
          </a:r>
          <a:r>
            <a:rPr lang="en-US" sz="1500" kern="1200" dirty="0"/>
            <a:t>Via phishing. </a:t>
          </a:r>
        </a:p>
      </dsp:txBody>
      <dsp:txXfrm>
        <a:off x="3538574" y="2725540"/>
        <a:ext cx="2981250" cy="720000"/>
      </dsp:txXfrm>
    </dsp:sp>
    <dsp:sp modelId="{B8DB7A98-C26A-488F-B915-67E7BC76AF12}">
      <dsp:nvSpPr>
        <dsp:cNvPr id="0" name=""/>
        <dsp:cNvSpPr/>
      </dsp:nvSpPr>
      <dsp:spPr>
        <a:xfrm>
          <a:off x="7622887" y="340539"/>
          <a:ext cx="1818562" cy="181856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9E54B7-E407-487E-98DD-C538D2FA16A2}">
      <dsp:nvSpPr>
        <dsp:cNvPr id="0" name=""/>
        <dsp:cNvSpPr/>
      </dsp:nvSpPr>
      <dsp:spPr>
        <a:xfrm>
          <a:off x="8010450" y="72810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09EF2C-EDBB-47FF-9A09-DB25B4C0B0A1}">
      <dsp:nvSpPr>
        <dsp:cNvPr id="0" name=""/>
        <dsp:cNvSpPr/>
      </dsp:nvSpPr>
      <dsp:spPr>
        <a:xfrm>
          <a:off x="7041543"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And sends actuator commands directly through them</a:t>
          </a:r>
        </a:p>
      </dsp:txBody>
      <dsp:txXfrm>
        <a:off x="7041543" y="2725540"/>
        <a:ext cx="29812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0EB46F-6D78-430B-8945-08BF63EBF45F}">
      <dsp:nvSpPr>
        <dsp:cNvPr id="0" name=""/>
        <dsp:cNvSpPr/>
      </dsp:nvSpPr>
      <dsp:spPr>
        <a:xfrm>
          <a:off x="0" y="918110"/>
          <a:ext cx="6797675" cy="16949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D8D4BC-BFEE-4969-9748-549F224EC0F8}">
      <dsp:nvSpPr>
        <dsp:cNvPr id="0" name=""/>
        <dsp:cNvSpPr/>
      </dsp:nvSpPr>
      <dsp:spPr>
        <a:xfrm>
          <a:off x="512729" y="1299479"/>
          <a:ext cx="932235" cy="9322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7C1DF8-BBAB-49A2-8E5B-89FF70C8FA10}">
      <dsp:nvSpPr>
        <dsp:cNvPr id="0" name=""/>
        <dsp:cNvSpPr/>
      </dsp:nvSpPr>
      <dsp:spPr>
        <a:xfrm>
          <a:off x="1957694" y="918110"/>
          <a:ext cx="4839980" cy="169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385" tIns="179385" rIns="179385" bIns="179385" numCol="1" spcCol="1270" anchor="ctr" anchorCtr="0">
          <a:noAutofit/>
        </a:bodyPr>
        <a:lstStyle/>
        <a:p>
          <a:pPr marL="0" lvl="0" indent="0" algn="l" defTabSz="977900">
            <a:lnSpc>
              <a:spcPct val="100000"/>
            </a:lnSpc>
            <a:spcBef>
              <a:spcPct val="0"/>
            </a:spcBef>
            <a:spcAft>
              <a:spcPct val="35000"/>
            </a:spcAft>
            <a:buNone/>
          </a:pPr>
          <a:r>
            <a:rPr lang="en-US" sz="2200" kern="1200" dirty="0"/>
            <a:t>Physical Plant: they assume the presence of underlying physical processes to realize physics-awareness</a:t>
          </a:r>
        </a:p>
      </dsp:txBody>
      <dsp:txXfrm>
        <a:off x="1957694" y="918110"/>
        <a:ext cx="4839980" cy="1694973"/>
      </dsp:txXfrm>
    </dsp:sp>
    <dsp:sp modelId="{2BD43FAF-3379-4D95-9E4F-263F664E93A4}">
      <dsp:nvSpPr>
        <dsp:cNvPr id="0" name=""/>
        <dsp:cNvSpPr/>
      </dsp:nvSpPr>
      <dsp:spPr>
        <a:xfrm>
          <a:off x="0" y="3036827"/>
          <a:ext cx="6797675" cy="16949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9E76E4-2A23-4EC7-A842-909F075E5442}">
      <dsp:nvSpPr>
        <dsp:cNvPr id="0" name=""/>
        <dsp:cNvSpPr/>
      </dsp:nvSpPr>
      <dsp:spPr>
        <a:xfrm>
          <a:off x="512729" y="3418196"/>
          <a:ext cx="932235" cy="9322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984176-859A-4510-BE77-5CD9F5B6D5DE}">
      <dsp:nvSpPr>
        <dsp:cNvPr id="0" name=""/>
        <dsp:cNvSpPr/>
      </dsp:nvSpPr>
      <dsp:spPr>
        <a:xfrm>
          <a:off x="1957694" y="3036827"/>
          <a:ext cx="4839980" cy="169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385" tIns="179385" rIns="179385" bIns="179385" numCol="1" spcCol="1270" anchor="ctr" anchorCtr="0">
          <a:noAutofit/>
        </a:bodyPr>
        <a:lstStyle/>
        <a:p>
          <a:pPr marL="0" lvl="0" indent="0" algn="l" defTabSz="977900">
            <a:lnSpc>
              <a:spcPct val="100000"/>
            </a:lnSpc>
            <a:spcBef>
              <a:spcPct val="0"/>
            </a:spcBef>
            <a:spcAft>
              <a:spcPct val="35000"/>
            </a:spcAft>
            <a:buNone/>
          </a:pPr>
          <a:r>
            <a:rPr lang="en-US" sz="2200" kern="1200" dirty="0"/>
            <a:t>such plants can either be real physical systems, or can be simulated using classical tools</a:t>
          </a:r>
        </a:p>
      </dsp:txBody>
      <dsp:txXfrm>
        <a:off x="1957694" y="3036827"/>
        <a:ext cx="4839980" cy="169497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CA662-6155-40CA-B198-266CC2C2A08A}">
      <dsp:nvSpPr>
        <dsp:cNvPr id="0" name=""/>
        <dsp:cNvSpPr/>
      </dsp:nvSpPr>
      <dsp:spPr>
        <a:xfrm>
          <a:off x="0" y="653795"/>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2BFAE5-35B3-498F-91BF-FD87ED1D6956}">
      <dsp:nvSpPr>
        <dsp:cNvPr id="0" name=""/>
        <dsp:cNvSpPr/>
      </dsp:nvSpPr>
      <dsp:spPr>
        <a:xfrm>
          <a:off x="365119" y="925372"/>
          <a:ext cx="663854" cy="6638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C8E0AF-A476-49B1-8AA5-1ECC20847B02}">
      <dsp:nvSpPr>
        <dsp:cNvPr id="0" name=""/>
        <dsp:cNvSpPr/>
      </dsp:nvSpPr>
      <dsp:spPr>
        <a:xfrm>
          <a:off x="1394094" y="653795"/>
          <a:ext cx="866430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89000">
            <a:lnSpc>
              <a:spcPct val="100000"/>
            </a:lnSpc>
            <a:spcBef>
              <a:spcPct val="0"/>
            </a:spcBef>
            <a:spcAft>
              <a:spcPct val="35000"/>
            </a:spcAft>
            <a:buNone/>
          </a:pPr>
          <a:r>
            <a:rPr lang="en-US" sz="2000" kern="1200"/>
            <a:t>The network layer of OpenPLC is responsible for establishing and maintaining network</a:t>
          </a:r>
        </a:p>
      </dsp:txBody>
      <dsp:txXfrm>
        <a:off x="1394094" y="653795"/>
        <a:ext cx="8664305" cy="1207008"/>
      </dsp:txXfrm>
    </dsp:sp>
    <dsp:sp modelId="{EB03DF75-C3D4-4120-BB22-9E9D6F51E09E}">
      <dsp:nvSpPr>
        <dsp:cNvPr id="0" name=""/>
        <dsp:cNvSpPr/>
      </dsp:nvSpPr>
      <dsp:spPr>
        <a:xfrm>
          <a:off x="0" y="2162556"/>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E56403-8096-4004-A240-4CE651944413}">
      <dsp:nvSpPr>
        <dsp:cNvPr id="0" name=""/>
        <dsp:cNvSpPr/>
      </dsp:nvSpPr>
      <dsp:spPr>
        <a:xfrm>
          <a:off x="365119" y="2434132"/>
          <a:ext cx="663854" cy="6638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DC357A-0FDC-4152-9AA4-B20D1403D8D8}">
      <dsp:nvSpPr>
        <dsp:cNvPr id="0" name=""/>
        <dsp:cNvSpPr/>
      </dsp:nvSpPr>
      <dsp:spPr>
        <a:xfrm>
          <a:off x="1394094" y="2162556"/>
          <a:ext cx="866430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89000">
            <a:lnSpc>
              <a:spcPct val="100000"/>
            </a:lnSpc>
            <a:spcBef>
              <a:spcPct val="0"/>
            </a:spcBef>
            <a:spcAft>
              <a:spcPct val="35000"/>
            </a:spcAft>
            <a:buNone/>
          </a:pPr>
          <a:r>
            <a:rPr lang="en-US" sz="2000" kern="1200"/>
            <a:t>connections over Modbus by accessing the I/O image tables, i.e., the PLC registers storing, for instance, the current state of inputs (sensor measurements) and outputs (actuator commands)</a:t>
          </a:r>
        </a:p>
      </dsp:txBody>
      <dsp:txXfrm>
        <a:off x="1394094" y="2162556"/>
        <a:ext cx="8664305" cy="12070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45A5B-ECEC-442B-9522-6778C9E14D2A}" type="datetimeFigureOut">
              <a:rPr lang="en-US" smtClean="0"/>
              <a:t>9/2/2025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F9A18A-E9DD-47B9-B437-A93FE090FF10}" type="slidenum">
              <a:rPr lang="en-US" smtClean="0"/>
              <a:t>‹#›</a:t>
            </a:fld>
            <a:endParaRPr lang="en-US"/>
          </a:p>
        </p:txBody>
      </p:sp>
    </p:spTree>
    <p:extLst>
      <p:ext uri="{BB962C8B-B14F-4D97-AF65-F5344CB8AC3E}">
        <p14:creationId xmlns:p14="http://schemas.microsoft.com/office/powerpoint/2010/main" val="64981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But I think HoneyPLC and </a:t>
            </a:r>
            <a:r>
              <a:rPr lang="en-US" dirty="0" err="1"/>
              <a:t>ICSPot</a:t>
            </a:r>
            <a:r>
              <a:rPr lang="en-US" dirty="0"/>
              <a:t> for example does not face the configurability issue, and they provide the same </a:t>
            </a:r>
            <a:r>
              <a:rPr lang="en-US" dirty="0" err="1"/>
              <a:t>Entrypoints</a:t>
            </a:r>
            <a:r>
              <a:rPr lang="en-US" dirty="0"/>
              <a:t>, and do the same Attacking monitoring as this paper.</a:t>
            </a:r>
          </a:p>
        </p:txBody>
      </p:sp>
      <p:sp>
        <p:nvSpPr>
          <p:cNvPr id="4" name="Slide Number Placeholder 3"/>
          <p:cNvSpPr>
            <a:spLocks noGrp="1"/>
          </p:cNvSpPr>
          <p:nvPr>
            <p:ph type="sldNum" sz="quarter" idx="5"/>
          </p:nvPr>
        </p:nvSpPr>
        <p:spPr/>
        <p:txBody>
          <a:bodyPr/>
          <a:lstStyle/>
          <a:p>
            <a:fld id="{7BF9A18A-E9DD-47B9-B437-A93FE090FF10}" type="slidenum">
              <a:rPr lang="en-US" smtClean="0"/>
              <a:t>2</a:t>
            </a:fld>
            <a:endParaRPr lang="en-US"/>
          </a:p>
        </p:txBody>
      </p:sp>
    </p:spTree>
    <p:extLst>
      <p:ext uri="{BB962C8B-B14F-4D97-AF65-F5344CB8AC3E}">
        <p14:creationId xmlns:p14="http://schemas.microsoft.com/office/powerpoint/2010/main" val="3226851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can be compromised either via VPN or by exposing some devices (PLCs or HMIs) on the Internet directly.</a:t>
            </a:r>
          </a:p>
          <a:p>
            <a:endParaRPr lang="en-US" dirty="0"/>
          </a:p>
        </p:txBody>
      </p:sp>
      <p:sp>
        <p:nvSpPr>
          <p:cNvPr id="4" name="Slide Number Placeholder 3"/>
          <p:cNvSpPr>
            <a:spLocks noGrp="1"/>
          </p:cNvSpPr>
          <p:nvPr>
            <p:ph type="sldNum" sz="quarter" idx="5"/>
          </p:nvPr>
        </p:nvSpPr>
        <p:spPr/>
        <p:txBody>
          <a:bodyPr/>
          <a:lstStyle/>
          <a:p>
            <a:fld id="{7BF9A18A-E9DD-47B9-B437-A93FE090FF10}" type="slidenum">
              <a:rPr lang="en-US" smtClean="0"/>
              <a:t>4</a:t>
            </a:fld>
            <a:endParaRPr lang="en-US"/>
          </a:p>
        </p:txBody>
      </p:sp>
    </p:spTree>
    <p:extLst>
      <p:ext uri="{BB962C8B-B14F-4D97-AF65-F5344CB8AC3E}">
        <p14:creationId xmlns:p14="http://schemas.microsoft.com/office/powerpoint/2010/main" val="542353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have 5 possible programming languages: https://d1.amobbs.com/bbs_upload782111/files_31/ourdev_569653.pdf</a:t>
            </a:r>
          </a:p>
        </p:txBody>
      </p:sp>
      <p:sp>
        <p:nvSpPr>
          <p:cNvPr id="4" name="Slide Number Placeholder 3"/>
          <p:cNvSpPr>
            <a:spLocks noGrp="1"/>
          </p:cNvSpPr>
          <p:nvPr>
            <p:ph type="sldNum" sz="quarter" idx="5"/>
          </p:nvPr>
        </p:nvSpPr>
        <p:spPr/>
        <p:txBody>
          <a:bodyPr/>
          <a:lstStyle/>
          <a:p>
            <a:fld id="{7BF9A18A-E9DD-47B9-B437-A93FE090FF10}" type="slidenum">
              <a:rPr lang="en-US" smtClean="0"/>
              <a:t>6</a:t>
            </a:fld>
            <a:endParaRPr lang="en-US"/>
          </a:p>
        </p:txBody>
      </p:sp>
    </p:spTree>
    <p:extLst>
      <p:ext uri="{BB962C8B-B14F-4D97-AF65-F5344CB8AC3E}">
        <p14:creationId xmlns:p14="http://schemas.microsoft.com/office/powerpoint/2010/main" val="2098937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physics-awareness is a crucial ingredient to realize convincing and deceiving ICS honeypots; this means the attacker should receive consistent feedback from a (possibly simulated) manipulated physical process.</a:t>
            </a:r>
          </a:p>
          <a:p>
            <a:endParaRPr lang="en-US" dirty="0"/>
          </a:p>
        </p:txBody>
      </p:sp>
      <p:sp>
        <p:nvSpPr>
          <p:cNvPr id="4" name="Slide Number Placeholder 3"/>
          <p:cNvSpPr>
            <a:spLocks noGrp="1"/>
          </p:cNvSpPr>
          <p:nvPr>
            <p:ph type="sldNum" sz="quarter" idx="5"/>
          </p:nvPr>
        </p:nvSpPr>
        <p:spPr/>
        <p:txBody>
          <a:bodyPr/>
          <a:lstStyle/>
          <a:p>
            <a:fld id="{7BF9A18A-E9DD-47B9-B437-A93FE090FF10}" type="slidenum">
              <a:rPr lang="en-US" smtClean="0"/>
              <a:t>8</a:t>
            </a:fld>
            <a:endParaRPr lang="en-US"/>
          </a:p>
        </p:txBody>
      </p:sp>
    </p:spTree>
    <p:extLst>
      <p:ext uri="{BB962C8B-B14F-4D97-AF65-F5344CB8AC3E}">
        <p14:creationId xmlns:p14="http://schemas.microsoft.com/office/powerpoint/2010/main" val="1985198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F9A18A-E9DD-47B9-B437-A93FE090FF10}" type="slidenum">
              <a:rPr lang="en-US" smtClean="0"/>
              <a:t>9</a:t>
            </a:fld>
            <a:endParaRPr lang="en-US"/>
          </a:p>
        </p:txBody>
      </p:sp>
    </p:spTree>
    <p:extLst>
      <p:ext uri="{BB962C8B-B14F-4D97-AF65-F5344CB8AC3E}">
        <p14:creationId xmlns:p14="http://schemas.microsoft.com/office/powerpoint/2010/main" val="3722546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ScadaBR</a:t>
            </a:r>
            <a:r>
              <a:rPr lang="en-US" dirty="0"/>
              <a:t>: emulates a </a:t>
            </a:r>
            <a:r>
              <a:rPr lang="en-US" b="1" dirty="0"/>
              <a:t>realistic web-based HMI</a:t>
            </a:r>
            <a:r>
              <a:rPr lang="en-US" dirty="0"/>
              <a:t> for the attacker to interact with.</a:t>
            </a:r>
          </a:p>
          <a:p>
            <a:r>
              <a:rPr lang="en-US" dirty="0"/>
              <a:t>Simulink: Simulates underlying physical process ( </a:t>
            </a:r>
            <a:r>
              <a:rPr lang="en-US" dirty="0" err="1"/>
              <a:t>watertanks</a:t>
            </a:r>
            <a:r>
              <a:rPr lang="en-US" dirty="0"/>
              <a:t>, pumps, and valves ). </a:t>
            </a:r>
          </a:p>
        </p:txBody>
      </p:sp>
      <p:sp>
        <p:nvSpPr>
          <p:cNvPr id="4" name="Slide Number Placeholder 3"/>
          <p:cNvSpPr>
            <a:spLocks noGrp="1"/>
          </p:cNvSpPr>
          <p:nvPr>
            <p:ph type="sldNum" sz="quarter" idx="5"/>
          </p:nvPr>
        </p:nvSpPr>
        <p:spPr/>
        <p:txBody>
          <a:bodyPr/>
          <a:lstStyle/>
          <a:p>
            <a:fld id="{7BF9A18A-E9DD-47B9-B437-A93FE090FF10}" type="slidenum">
              <a:rPr lang="en-US" smtClean="0"/>
              <a:t>13</a:t>
            </a:fld>
            <a:endParaRPr lang="en-US"/>
          </a:p>
        </p:txBody>
      </p:sp>
    </p:spTree>
    <p:extLst>
      <p:ext uri="{BB962C8B-B14F-4D97-AF65-F5344CB8AC3E}">
        <p14:creationId xmlns:p14="http://schemas.microsoft.com/office/powerpoint/2010/main" val="519979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F9A18A-E9DD-47B9-B437-A93FE090FF10}" type="slidenum">
              <a:rPr lang="en-US" smtClean="0"/>
              <a:t>15</a:t>
            </a:fld>
            <a:endParaRPr lang="en-US"/>
          </a:p>
        </p:txBody>
      </p:sp>
    </p:spTree>
    <p:extLst>
      <p:ext uri="{BB962C8B-B14F-4D97-AF65-F5344CB8AC3E}">
        <p14:creationId xmlns:p14="http://schemas.microsoft.com/office/powerpoint/2010/main" val="3726377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F9A18A-E9DD-47B9-B437-A93FE090FF10}" type="slidenum">
              <a:rPr lang="en-US" smtClean="0"/>
              <a:t>19</a:t>
            </a:fld>
            <a:endParaRPr lang="en-US"/>
          </a:p>
        </p:txBody>
      </p:sp>
    </p:spTree>
    <p:extLst>
      <p:ext uri="{BB962C8B-B14F-4D97-AF65-F5344CB8AC3E}">
        <p14:creationId xmlns:p14="http://schemas.microsoft.com/office/powerpoint/2010/main" val="966836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502F-4FF3-4431-011C-57885DB28A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CC062-1A4F-4F50-6B59-E7FC728D4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B006A-96E3-3A81-CFE2-22B1AD173F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CFE70-B4FF-A338-C8F6-26445FB9AF7C}"/>
              </a:ext>
            </a:extLst>
          </p:cNvPr>
          <p:cNvSpPr>
            <a:spLocks noGrp="1"/>
          </p:cNvSpPr>
          <p:nvPr>
            <p:ph type="sldNum" sz="quarter" idx="5"/>
          </p:nvPr>
        </p:nvSpPr>
        <p:spPr/>
        <p:txBody>
          <a:bodyPr/>
          <a:lstStyle/>
          <a:p>
            <a:fld id="{7BF9A18A-E9DD-47B9-B437-A93FE090FF10}" type="slidenum">
              <a:rPr lang="en-US" smtClean="0"/>
              <a:t>20</a:t>
            </a:fld>
            <a:endParaRPr lang="en-US"/>
          </a:p>
        </p:txBody>
      </p:sp>
    </p:spTree>
    <p:extLst>
      <p:ext uri="{BB962C8B-B14F-4D97-AF65-F5344CB8AC3E}">
        <p14:creationId xmlns:p14="http://schemas.microsoft.com/office/powerpoint/2010/main" val="706024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7E92C-F82A-8B64-F091-893B8C64D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6FF6-070D-D035-97FE-19A13055A1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F76DF-70FA-CD5D-05D0-784B3F8C0B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048493-8593-6172-E3E4-AA1A2B8B1F29}"/>
              </a:ext>
            </a:extLst>
          </p:cNvPr>
          <p:cNvSpPr>
            <a:spLocks noGrp="1"/>
          </p:cNvSpPr>
          <p:nvPr>
            <p:ph type="sldNum" sz="quarter" idx="5"/>
          </p:nvPr>
        </p:nvSpPr>
        <p:spPr/>
        <p:txBody>
          <a:bodyPr/>
          <a:lstStyle/>
          <a:p>
            <a:fld id="{7BF9A18A-E9DD-47B9-B437-A93FE090FF10}" type="slidenum">
              <a:rPr lang="en-US" smtClean="0"/>
              <a:t>21</a:t>
            </a:fld>
            <a:endParaRPr lang="en-US"/>
          </a:p>
        </p:txBody>
      </p:sp>
    </p:spTree>
    <p:extLst>
      <p:ext uri="{BB962C8B-B14F-4D97-AF65-F5344CB8AC3E}">
        <p14:creationId xmlns:p14="http://schemas.microsoft.com/office/powerpoint/2010/main" val="3889106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1F6A9-C8F0-C916-E87A-B47F5ED14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11BFD-C19F-1203-5C38-F85567AAB2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4E979-AC3B-638B-6085-0C7530145DFB}"/>
              </a:ext>
            </a:extLst>
          </p:cNvPr>
          <p:cNvSpPr>
            <a:spLocks noGrp="1"/>
          </p:cNvSpPr>
          <p:nvPr>
            <p:ph type="body" idx="1"/>
          </p:nvPr>
        </p:nvSpPr>
        <p:spPr/>
        <p:txBody>
          <a:bodyPr/>
          <a:lstStyle/>
          <a:p>
            <a:r>
              <a:rPr lang="en-US" b="1" dirty="0"/>
              <a:t>🏭 In the context of ICS honeypots:</a:t>
            </a:r>
          </a:p>
          <a:p>
            <a:r>
              <a:rPr lang="en-US" dirty="0"/>
              <a:t>If an attacker compromises one </a:t>
            </a:r>
            <a:r>
              <a:rPr lang="en-US" b="1" dirty="0"/>
              <a:t>PLC container</a:t>
            </a:r>
            <a:r>
              <a:rPr lang="en-US" dirty="0"/>
              <a:t>, and can directly access:</a:t>
            </a:r>
          </a:p>
          <a:p>
            <a:r>
              <a:rPr lang="en-US" dirty="0"/>
              <a:t>Another PLC</a:t>
            </a:r>
          </a:p>
          <a:p>
            <a:r>
              <a:rPr lang="en-US" dirty="0"/>
              <a:t>The HMI</a:t>
            </a:r>
          </a:p>
          <a:p>
            <a:r>
              <a:rPr lang="en-US" dirty="0"/>
              <a:t>Or even the physical simulation backend (like Simulink)</a:t>
            </a:r>
          </a:p>
          <a:p>
            <a:r>
              <a:rPr lang="en-US" dirty="0"/>
              <a:t>👉 that would be </a:t>
            </a:r>
            <a:r>
              <a:rPr lang="en-US" b="1" dirty="0"/>
              <a:t>lateral movement</a:t>
            </a:r>
            <a:r>
              <a:rPr lang="en-US" dirty="0"/>
              <a:t> — and it’s dangerous.</a:t>
            </a:r>
          </a:p>
          <a:p>
            <a:endParaRPr lang="en-US" dirty="0"/>
          </a:p>
        </p:txBody>
      </p:sp>
      <p:sp>
        <p:nvSpPr>
          <p:cNvPr id="4" name="Slide Number Placeholder 3">
            <a:extLst>
              <a:ext uri="{FF2B5EF4-FFF2-40B4-BE49-F238E27FC236}">
                <a16:creationId xmlns:a16="http://schemas.microsoft.com/office/drawing/2014/main" id="{8AC79A25-1BFB-6212-2B3B-B6463A51F95E}"/>
              </a:ext>
            </a:extLst>
          </p:cNvPr>
          <p:cNvSpPr>
            <a:spLocks noGrp="1"/>
          </p:cNvSpPr>
          <p:nvPr>
            <p:ph type="sldNum" sz="quarter" idx="5"/>
          </p:nvPr>
        </p:nvSpPr>
        <p:spPr/>
        <p:txBody>
          <a:bodyPr/>
          <a:lstStyle/>
          <a:p>
            <a:fld id="{7BF9A18A-E9DD-47B9-B437-A93FE090FF10}" type="slidenum">
              <a:rPr lang="en-US" smtClean="0"/>
              <a:t>22</a:t>
            </a:fld>
            <a:endParaRPr lang="en-US"/>
          </a:p>
        </p:txBody>
      </p:sp>
    </p:spTree>
    <p:extLst>
      <p:ext uri="{BB962C8B-B14F-4D97-AF65-F5344CB8AC3E}">
        <p14:creationId xmlns:p14="http://schemas.microsoft.com/office/powerpoint/2010/main" val="1928659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ar-EG" b="1" dirty="0"/>
              <a:t>أول حاجة نفهم الفكرة العامة:</a:t>
            </a:r>
          </a:p>
          <a:p>
            <a:r>
              <a:rPr lang="ar-EG" dirty="0"/>
              <a:t>الهدف من التصميم ده هو إن المهاجم لما يدخل الشبكة، يحس إنه دخل شبكة حقيقية بتاعة </a:t>
            </a:r>
            <a:r>
              <a:rPr lang="en-US" dirty="0"/>
              <a:t>ICS، </a:t>
            </a:r>
            <a:r>
              <a:rPr lang="ar-EG" dirty="0"/>
              <a:t>يقدر يعمل فيها </a:t>
            </a:r>
            <a:r>
              <a:rPr lang="en-US" dirty="0"/>
              <a:t>MITM </a:t>
            </a:r>
            <a:r>
              <a:rPr lang="ar-EG" dirty="0"/>
              <a:t>ويشوف </a:t>
            </a:r>
            <a:r>
              <a:rPr lang="en-US" dirty="0"/>
              <a:t>PLCs </a:t>
            </a:r>
            <a:r>
              <a:rPr lang="ar-EG" dirty="0"/>
              <a:t>بتكلم بعضها، لكن في الحقيقة كل حاجة ماشية في بيئة وهمية متراقبة كويس، ومفيش حاجة حقيقية ممكن تتأذي.</a:t>
            </a:r>
          </a:p>
          <a:p>
            <a:r>
              <a:rPr lang="en-US" b="1" dirty="0"/>
              <a:t>🧱 </a:t>
            </a:r>
            <a:r>
              <a:rPr lang="ar-EG" b="1" dirty="0"/>
              <a:t>شرح كل جزء في الصورة:</a:t>
            </a:r>
          </a:p>
          <a:p>
            <a:r>
              <a:rPr lang="en-US" b="1" dirty="0"/>
              <a:t>🔲 PLCs (PLC 1, PLC 2, PLC 3)</a:t>
            </a:r>
          </a:p>
          <a:p>
            <a:r>
              <a:rPr lang="ar-EG" dirty="0"/>
              <a:t>دول أجهزة تحكم منطقية </a:t>
            </a:r>
            <a:r>
              <a:rPr lang="en-US" dirty="0"/>
              <a:t>Programmable Logic Controllers، </a:t>
            </a:r>
            <a:r>
              <a:rPr lang="ar-EG" dirty="0"/>
              <a:t>بس هنا معمولة داخل </a:t>
            </a:r>
            <a:r>
              <a:rPr lang="en-US" b="1" dirty="0"/>
              <a:t>Docker Containers</a:t>
            </a:r>
            <a:r>
              <a:rPr lang="en-US" dirty="0"/>
              <a:t> (</a:t>
            </a:r>
            <a:r>
              <a:rPr lang="ar-EG" dirty="0"/>
              <a:t>يعني برامج بتشتغل كأنها أجهزة حقيقية).</a:t>
            </a:r>
          </a:p>
          <a:p>
            <a:r>
              <a:rPr lang="en-US" b="1" dirty="0"/>
              <a:t>🔁 Proxies (Proxy 1, Proxy 2, Proxy 3)</a:t>
            </a:r>
          </a:p>
          <a:p>
            <a:r>
              <a:rPr lang="ar-EG" dirty="0"/>
              <a:t>لكل </a:t>
            </a:r>
            <a:r>
              <a:rPr lang="en-US" dirty="0"/>
              <a:t>PLC </a:t>
            </a:r>
            <a:r>
              <a:rPr lang="ar-EG" dirty="0"/>
              <a:t>فيه قدامه </a:t>
            </a:r>
            <a:r>
              <a:rPr lang="en-US" b="1" dirty="0"/>
              <a:t>Proxy Container</a:t>
            </a:r>
            <a:r>
              <a:rPr lang="en-US" dirty="0"/>
              <a:t>، </a:t>
            </a:r>
            <a:r>
              <a:rPr lang="ar-EG" dirty="0"/>
              <a:t>وده بيشتغل كالتالي:</a:t>
            </a:r>
          </a:p>
          <a:p>
            <a:r>
              <a:rPr lang="ar-EG" b="1" dirty="0"/>
              <a:t>بيستقبل أي ترافيك داخل من الإنترنت أو من أي جهاز تاني في الشبكة.</a:t>
            </a:r>
            <a:endParaRPr lang="ar-EG" dirty="0"/>
          </a:p>
          <a:p>
            <a:r>
              <a:rPr lang="ar-EG" b="1" dirty="0"/>
              <a:t>يبعت الترافيك ده للـ</a:t>
            </a:r>
            <a:r>
              <a:rPr lang="en-US" b="1" dirty="0"/>
              <a:t>PLC </a:t>
            </a:r>
            <a:r>
              <a:rPr lang="ar-EG" b="1" dirty="0"/>
              <a:t>الحقيقي جوه الكونتينر.</a:t>
            </a:r>
            <a:endParaRPr lang="ar-EG" dirty="0"/>
          </a:p>
          <a:p>
            <a:r>
              <a:rPr lang="ar-EG" dirty="0"/>
              <a:t>وكمان لو الـ</a:t>
            </a:r>
            <a:r>
              <a:rPr lang="en-US" dirty="0"/>
              <a:t>PLC </a:t>
            </a:r>
            <a:r>
              <a:rPr lang="ar-EG" dirty="0"/>
              <a:t>حب يبعت ترافيك، البروكسي بيغير عنوانه (</a:t>
            </a:r>
            <a:r>
              <a:rPr lang="en-US" dirty="0"/>
              <a:t>IP &amp; MAC) </a:t>
            </a:r>
            <a:r>
              <a:rPr lang="ar-EG" dirty="0"/>
              <a:t>عشان يبان كأن الترافيك طالع من </a:t>
            </a:r>
            <a:r>
              <a:rPr lang="en-US" dirty="0"/>
              <a:t>PLC </a:t>
            </a:r>
            <a:r>
              <a:rPr lang="ar-EG" dirty="0"/>
              <a:t>حقيقي.</a:t>
            </a:r>
          </a:p>
          <a:p>
            <a:r>
              <a:rPr lang="en-US" dirty="0"/>
              <a:t>➕ </a:t>
            </a:r>
            <a:r>
              <a:rPr lang="ar-EG" dirty="0"/>
              <a:t>البروكسي معمول باستخدام </a:t>
            </a:r>
            <a:r>
              <a:rPr lang="en-US" b="1" dirty="0"/>
              <a:t>NGINX</a:t>
            </a:r>
            <a:r>
              <a:rPr lang="en-US" dirty="0"/>
              <a:t> + </a:t>
            </a:r>
            <a:r>
              <a:rPr lang="en-US" b="1" dirty="0"/>
              <a:t>iptables SNAT</a:t>
            </a:r>
            <a:r>
              <a:rPr lang="en-US" dirty="0"/>
              <a:t>.</a:t>
            </a:r>
          </a:p>
          <a:p>
            <a:r>
              <a:rPr lang="en-US" b="1" dirty="0"/>
              <a:t>🔌 </a:t>
            </a:r>
            <a:r>
              <a:rPr lang="en-US" b="1" dirty="0" err="1"/>
              <a:t>macvlan</a:t>
            </a:r>
            <a:r>
              <a:rPr lang="en-US" b="1" dirty="0"/>
              <a:t> network</a:t>
            </a:r>
          </a:p>
          <a:p>
            <a:r>
              <a:rPr lang="ar-EG" dirty="0"/>
              <a:t>كل </a:t>
            </a:r>
            <a:r>
              <a:rPr lang="en-US" dirty="0"/>
              <a:t>PLC </a:t>
            </a:r>
            <a:r>
              <a:rPr lang="ar-EG" dirty="0"/>
              <a:t>والبروكسي بتاعه في </a:t>
            </a:r>
            <a:r>
              <a:rPr lang="ar-EG" b="1" dirty="0"/>
              <a:t>شبكة خاصة</a:t>
            </a:r>
            <a:r>
              <a:rPr lang="ar-EG" dirty="0"/>
              <a:t> (</a:t>
            </a:r>
            <a:r>
              <a:rPr lang="en-US" dirty="0" err="1"/>
              <a:t>macvlan</a:t>
            </a:r>
            <a:r>
              <a:rPr lang="en-US" dirty="0"/>
              <a:t>) </a:t>
            </a:r>
            <a:r>
              <a:rPr lang="ar-EG" dirty="0"/>
              <a:t>لوحدهم.</a:t>
            </a:r>
          </a:p>
          <a:p>
            <a:r>
              <a:rPr lang="ar-EG" dirty="0"/>
              <a:t>البروكسيهات بس هما اللي يقدروا يكلموا بعض عن طريق شبكة تانية مشتركة بينهم.</a:t>
            </a:r>
          </a:p>
          <a:p>
            <a:r>
              <a:rPr lang="ar-EG" dirty="0"/>
              <a:t>يعني لو فيه مهاجم سيطر على </a:t>
            </a:r>
            <a:r>
              <a:rPr lang="en-US" dirty="0"/>
              <a:t>PLC، </a:t>
            </a:r>
            <a:r>
              <a:rPr lang="ar-EG" dirty="0"/>
              <a:t>مش هيقدر يعدي منه مباشرة لغيره من غير ما يعدي على البروكسي اللي قدامه.</a:t>
            </a:r>
          </a:p>
          <a:p>
            <a:r>
              <a:rPr lang="en-US" b="1" dirty="0"/>
              <a:t>🧪 Probe</a:t>
            </a:r>
          </a:p>
          <a:p>
            <a:r>
              <a:rPr lang="ar-EG" dirty="0"/>
              <a:t>كل بروكسي فيه </a:t>
            </a:r>
            <a:r>
              <a:rPr lang="en-US" b="1" dirty="0"/>
              <a:t>Probe</a:t>
            </a:r>
            <a:r>
              <a:rPr lang="en-US" dirty="0"/>
              <a:t> (</a:t>
            </a:r>
            <a:r>
              <a:rPr lang="ar-EG" dirty="0"/>
              <a:t>أداة مراقبة) بتسجل كل حاجة بتحصل: الترافيك، الأوامر، المودباص، حتى لو فيه فايل</a:t>
            </a:r>
          </a:p>
          <a:p>
            <a:endParaRPr lang="en-US" dirty="0"/>
          </a:p>
        </p:txBody>
      </p:sp>
      <p:sp>
        <p:nvSpPr>
          <p:cNvPr id="4" name="Slide Number Placeholder 3"/>
          <p:cNvSpPr>
            <a:spLocks noGrp="1"/>
          </p:cNvSpPr>
          <p:nvPr>
            <p:ph type="sldNum" sz="quarter" idx="5"/>
          </p:nvPr>
        </p:nvSpPr>
        <p:spPr/>
        <p:txBody>
          <a:bodyPr/>
          <a:lstStyle/>
          <a:p>
            <a:fld id="{7BF9A18A-E9DD-47B9-B437-A93FE090FF10}" type="slidenum">
              <a:rPr lang="en-US" smtClean="0"/>
              <a:t>23</a:t>
            </a:fld>
            <a:endParaRPr lang="en-US"/>
          </a:p>
        </p:txBody>
      </p:sp>
    </p:spTree>
    <p:extLst>
      <p:ext uri="{BB962C8B-B14F-4D97-AF65-F5344CB8AC3E}">
        <p14:creationId xmlns:p14="http://schemas.microsoft.com/office/powerpoint/2010/main" val="1463983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C5F6-5360-8EE1-6DC2-ED36C2F51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2E704-A685-D016-8858-E9B379172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154CD-EF3C-7864-B61F-249BF7115C3E}"/>
              </a:ext>
            </a:extLst>
          </p:cNvPr>
          <p:cNvSpPr>
            <a:spLocks noGrp="1"/>
          </p:cNvSpPr>
          <p:nvPr>
            <p:ph type="body" idx="1"/>
          </p:nvPr>
        </p:nvSpPr>
        <p:spPr/>
        <p:txBody>
          <a:bodyPr/>
          <a:lstStyle/>
          <a:p>
            <a:r>
              <a:rPr lang="en-US" b="1" dirty="0"/>
              <a:t>🏭 In the context of ICS honeypots:</a:t>
            </a:r>
          </a:p>
          <a:p>
            <a:r>
              <a:rPr lang="en-US" dirty="0"/>
              <a:t>If an attacker compromises one </a:t>
            </a:r>
            <a:r>
              <a:rPr lang="en-US" b="1" dirty="0"/>
              <a:t>PLC container</a:t>
            </a:r>
            <a:r>
              <a:rPr lang="en-US" dirty="0"/>
              <a:t>, and can directly access:</a:t>
            </a:r>
          </a:p>
          <a:p>
            <a:r>
              <a:rPr lang="en-US" dirty="0"/>
              <a:t>Another PLC</a:t>
            </a:r>
          </a:p>
          <a:p>
            <a:r>
              <a:rPr lang="en-US" dirty="0"/>
              <a:t>The HMI</a:t>
            </a:r>
          </a:p>
          <a:p>
            <a:r>
              <a:rPr lang="en-US" dirty="0"/>
              <a:t>Or even the physical simulation backend (like Simulink)</a:t>
            </a:r>
          </a:p>
          <a:p>
            <a:r>
              <a:rPr lang="en-US" dirty="0"/>
              <a:t>👉 that would be </a:t>
            </a:r>
            <a:r>
              <a:rPr lang="en-US" b="1" dirty="0"/>
              <a:t>lateral movement</a:t>
            </a:r>
            <a:r>
              <a:rPr lang="en-US" dirty="0"/>
              <a:t> — and it’s dangerous.</a:t>
            </a:r>
          </a:p>
          <a:p>
            <a:endParaRPr lang="en-US" dirty="0"/>
          </a:p>
        </p:txBody>
      </p:sp>
      <p:sp>
        <p:nvSpPr>
          <p:cNvPr id="4" name="Slide Number Placeholder 3">
            <a:extLst>
              <a:ext uri="{FF2B5EF4-FFF2-40B4-BE49-F238E27FC236}">
                <a16:creationId xmlns:a16="http://schemas.microsoft.com/office/drawing/2014/main" id="{73606439-34C7-004F-E3F2-CBD5D280F7EE}"/>
              </a:ext>
            </a:extLst>
          </p:cNvPr>
          <p:cNvSpPr>
            <a:spLocks noGrp="1"/>
          </p:cNvSpPr>
          <p:nvPr>
            <p:ph type="sldNum" sz="quarter" idx="5"/>
          </p:nvPr>
        </p:nvSpPr>
        <p:spPr/>
        <p:txBody>
          <a:bodyPr/>
          <a:lstStyle/>
          <a:p>
            <a:fld id="{7BF9A18A-E9DD-47B9-B437-A93FE090FF10}" type="slidenum">
              <a:rPr lang="en-US" smtClean="0"/>
              <a:t>24</a:t>
            </a:fld>
            <a:endParaRPr lang="en-US"/>
          </a:p>
        </p:txBody>
      </p:sp>
    </p:spTree>
    <p:extLst>
      <p:ext uri="{BB962C8B-B14F-4D97-AF65-F5344CB8AC3E}">
        <p14:creationId xmlns:p14="http://schemas.microsoft.com/office/powerpoint/2010/main" val="3990365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AE3855-5C2A-4388-9022-EA1E31001DC2}"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24C1B-179A-4C6D-9124-07999AB0A24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210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AE3855-5C2A-4388-9022-EA1E31001DC2}"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355907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E3855-5C2A-4388-9022-EA1E31001DC2}"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24C1B-179A-4C6D-9124-07999AB0A24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019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AE3855-5C2A-4388-9022-EA1E31001DC2}"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117398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AE3855-5C2A-4388-9022-EA1E31001DC2}" type="datetimeFigureOut">
              <a:rPr lang="en-US" smtClean="0"/>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3157522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AE3855-5C2A-4388-9022-EA1E31001DC2}" type="datetimeFigureOut">
              <a:rPr lang="en-US" smtClean="0"/>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2943623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6AE3855-5C2A-4388-9022-EA1E31001DC2}" type="datetimeFigureOut">
              <a:rPr lang="en-US" smtClean="0"/>
              <a:t>9/2/2025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77372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6AE3855-5C2A-4388-9022-EA1E31001DC2}" type="datetimeFigureOut">
              <a:rPr lang="en-US" smtClean="0"/>
              <a:t>9/2/2025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8324C1B-179A-4C6D-9124-07999AB0A243}" type="slidenum">
              <a:rPr lang="en-US" smtClean="0"/>
              <a:t>‹#›</a:t>
            </a:fld>
            <a:endParaRPr lang="en-US"/>
          </a:p>
        </p:txBody>
      </p:sp>
    </p:spTree>
    <p:extLst>
      <p:ext uri="{BB962C8B-B14F-4D97-AF65-F5344CB8AC3E}">
        <p14:creationId xmlns:p14="http://schemas.microsoft.com/office/powerpoint/2010/main" val="1112261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AE3855-5C2A-4388-9022-EA1E31001DC2}"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2643499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AE3855-5C2A-4388-9022-EA1E31001DC2}"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3278829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AE3855-5C2A-4388-9022-EA1E31001DC2}"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24C1B-179A-4C6D-9124-07999AB0A243}" type="slidenum">
              <a:rPr lang="en-US" smtClean="0"/>
              <a:t>‹#›</a:t>
            </a:fld>
            <a:endParaRPr lang="en-US"/>
          </a:p>
        </p:txBody>
      </p:sp>
    </p:spTree>
    <p:extLst>
      <p:ext uri="{BB962C8B-B14F-4D97-AF65-F5344CB8AC3E}">
        <p14:creationId xmlns:p14="http://schemas.microsoft.com/office/powerpoint/2010/main" val="960982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6AE3855-5C2A-4388-9022-EA1E31001DC2}" type="datetimeFigureOut">
              <a:rPr lang="en-US" smtClean="0"/>
              <a:t>9/2/2025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8324C1B-179A-4C6D-9124-07999AB0A24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363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6.sv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D3CEA-B701-C76E-193A-2CC0873F2781}"/>
              </a:ext>
            </a:extLst>
          </p:cNvPr>
          <p:cNvSpPr>
            <a:spLocks noGrp="1"/>
          </p:cNvSpPr>
          <p:nvPr>
            <p:ph type="ctrTitle"/>
          </p:nvPr>
        </p:nvSpPr>
        <p:spPr/>
        <p:txBody>
          <a:bodyPr/>
          <a:lstStyle/>
          <a:p>
            <a:r>
              <a:rPr lang="en-US" dirty="0" err="1"/>
              <a:t>HoneyICS</a:t>
            </a:r>
            <a:endParaRPr lang="en-US" dirty="0"/>
          </a:p>
        </p:txBody>
      </p:sp>
      <p:sp>
        <p:nvSpPr>
          <p:cNvPr id="3" name="Subtitle 2">
            <a:extLst>
              <a:ext uri="{FF2B5EF4-FFF2-40B4-BE49-F238E27FC236}">
                <a16:creationId xmlns:a16="http://schemas.microsoft.com/office/drawing/2014/main" id="{A4EAA5A6-3FBC-7F26-C976-75E875E94E2E}"/>
              </a:ext>
            </a:extLst>
          </p:cNvPr>
          <p:cNvSpPr>
            <a:spLocks noGrp="1"/>
          </p:cNvSpPr>
          <p:nvPr>
            <p:ph type="subTitle" idx="1"/>
          </p:nvPr>
        </p:nvSpPr>
        <p:spPr/>
        <p:txBody>
          <a:bodyPr/>
          <a:lstStyle/>
          <a:p>
            <a:r>
              <a:rPr lang="en-US" dirty="0"/>
              <a:t>High-interactive ICS-honeypot</a:t>
            </a:r>
          </a:p>
        </p:txBody>
      </p:sp>
    </p:spTree>
    <p:extLst>
      <p:ext uri="{BB962C8B-B14F-4D97-AF65-F5344CB8AC3E}">
        <p14:creationId xmlns:p14="http://schemas.microsoft.com/office/powerpoint/2010/main" val="1858160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AA77E7A-069F-9D9B-EAAB-711C55CDD84E}"/>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Limitations of previous ICS honeypots</a:t>
            </a:r>
          </a:p>
        </p:txBody>
      </p:sp>
      <p:sp>
        <p:nvSpPr>
          <p:cNvPr id="3" name="Content Placeholder 2">
            <a:extLst>
              <a:ext uri="{FF2B5EF4-FFF2-40B4-BE49-F238E27FC236}">
                <a16:creationId xmlns:a16="http://schemas.microsoft.com/office/drawing/2014/main" id="{ABFF9F5A-096E-8246-2190-4AFCBD367C63}"/>
              </a:ext>
            </a:extLst>
          </p:cNvPr>
          <p:cNvSpPr>
            <a:spLocks noGrp="1"/>
          </p:cNvSpPr>
          <p:nvPr>
            <p:ph idx="1"/>
          </p:nvPr>
        </p:nvSpPr>
        <p:spPr>
          <a:xfrm>
            <a:off x="492371" y="2653800"/>
            <a:ext cx="3084844" cy="3335519"/>
          </a:xfrm>
        </p:spPr>
        <p:txBody>
          <a:bodyPr>
            <a:normAutofit/>
          </a:bodyPr>
          <a:lstStyle/>
          <a:p>
            <a:pPr>
              <a:buFont typeface="Wingdings" panose="05000000000000000000" pitchFamily="2" charset="2"/>
              <a:buChar char="v"/>
            </a:pPr>
            <a:r>
              <a:rPr lang="en-US" sz="1800" dirty="0">
                <a:solidFill>
                  <a:srgbClr val="FFFFFF"/>
                </a:solidFill>
              </a:rPr>
              <a:t>Level of interaction</a:t>
            </a:r>
          </a:p>
          <a:p>
            <a:pPr>
              <a:buFont typeface="Wingdings" panose="05000000000000000000" pitchFamily="2" charset="2"/>
              <a:buChar char="v"/>
            </a:pPr>
            <a:r>
              <a:rPr lang="en-US" sz="1800" dirty="0">
                <a:solidFill>
                  <a:srgbClr val="FFFFFF"/>
                </a:solidFill>
              </a:rPr>
              <a:t>Configurability</a:t>
            </a:r>
          </a:p>
          <a:p>
            <a:pPr>
              <a:buFont typeface="Wingdings" panose="05000000000000000000" pitchFamily="2" charset="2"/>
              <a:buChar char="v"/>
            </a:pPr>
            <a:r>
              <a:rPr lang="en-US" sz="1800" dirty="0">
                <a:solidFill>
                  <a:srgbClr val="FFFFFF"/>
                </a:solidFill>
              </a:rPr>
              <a:t>Scalability</a:t>
            </a:r>
          </a:p>
          <a:p>
            <a:pPr>
              <a:buFont typeface="Wingdings" panose="05000000000000000000" pitchFamily="2" charset="2"/>
              <a:buChar char="v"/>
            </a:pPr>
            <a:r>
              <a:rPr lang="en-US" sz="1800" dirty="0">
                <a:solidFill>
                  <a:srgbClr val="FFFFFF"/>
                </a:solidFill>
              </a:rPr>
              <a:t>Entry point</a:t>
            </a:r>
          </a:p>
          <a:p>
            <a:pPr>
              <a:buFont typeface="Wingdings" panose="05000000000000000000" pitchFamily="2" charset="2"/>
              <a:buChar char="v"/>
            </a:pPr>
            <a:r>
              <a:rPr lang="en-US" sz="1800" dirty="0">
                <a:solidFill>
                  <a:srgbClr val="FFFFFF"/>
                </a:solidFill>
              </a:rPr>
              <a:t>Attack Monitoring</a:t>
            </a:r>
          </a:p>
        </p:txBody>
      </p:sp>
      <p:sp>
        <p:nvSpPr>
          <p:cNvPr id="14" name="Rectangle 13">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descr="A close up of a text&#10;&#10;AI-generated content may be incorrect.">
            <a:extLst>
              <a:ext uri="{FF2B5EF4-FFF2-40B4-BE49-F238E27FC236}">
                <a16:creationId xmlns:a16="http://schemas.microsoft.com/office/drawing/2014/main" id="{47C3C1CF-3FEC-5881-E7B6-23CE71218E3D}"/>
              </a:ext>
            </a:extLst>
          </p:cNvPr>
          <p:cNvPicPr>
            <a:picLocks noChangeAspect="1"/>
          </p:cNvPicPr>
          <p:nvPr/>
        </p:nvPicPr>
        <p:blipFill>
          <a:blip r:embed="rId3"/>
          <a:stretch>
            <a:fillRect/>
          </a:stretch>
        </p:blipFill>
        <p:spPr>
          <a:xfrm>
            <a:off x="4962802" y="640080"/>
            <a:ext cx="6356512" cy="5577840"/>
          </a:xfrm>
          <a:prstGeom prst="rect">
            <a:avLst/>
          </a:prstGeom>
        </p:spPr>
      </p:pic>
    </p:spTree>
    <p:extLst>
      <p:ext uri="{BB962C8B-B14F-4D97-AF65-F5344CB8AC3E}">
        <p14:creationId xmlns:p14="http://schemas.microsoft.com/office/powerpoint/2010/main" val="2763032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C9219-1F04-CFDA-DE7F-5FC8782ED20D}"/>
              </a:ext>
            </a:extLst>
          </p:cNvPr>
          <p:cNvSpPr>
            <a:spLocks noGrp="1"/>
          </p:cNvSpPr>
          <p:nvPr>
            <p:ph type="title"/>
          </p:nvPr>
        </p:nvSpPr>
        <p:spPr/>
        <p:txBody>
          <a:bodyPr/>
          <a:lstStyle/>
          <a:p>
            <a:r>
              <a:rPr lang="en-US" dirty="0"/>
              <a:t>Paper Contribution</a:t>
            </a:r>
          </a:p>
        </p:txBody>
      </p:sp>
      <p:sp>
        <p:nvSpPr>
          <p:cNvPr id="3" name="Content Placeholder 2">
            <a:extLst>
              <a:ext uri="{FF2B5EF4-FFF2-40B4-BE49-F238E27FC236}">
                <a16:creationId xmlns:a16="http://schemas.microsoft.com/office/drawing/2014/main" id="{57EFB8C2-9438-FAD0-8BAA-9273DB678802}"/>
              </a:ext>
            </a:extLst>
          </p:cNvPr>
          <p:cNvSpPr>
            <a:spLocks noGrp="1"/>
          </p:cNvSpPr>
          <p:nvPr>
            <p:ph idx="1"/>
          </p:nvPr>
        </p:nvSpPr>
        <p:spPr>
          <a:xfrm>
            <a:off x="1097279" y="1845734"/>
            <a:ext cx="10943303" cy="4023360"/>
          </a:xfrm>
        </p:spPr>
        <p:txBody>
          <a:bodyPr>
            <a:normAutofit fontScale="92500" lnSpcReduction="20000"/>
          </a:bodyPr>
          <a:lstStyle/>
          <a:p>
            <a:pPr>
              <a:buFont typeface="Arial" panose="020B0604020202020204" pitchFamily="34" charset="0"/>
              <a:buChar char="•"/>
            </a:pPr>
            <a:r>
              <a:rPr lang="en-US" dirty="0"/>
              <a:t> Provide honeynet that is:</a:t>
            </a:r>
          </a:p>
          <a:p>
            <a:pPr lvl="1">
              <a:buFont typeface="Arial" panose="020B0604020202020204" pitchFamily="34" charset="0"/>
              <a:buChar char="•"/>
            </a:pPr>
            <a:r>
              <a:rPr lang="en-US" dirty="0"/>
              <a:t>High-interactive</a:t>
            </a:r>
          </a:p>
          <a:p>
            <a:pPr lvl="1">
              <a:buFont typeface="Arial" panose="020B0604020202020204" pitchFamily="34" charset="0"/>
              <a:buChar char="•"/>
            </a:pPr>
            <a:r>
              <a:rPr lang="en-US" dirty="0"/>
              <a:t>Physics aware </a:t>
            </a:r>
          </a:p>
          <a:p>
            <a:pPr>
              <a:buFont typeface="Arial" panose="020B0604020202020204" pitchFamily="34" charset="0"/>
              <a:buChar char="•"/>
            </a:pPr>
            <a:r>
              <a:rPr lang="en-US" dirty="0"/>
              <a:t> Emulate OT network of and ICS </a:t>
            </a:r>
          </a:p>
          <a:p>
            <a:pPr>
              <a:buFont typeface="Arial" panose="020B0604020202020204" pitchFamily="34" charset="0"/>
              <a:buChar char="•"/>
            </a:pPr>
            <a:r>
              <a:rPr lang="en-US" dirty="0"/>
              <a:t> Support network of PLCs and HMI rather than just single PLC ( same is in THI ICS )</a:t>
            </a:r>
          </a:p>
          <a:p>
            <a:pPr>
              <a:buFont typeface="Arial" panose="020B0604020202020204" pitchFamily="34" charset="0"/>
              <a:buChar char="•"/>
            </a:pPr>
            <a:r>
              <a:rPr lang="en-US" dirty="0"/>
              <a:t> High extensibility to emulate different brands of PLCs and ICS protocols. ( HoneyPLC &amp; ICSPOT )</a:t>
            </a:r>
          </a:p>
          <a:p>
            <a:pPr>
              <a:buFont typeface="Arial" panose="020B0604020202020204" pitchFamily="34" charset="0"/>
              <a:buChar char="•"/>
            </a:pPr>
            <a:r>
              <a:rPr lang="en-US" dirty="0"/>
              <a:t> Attacker can modify the value of PLC registers (ICSPOT).</a:t>
            </a:r>
          </a:p>
          <a:p>
            <a:pPr>
              <a:buFont typeface="Arial" panose="020B0604020202020204" pitchFamily="34" charset="0"/>
              <a:buChar char="•"/>
            </a:pPr>
            <a:r>
              <a:rPr lang="en-US" dirty="0"/>
              <a:t> Attacker can gain full control of the network connecting PLCs and HMIs to munt non-trivial MITM attacks that can be monitored by the administrator of the honeypot </a:t>
            </a:r>
          </a:p>
          <a:p>
            <a:pPr>
              <a:buFont typeface="Arial" panose="020B0604020202020204" pitchFamily="34" charset="0"/>
              <a:buChar char="•"/>
            </a:pPr>
            <a:r>
              <a:rPr lang="en-US" dirty="0"/>
              <a:t>Focus on Modbus communication protocol</a:t>
            </a:r>
          </a:p>
          <a:p>
            <a:pPr>
              <a:buFont typeface="Arial" panose="020B0604020202020204" pitchFamily="34" charset="0"/>
              <a:buChar char="•"/>
            </a:pPr>
            <a:r>
              <a:rPr lang="en-US" dirty="0"/>
              <a:t>The only difference I can see that they constructed a full network of devices instead of only PLCs and they say that we can </a:t>
            </a:r>
            <a:r>
              <a:rPr lang="en-US" dirty="0" err="1"/>
              <a:t>integerate</a:t>
            </a:r>
            <a:r>
              <a:rPr lang="en-US" dirty="0"/>
              <a:t> physical </a:t>
            </a:r>
            <a:r>
              <a:rPr lang="en-US" dirty="0" err="1"/>
              <a:t>plcs</a:t>
            </a:r>
            <a:r>
              <a:rPr lang="en-US" dirty="0"/>
              <a:t>, but they </a:t>
            </a:r>
            <a:r>
              <a:rPr lang="en-US"/>
              <a:t>implemented virtual ones.</a:t>
            </a:r>
            <a:endParaRPr lang="en-US" dirty="0"/>
          </a:p>
        </p:txBody>
      </p:sp>
    </p:spTree>
    <p:extLst>
      <p:ext uri="{BB962C8B-B14F-4D97-AF65-F5344CB8AC3E}">
        <p14:creationId xmlns:p14="http://schemas.microsoft.com/office/powerpoint/2010/main" val="979069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1" name="Straight Connector 40">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3" name="Rectangle 42">
            <a:extLst>
              <a:ext uri="{FF2B5EF4-FFF2-40B4-BE49-F238E27FC236}">
                <a16:creationId xmlns:a16="http://schemas.microsoft.com/office/drawing/2014/main" id="{BE268116-E2A7-4F98-8812-192B4975E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791BB3-D63A-FB21-5A38-B8A4A227D6F5}"/>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6000" dirty="0">
                <a:solidFill>
                  <a:schemeClr val="tx1">
                    <a:lumMod val="85000"/>
                    <a:lumOff val="15000"/>
                  </a:schemeClr>
                </a:solidFill>
              </a:rPr>
              <a:t>Architecture</a:t>
            </a:r>
          </a:p>
        </p:txBody>
      </p:sp>
      <p:sp>
        <p:nvSpPr>
          <p:cNvPr id="6" name="TextBox 5">
            <a:extLst>
              <a:ext uri="{FF2B5EF4-FFF2-40B4-BE49-F238E27FC236}">
                <a16:creationId xmlns:a16="http://schemas.microsoft.com/office/drawing/2014/main" id="{324DBB09-B82E-9E99-6C0B-8CC1815CDAE8}"/>
              </a:ext>
            </a:extLst>
          </p:cNvPr>
          <p:cNvSpPr txBox="1"/>
          <p:nvPr/>
        </p:nvSpPr>
        <p:spPr>
          <a:xfrm>
            <a:off x="633999" y="5727515"/>
            <a:ext cx="10925101" cy="515477"/>
          </a:xfrm>
          <a:prstGeom prst="rect">
            <a:avLst/>
          </a:prstGeom>
        </p:spPr>
        <p:txBody>
          <a:bodyPr vert="horz" lIns="91440" tIns="45720" rIns="91440" bIns="45720" rtlCol="0">
            <a:normAutofit/>
          </a:bodyPr>
          <a:lstStyle/>
          <a:p>
            <a:pPr defTabSz="914400">
              <a:lnSpc>
                <a:spcPct val="90000"/>
              </a:lnSpc>
              <a:spcBef>
                <a:spcPts val="1200"/>
              </a:spcBef>
              <a:spcAft>
                <a:spcPts val="200"/>
              </a:spcAft>
              <a:buClr>
                <a:schemeClr val="accent1"/>
              </a:buClr>
              <a:buSzPct val="100000"/>
            </a:pPr>
            <a:r>
              <a:rPr lang="en-US" sz="2000" cap="all" spc="200" dirty="0">
                <a:solidFill>
                  <a:schemeClr val="tx1">
                    <a:lumMod val="85000"/>
                    <a:lumOff val="15000"/>
                  </a:schemeClr>
                </a:solidFill>
                <a:latin typeface="+mj-lt"/>
              </a:rPr>
              <a:t>They simulate a full Honeynet.</a:t>
            </a:r>
          </a:p>
        </p:txBody>
      </p:sp>
      <p:pic>
        <p:nvPicPr>
          <p:cNvPr id="5" name="Content Placeholder 4">
            <a:extLst>
              <a:ext uri="{FF2B5EF4-FFF2-40B4-BE49-F238E27FC236}">
                <a16:creationId xmlns:a16="http://schemas.microsoft.com/office/drawing/2014/main" id="{95D5C329-FE9B-1A5B-6ACF-8DFACA9771AE}"/>
              </a:ext>
            </a:extLst>
          </p:cNvPr>
          <p:cNvPicPr>
            <a:picLocks noGrp="1" noChangeAspect="1"/>
          </p:cNvPicPr>
          <p:nvPr>
            <p:ph idx="1"/>
          </p:nvPr>
        </p:nvPicPr>
        <p:blipFill>
          <a:blip r:embed="rId3"/>
          <a:srcRect t="9581" r="-1"/>
          <a:stretch>
            <a:fillRect/>
          </a:stretch>
        </p:blipFill>
        <p:spPr>
          <a:xfrm>
            <a:off x="635457" y="640080"/>
            <a:ext cx="10916463" cy="4209190"/>
          </a:xfrm>
          <a:prstGeom prst="rect">
            <a:avLst/>
          </a:prstGeom>
        </p:spPr>
      </p:pic>
      <p:cxnSp>
        <p:nvCxnSpPr>
          <p:cNvPr id="45" name="Straight Connector 44">
            <a:extLst>
              <a:ext uri="{FF2B5EF4-FFF2-40B4-BE49-F238E27FC236}">
                <a16:creationId xmlns:a16="http://schemas.microsoft.com/office/drawing/2014/main" id="{73D8893D-DEBE-4F67-901F-166F75E9C6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FBEFFA83-BC6D-4CD2-A2BA-98AD67423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9" name="Rectangle 48">
            <a:extLst>
              <a:ext uri="{FF2B5EF4-FFF2-40B4-BE49-F238E27FC236}">
                <a16:creationId xmlns:a16="http://schemas.microsoft.com/office/drawing/2014/main" id="{AB5696BF-D495-4CAC-AA8A-4EBFF2C32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4951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C28E17D-8DFB-0192-7568-5054CF1A6616}"/>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Components</a:t>
            </a:r>
          </a:p>
        </p:txBody>
      </p:sp>
      <p:sp>
        <p:nvSpPr>
          <p:cNvPr id="21" name="Rectangle 20">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Content Placeholder 9">
            <a:extLst>
              <a:ext uri="{FF2B5EF4-FFF2-40B4-BE49-F238E27FC236}">
                <a16:creationId xmlns:a16="http://schemas.microsoft.com/office/drawing/2014/main" id="{134060A2-43FD-947C-CB33-EA925A1BF916}"/>
              </a:ext>
            </a:extLst>
          </p:cNvPr>
          <p:cNvSpPr txBox="1">
            <a:spLocks/>
          </p:cNvSpPr>
          <p:nvPr/>
        </p:nvSpPr>
        <p:spPr>
          <a:xfrm>
            <a:off x="5460732" y="1845734"/>
            <a:ext cx="4196615"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US" dirty="0"/>
          </a:p>
        </p:txBody>
      </p:sp>
      <p:graphicFrame>
        <p:nvGraphicFramePr>
          <p:cNvPr id="13" name="Content Placeholder 9">
            <a:extLst>
              <a:ext uri="{FF2B5EF4-FFF2-40B4-BE49-F238E27FC236}">
                <a16:creationId xmlns:a16="http://schemas.microsoft.com/office/drawing/2014/main" id="{00F5F9FE-69BB-A27E-1165-9C97DF8184F4}"/>
              </a:ext>
            </a:extLst>
          </p:cNvPr>
          <p:cNvGraphicFramePr>
            <a:graphicFrameLocks noGrp="1"/>
          </p:cNvGraphicFramePr>
          <p:nvPr>
            <p:ph idx="1"/>
            <p:extLst>
              <p:ext uri="{D42A27DB-BD31-4B8C-83A1-F6EECF244321}">
                <p14:modId xmlns:p14="http://schemas.microsoft.com/office/powerpoint/2010/main" val="99090579"/>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5837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6C6CF-27A3-28DF-C159-F27491331E88}"/>
              </a:ext>
            </a:extLst>
          </p:cNvPr>
          <p:cNvSpPr>
            <a:spLocks noGrp="1"/>
          </p:cNvSpPr>
          <p:nvPr>
            <p:ph type="title"/>
          </p:nvPr>
        </p:nvSpPr>
        <p:spPr>
          <a:xfrm>
            <a:off x="1097280" y="286603"/>
            <a:ext cx="10058400" cy="1450757"/>
          </a:xfrm>
        </p:spPr>
        <p:txBody>
          <a:bodyPr>
            <a:normAutofit/>
          </a:bodyPr>
          <a:lstStyle/>
          <a:p>
            <a:r>
              <a:rPr lang="en-US"/>
              <a:t>PLC</a:t>
            </a:r>
            <a:endParaRPr lang="en-US" dirty="0"/>
          </a:p>
        </p:txBody>
      </p:sp>
      <p:graphicFrame>
        <p:nvGraphicFramePr>
          <p:cNvPr id="15" name="Content Placeholder 2">
            <a:extLst>
              <a:ext uri="{FF2B5EF4-FFF2-40B4-BE49-F238E27FC236}">
                <a16:creationId xmlns:a16="http://schemas.microsoft.com/office/drawing/2014/main" id="{CAE220AC-5309-4F46-BBCA-FEE99112F12A}"/>
              </a:ext>
            </a:extLst>
          </p:cNvPr>
          <p:cNvGraphicFramePr>
            <a:graphicFrameLocks noGrp="1"/>
          </p:cNvGraphicFramePr>
          <p:nvPr>
            <p:ph idx="1"/>
            <p:extLst>
              <p:ext uri="{D42A27DB-BD31-4B8C-83A1-F6EECF244321}">
                <p14:modId xmlns:p14="http://schemas.microsoft.com/office/powerpoint/2010/main" val="246800908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718AF70-41D5-0032-70B4-FF98866C4391}"/>
              </a:ext>
            </a:extLst>
          </p:cNvPr>
          <p:cNvSpPr txBox="1"/>
          <p:nvPr/>
        </p:nvSpPr>
        <p:spPr>
          <a:xfrm>
            <a:off x="1269944" y="5884595"/>
            <a:ext cx="11255969" cy="369332"/>
          </a:xfrm>
          <a:prstGeom prst="rect">
            <a:avLst/>
          </a:prstGeom>
          <a:noFill/>
        </p:spPr>
        <p:txBody>
          <a:bodyPr wrap="square" rtlCol="0">
            <a:spAutoFit/>
          </a:bodyPr>
          <a:lstStyle/>
          <a:p>
            <a:r>
              <a:rPr lang="en-US" dirty="0"/>
              <a:t>This allows the attacker to affect the physical process by reading/writing the values of PLC registers</a:t>
            </a:r>
          </a:p>
        </p:txBody>
      </p:sp>
    </p:spTree>
    <p:extLst>
      <p:ext uri="{BB962C8B-B14F-4D97-AF65-F5344CB8AC3E}">
        <p14:creationId xmlns:p14="http://schemas.microsoft.com/office/powerpoint/2010/main" val="1934753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A461-BB4C-C8BE-7F2A-465329E77CCF}"/>
              </a:ext>
            </a:extLst>
          </p:cNvPr>
          <p:cNvSpPr>
            <a:spLocks noGrp="1"/>
          </p:cNvSpPr>
          <p:nvPr>
            <p:ph type="title"/>
          </p:nvPr>
        </p:nvSpPr>
        <p:spPr>
          <a:xfrm>
            <a:off x="1097280" y="286603"/>
            <a:ext cx="10058400" cy="1450757"/>
          </a:xfrm>
        </p:spPr>
        <p:txBody>
          <a:bodyPr>
            <a:normAutofit/>
          </a:bodyPr>
          <a:lstStyle/>
          <a:p>
            <a:r>
              <a:rPr lang="en-US" dirty="0"/>
              <a:t>HMIs</a:t>
            </a:r>
          </a:p>
        </p:txBody>
      </p:sp>
      <p:graphicFrame>
        <p:nvGraphicFramePr>
          <p:cNvPr id="5" name="Content Placeholder 2">
            <a:extLst>
              <a:ext uri="{FF2B5EF4-FFF2-40B4-BE49-F238E27FC236}">
                <a16:creationId xmlns:a16="http://schemas.microsoft.com/office/drawing/2014/main" id="{7C2A1253-6583-9FB8-6D08-55869C56DCDA}"/>
              </a:ext>
            </a:extLst>
          </p:cNvPr>
          <p:cNvGraphicFramePr>
            <a:graphicFrameLocks noGrp="1"/>
          </p:cNvGraphicFramePr>
          <p:nvPr>
            <p:ph idx="1"/>
            <p:extLst>
              <p:ext uri="{D42A27DB-BD31-4B8C-83A1-F6EECF244321}">
                <p14:modId xmlns:p14="http://schemas.microsoft.com/office/powerpoint/2010/main" val="245648978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435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2587DC3-7227-A5E6-528C-32278F49291A}"/>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Physical Plant</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45126871-28F0-59BA-AD07-33672C2FFAA0}"/>
              </a:ext>
            </a:extLst>
          </p:cNvPr>
          <p:cNvGraphicFramePr>
            <a:graphicFrameLocks noGrp="1"/>
          </p:cNvGraphicFramePr>
          <p:nvPr>
            <p:ph idx="1"/>
            <p:extLst>
              <p:ext uri="{D42A27DB-BD31-4B8C-83A1-F6EECF244321}">
                <p14:modId xmlns:p14="http://schemas.microsoft.com/office/powerpoint/2010/main" val="284422673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1251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E101C2-D33C-936A-118E-42D9D3113F35}"/>
              </a:ext>
            </a:extLst>
          </p:cNvPr>
          <p:cNvSpPr>
            <a:spLocks noGrp="1"/>
          </p:cNvSpPr>
          <p:nvPr>
            <p:ph type="title"/>
          </p:nvPr>
        </p:nvSpPr>
        <p:spPr>
          <a:xfrm>
            <a:off x="5181601" y="634946"/>
            <a:ext cx="6368142" cy="1450757"/>
          </a:xfrm>
        </p:spPr>
        <p:txBody>
          <a:bodyPr>
            <a:normAutofit/>
          </a:bodyPr>
          <a:lstStyle/>
          <a:p>
            <a:r>
              <a:rPr lang="en-US" dirty="0"/>
              <a:t>Communication Network</a:t>
            </a:r>
          </a:p>
        </p:txBody>
      </p:sp>
      <p:pic>
        <p:nvPicPr>
          <p:cNvPr id="5" name="Picture 4" descr="Ethernet cables connected to a networking patch">
            <a:extLst>
              <a:ext uri="{FF2B5EF4-FFF2-40B4-BE49-F238E27FC236}">
                <a16:creationId xmlns:a16="http://schemas.microsoft.com/office/drawing/2014/main" id="{05EF20BE-CAAE-5D15-2642-9010F8069F92}"/>
              </a:ext>
            </a:extLst>
          </p:cNvPr>
          <p:cNvPicPr>
            <a:picLocks noChangeAspect="1"/>
          </p:cNvPicPr>
          <p:nvPr/>
        </p:nvPicPr>
        <p:blipFill>
          <a:blip r:embed="rId3"/>
          <a:srcRect l="12057" r="20195" b="-2"/>
          <a:stretch>
            <a:fillRect/>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BB50534-99E1-1B6A-65F9-5FC377DC66FB}"/>
              </a:ext>
            </a:extLst>
          </p:cNvPr>
          <p:cNvSpPr>
            <a:spLocks noGrp="1"/>
          </p:cNvSpPr>
          <p:nvPr>
            <p:ph idx="1"/>
          </p:nvPr>
        </p:nvSpPr>
        <p:spPr>
          <a:xfrm>
            <a:off x="5181601" y="2198914"/>
            <a:ext cx="6368142" cy="3670180"/>
          </a:xfrm>
        </p:spPr>
        <p:txBody>
          <a:bodyPr>
            <a:normAutofit/>
          </a:bodyPr>
          <a:lstStyle/>
          <a:p>
            <a:pPr>
              <a:buFont typeface="Wingdings" panose="05000000000000000000" pitchFamily="2" charset="2"/>
              <a:buChar char="v"/>
            </a:pPr>
            <a:endParaRPr lang="en-US" dirty="0"/>
          </a:p>
          <a:p>
            <a:pPr>
              <a:buFont typeface="Wingdings" panose="05000000000000000000" pitchFamily="2" charset="2"/>
              <a:buChar char="v"/>
            </a:pPr>
            <a:r>
              <a:rPr lang="en-US" dirty="0"/>
              <a:t>Allow the communication between the previous components</a:t>
            </a:r>
          </a:p>
          <a:p>
            <a:pPr>
              <a:buFont typeface="Wingdings" panose="05000000000000000000" pitchFamily="2" charset="2"/>
              <a:buChar char="v"/>
            </a:pPr>
            <a:r>
              <a:rPr lang="en-US" dirty="0"/>
              <a:t> Divided into 2 main parts: </a:t>
            </a:r>
          </a:p>
          <a:p>
            <a:pPr lvl="1">
              <a:buFont typeface="Wingdings" panose="05000000000000000000" pitchFamily="2" charset="2"/>
              <a:buChar char="v"/>
            </a:pPr>
            <a:r>
              <a:rPr lang="en-US" dirty="0"/>
              <a:t> Supervisory: connect PLCs together and with HMIs</a:t>
            </a:r>
          </a:p>
          <a:p>
            <a:pPr lvl="1">
              <a:buFont typeface="Wingdings" panose="05000000000000000000" pitchFamily="2" charset="2"/>
              <a:buChar char="v"/>
            </a:pPr>
            <a:r>
              <a:rPr lang="en-US" dirty="0"/>
              <a:t> Field communication: connecting PLCs with physical plants ( the attacker can not see this communication part, sec 3.2)</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230852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C19C1-5774-0A4F-7C5F-EE90149EC3FD}"/>
              </a:ext>
            </a:extLst>
          </p:cNvPr>
          <p:cNvSpPr>
            <a:spLocks noGrp="1"/>
          </p:cNvSpPr>
          <p:nvPr>
            <p:ph type="title"/>
          </p:nvPr>
        </p:nvSpPr>
        <p:spPr>
          <a:xfrm>
            <a:off x="1097280" y="286603"/>
            <a:ext cx="10058400" cy="1450757"/>
          </a:xfrm>
        </p:spPr>
        <p:txBody>
          <a:bodyPr>
            <a:normAutofit/>
          </a:bodyPr>
          <a:lstStyle/>
          <a:p>
            <a:r>
              <a:rPr lang="en-US" dirty="0"/>
              <a:t>Monitoring System</a:t>
            </a:r>
          </a:p>
        </p:txBody>
      </p:sp>
      <p:sp>
        <p:nvSpPr>
          <p:cNvPr id="3" name="Content Placeholder 2">
            <a:extLst>
              <a:ext uri="{FF2B5EF4-FFF2-40B4-BE49-F238E27FC236}">
                <a16:creationId xmlns:a16="http://schemas.microsoft.com/office/drawing/2014/main" id="{9BCF923A-17E2-46B5-5047-39EB2113F67E}"/>
              </a:ext>
            </a:extLst>
          </p:cNvPr>
          <p:cNvSpPr>
            <a:spLocks noGrp="1"/>
          </p:cNvSpPr>
          <p:nvPr>
            <p:ph idx="1"/>
          </p:nvPr>
        </p:nvSpPr>
        <p:spPr>
          <a:xfrm>
            <a:off x="1097279" y="1845734"/>
            <a:ext cx="6454987" cy="4023360"/>
          </a:xfrm>
        </p:spPr>
        <p:txBody>
          <a:bodyPr>
            <a:normAutofit/>
          </a:bodyPr>
          <a:lstStyle/>
          <a:p>
            <a:endParaRPr lang="en-US" sz="1400" dirty="0"/>
          </a:p>
          <a:p>
            <a:pPr>
              <a:buFont typeface="Wingdings" panose="05000000000000000000" pitchFamily="2" charset="2"/>
              <a:buChar char="v"/>
            </a:pPr>
            <a:r>
              <a:rPr lang="en-US" sz="1400" dirty="0"/>
              <a:t> To collect and track the activities performed by attackers or malware once they break into the honeypots</a:t>
            </a:r>
          </a:p>
          <a:p>
            <a:pPr>
              <a:buFont typeface="Wingdings" panose="05000000000000000000" pitchFamily="2" charset="2"/>
              <a:buChar char="v"/>
            </a:pPr>
            <a:endParaRPr lang="en-US" sz="1400" dirty="0"/>
          </a:p>
          <a:p>
            <a:pPr>
              <a:buFont typeface="Wingdings" panose="05000000000000000000" pitchFamily="2" charset="2"/>
              <a:buChar char="v"/>
            </a:pPr>
            <a:r>
              <a:rPr lang="en-US" sz="1400" dirty="0"/>
              <a:t> Used for understanding the </a:t>
            </a:r>
            <a:r>
              <a:rPr lang="en-US" sz="1400" dirty="0" err="1"/>
              <a:t>behaviour</a:t>
            </a:r>
            <a:r>
              <a:rPr lang="en-US" sz="1400" dirty="0"/>
              <a:t> of the attackers and their techniques and methods used to  get into the system.</a:t>
            </a:r>
          </a:p>
          <a:p>
            <a:pPr>
              <a:buFont typeface="Wingdings" panose="05000000000000000000" pitchFamily="2" charset="2"/>
              <a:buChar char="v"/>
            </a:pPr>
            <a:endParaRPr lang="en-US" sz="1400" dirty="0"/>
          </a:p>
          <a:p>
            <a:pPr>
              <a:buFont typeface="Wingdings" panose="05000000000000000000" pitchFamily="2" charset="2"/>
              <a:buChar char="v"/>
            </a:pPr>
            <a:r>
              <a:rPr lang="en-US" sz="1400" dirty="0"/>
              <a:t> It requires existing of specialized software called probe, which is a special software acts like hidden observer and monitors all the activities</a:t>
            </a:r>
          </a:p>
          <a:p>
            <a:pPr>
              <a:buFont typeface="Wingdings" panose="05000000000000000000" pitchFamily="2" charset="2"/>
              <a:buChar char="v"/>
            </a:pPr>
            <a:endParaRPr lang="en-US" sz="1400" dirty="0"/>
          </a:p>
          <a:p>
            <a:pPr>
              <a:buFont typeface="Wingdings" panose="05000000000000000000" pitchFamily="2" charset="2"/>
              <a:buChar char="v"/>
            </a:pPr>
            <a:r>
              <a:rPr lang="en-US" sz="1400" dirty="0"/>
              <a:t> In their solution, the probe collect data involving access to each device PLC or HMI and the supervisory control network, and the data collected by the probes is stored and sent to the management and monitoring dashboard for further processing</a:t>
            </a:r>
          </a:p>
          <a:p>
            <a:endParaRPr lang="en-US" sz="1400" dirty="0"/>
          </a:p>
          <a:p>
            <a:endParaRPr lang="en-US" sz="1400" dirty="0"/>
          </a:p>
          <a:p>
            <a:endParaRPr lang="en-US" sz="1400" dirty="0"/>
          </a:p>
        </p:txBody>
      </p:sp>
      <p:pic>
        <p:nvPicPr>
          <p:cNvPr id="7" name="Graphic 6" descr="Bug under Magnifying Glass">
            <a:extLst>
              <a:ext uri="{FF2B5EF4-FFF2-40B4-BE49-F238E27FC236}">
                <a16:creationId xmlns:a16="http://schemas.microsoft.com/office/drawing/2014/main" id="{D234C6D7-043F-D00D-80B1-4F1B2FF378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0570" y="2084269"/>
            <a:ext cx="3135109" cy="3135109"/>
          </a:xfrm>
          <a:prstGeom prst="rect">
            <a:avLst/>
          </a:prstGeom>
        </p:spPr>
      </p:pic>
    </p:spTree>
    <p:extLst>
      <p:ext uri="{BB962C8B-B14F-4D97-AF65-F5344CB8AC3E}">
        <p14:creationId xmlns:p14="http://schemas.microsoft.com/office/powerpoint/2010/main" val="2055613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D7315F-6CA5-C8A4-8EFD-9494375AB98E}"/>
              </a:ext>
            </a:extLst>
          </p:cNvPr>
          <p:cNvSpPr>
            <a:spLocks noGrp="1"/>
          </p:cNvSpPr>
          <p:nvPr>
            <p:ph type="title"/>
          </p:nvPr>
        </p:nvSpPr>
        <p:spPr>
          <a:xfrm>
            <a:off x="4974771" y="634946"/>
            <a:ext cx="6574972" cy="1450757"/>
          </a:xfrm>
        </p:spPr>
        <p:txBody>
          <a:bodyPr>
            <a:normAutofit/>
          </a:bodyPr>
          <a:lstStyle/>
          <a:p>
            <a:br>
              <a:rPr lang="en-US" sz="3400" dirty="0"/>
            </a:br>
            <a:r>
              <a:rPr lang="en-US" sz="3400" dirty="0"/>
              <a:t>Management &amp; Monitoring Dashboard</a:t>
            </a:r>
          </a:p>
        </p:txBody>
      </p:sp>
      <p:pic>
        <p:nvPicPr>
          <p:cNvPr id="7" name="Graphic 6" descr="Laptop Secure">
            <a:extLst>
              <a:ext uri="{FF2B5EF4-FFF2-40B4-BE49-F238E27FC236}">
                <a16:creationId xmlns:a16="http://schemas.microsoft.com/office/drawing/2014/main" id="{23B79CD7-B4C1-4D47-E0D6-D90F2CDBC3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296626"/>
            <a:ext cx="4001315" cy="4001315"/>
          </a:xfrm>
          <a:prstGeom prst="rect">
            <a:avLst/>
          </a:prstGeom>
        </p:spPr>
      </p:pic>
      <p:cxnSp>
        <p:nvCxnSpPr>
          <p:cNvPr id="21" name="Straight Connector 20">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09411E5-BF5B-5AAD-908E-F0EB94189472}"/>
              </a:ext>
            </a:extLst>
          </p:cNvPr>
          <p:cNvSpPr>
            <a:spLocks noGrp="1"/>
          </p:cNvSpPr>
          <p:nvPr>
            <p:ph idx="1"/>
          </p:nvPr>
        </p:nvSpPr>
        <p:spPr>
          <a:xfrm>
            <a:off x="4974769" y="2198914"/>
            <a:ext cx="6574973" cy="3670180"/>
          </a:xfrm>
        </p:spPr>
        <p:txBody>
          <a:bodyPr>
            <a:normAutofit lnSpcReduction="10000"/>
          </a:bodyPr>
          <a:lstStyle/>
          <a:p>
            <a:r>
              <a:rPr lang="en-US" dirty="0"/>
              <a:t>Which controls the whole Honeynet to simplify its configuration, deployment, and monitoring. allows monitor to see what are the currently running components, add new components, stop running ones, and analyze the data received from the probes.</a:t>
            </a:r>
          </a:p>
          <a:p>
            <a:r>
              <a:rPr lang="en-US" dirty="0"/>
              <a:t>It is a web dashboard, enables operator to see what honeynets are currently running, and allow adding or removing components, and analyze the data received from the probe.</a:t>
            </a:r>
          </a:p>
          <a:p>
            <a:r>
              <a:rPr lang="en-US" dirty="0"/>
              <a:t>It can also monitor what is displayed by HMI and the real process, so it can detect if there was MITM attack which manipulated the HMI to show different results than the physical process (such as what happened in Stuxnet).</a:t>
            </a:r>
          </a:p>
          <a:p>
            <a:endParaRPr lang="en-US" dirty="0"/>
          </a:p>
        </p:txBody>
      </p:sp>
      <p:sp>
        <p:nvSpPr>
          <p:cNvPr id="22" name="Rectangle 21">
            <a:extLst>
              <a:ext uri="{FF2B5EF4-FFF2-40B4-BE49-F238E27FC236}">
                <a16:creationId xmlns:a16="http://schemas.microsoft.com/office/drawing/2014/main" id="{D5FBCAC9-BD8B-4F3B-AD74-EF37D421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9556C5A8-AD7E-4CE7-87BE-9EA3B5E1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46407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298C-4083-65BA-9567-9F74BC8E18AD}"/>
              </a:ext>
            </a:extLst>
          </p:cNvPr>
          <p:cNvSpPr>
            <a:spLocks noGrp="1"/>
          </p:cNvSpPr>
          <p:nvPr>
            <p:ph type="title"/>
          </p:nvPr>
        </p:nvSpPr>
        <p:spPr/>
        <p:txBody>
          <a:bodyPr/>
          <a:lstStyle/>
          <a:p>
            <a:r>
              <a:rPr lang="en-US" dirty="0"/>
              <a:t>Attack Model</a:t>
            </a:r>
          </a:p>
        </p:txBody>
      </p:sp>
      <p:sp>
        <p:nvSpPr>
          <p:cNvPr id="3" name="Content Placeholder 2">
            <a:extLst>
              <a:ext uri="{FF2B5EF4-FFF2-40B4-BE49-F238E27FC236}">
                <a16:creationId xmlns:a16="http://schemas.microsoft.com/office/drawing/2014/main" id="{9D29EA4C-0186-0C4B-4DF0-59A1B324EB72}"/>
              </a:ext>
            </a:extLst>
          </p:cNvPr>
          <p:cNvSpPr>
            <a:spLocks noGrp="1"/>
          </p:cNvSpPr>
          <p:nvPr>
            <p:ph idx="1"/>
          </p:nvPr>
        </p:nvSpPr>
        <p:spPr>
          <a:xfrm>
            <a:off x="1097280" y="1845734"/>
            <a:ext cx="10058400" cy="732284"/>
          </a:xfrm>
        </p:spPr>
        <p:txBody>
          <a:bodyPr/>
          <a:lstStyle/>
          <a:p>
            <a:pPr>
              <a:buFont typeface="Wingdings" panose="05000000000000000000" pitchFamily="2" charset="2"/>
              <a:buChar char="q"/>
            </a:pPr>
            <a:r>
              <a:rPr lang="en-US" dirty="0"/>
              <a:t> Attacker can access either via VPN or compromising directly connected device exposed to internet</a:t>
            </a:r>
          </a:p>
        </p:txBody>
      </p:sp>
      <p:sp>
        <p:nvSpPr>
          <p:cNvPr id="4" name="Content Placeholder 2">
            <a:extLst>
              <a:ext uri="{FF2B5EF4-FFF2-40B4-BE49-F238E27FC236}">
                <a16:creationId xmlns:a16="http://schemas.microsoft.com/office/drawing/2014/main" id="{3B37F722-4ABD-27BB-BDBB-D3A72919D783}"/>
              </a:ext>
            </a:extLst>
          </p:cNvPr>
          <p:cNvSpPr txBox="1">
            <a:spLocks/>
          </p:cNvSpPr>
          <p:nvPr/>
        </p:nvSpPr>
        <p:spPr>
          <a:xfrm>
            <a:off x="1249680" y="2578018"/>
            <a:ext cx="4722434" cy="346466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US" dirty="0"/>
              <a:t>Internet:</a:t>
            </a:r>
          </a:p>
          <a:p>
            <a:pPr marL="635508" lvl="1" indent="-342900">
              <a:buFont typeface="+mj-lt"/>
              <a:buAutoNum type="arabicPeriod"/>
            </a:pPr>
            <a:r>
              <a:rPr lang="en-US" dirty="0"/>
              <a:t>Gain full control over the supervision control network</a:t>
            </a:r>
          </a:p>
          <a:p>
            <a:pPr marL="635508" lvl="1" indent="-342900">
              <a:buFont typeface="+mj-lt"/>
              <a:buAutoNum type="arabicPeriod"/>
            </a:pPr>
            <a:r>
              <a:rPr lang="en-US" dirty="0"/>
              <a:t>Can fingerprint the system using NMAP and find PLC models, open, filtered ports, what services running and so on</a:t>
            </a:r>
          </a:p>
          <a:p>
            <a:pPr marL="635508" lvl="1" indent="-342900">
              <a:buFont typeface="+mj-lt"/>
              <a:buAutoNum type="arabicPeriod"/>
            </a:pPr>
            <a:r>
              <a:rPr lang="en-US" dirty="0"/>
              <a:t>Can attempt to read and write PLC memory registers and upload and execute a malicious PLC user-program</a:t>
            </a:r>
          </a:p>
          <a:p>
            <a:pPr marL="635508" lvl="1" indent="-342900">
              <a:buFont typeface="+mj-lt"/>
              <a:buAutoNum type="arabicPeriod"/>
            </a:pPr>
            <a:r>
              <a:rPr lang="en-US" dirty="0"/>
              <a:t>Can observe the effect of the program execution either by examining the value of PLC register or via a compromised HMI.</a:t>
            </a:r>
          </a:p>
        </p:txBody>
      </p:sp>
      <p:sp>
        <p:nvSpPr>
          <p:cNvPr id="5" name="Content Placeholder 2">
            <a:extLst>
              <a:ext uri="{FF2B5EF4-FFF2-40B4-BE49-F238E27FC236}">
                <a16:creationId xmlns:a16="http://schemas.microsoft.com/office/drawing/2014/main" id="{8506E150-A17C-C374-5EBB-39F5DA584666}"/>
              </a:ext>
            </a:extLst>
          </p:cNvPr>
          <p:cNvSpPr txBox="1">
            <a:spLocks/>
          </p:cNvSpPr>
          <p:nvPr/>
        </p:nvSpPr>
        <p:spPr>
          <a:xfrm>
            <a:off x="6219888" y="2578018"/>
            <a:ext cx="5183566" cy="400839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US" dirty="0"/>
              <a:t>VPN:</a:t>
            </a:r>
          </a:p>
          <a:p>
            <a:pPr marL="749808" lvl="1" indent="-457200">
              <a:buFont typeface="+mj-lt"/>
              <a:buAutoNum type="arabicPeriod"/>
            </a:pPr>
            <a:r>
              <a:rPr lang="en-US" dirty="0"/>
              <a:t>Sniff network traffic on the supervisory control network</a:t>
            </a:r>
          </a:p>
          <a:p>
            <a:pPr marL="749808" lvl="1" indent="-457200">
              <a:buFont typeface="+mj-lt"/>
              <a:buAutoNum type="arabicPeriod"/>
            </a:pPr>
            <a:r>
              <a:rPr lang="en-US" dirty="0"/>
              <a:t>Setup MITM attacks between two PLCs, or between a PLC and the associated HMI</a:t>
            </a:r>
          </a:p>
          <a:p>
            <a:pPr marL="749808" lvl="1" indent="-457200">
              <a:buFont typeface="+mj-lt"/>
              <a:buAutoNum type="arabicPeriod"/>
            </a:pPr>
            <a:r>
              <a:rPr lang="en-US" dirty="0"/>
              <a:t>Perform two-fold objective by manipulating the PLC register values, and send different values to the associated HMI ( Stuxnet method ).</a:t>
            </a:r>
          </a:p>
        </p:txBody>
      </p:sp>
      <p:sp>
        <p:nvSpPr>
          <p:cNvPr id="6" name="TextBox 5">
            <a:extLst>
              <a:ext uri="{FF2B5EF4-FFF2-40B4-BE49-F238E27FC236}">
                <a16:creationId xmlns:a16="http://schemas.microsoft.com/office/drawing/2014/main" id="{5B3994C4-C6AD-F349-A833-F89A2C749228}"/>
              </a:ext>
            </a:extLst>
          </p:cNvPr>
          <p:cNvSpPr txBox="1"/>
          <p:nvPr/>
        </p:nvSpPr>
        <p:spPr>
          <a:xfrm>
            <a:off x="2176863" y="5968361"/>
            <a:ext cx="9226591" cy="369332"/>
          </a:xfrm>
          <a:prstGeom prst="rect">
            <a:avLst/>
          </a:prstGeom>
          <a:noFill/>
        </p:spPr>
        <p:txBody>
          <a:bodyPr wrap="square" rtlCol="0">
            <a:spAutoFit/>
          </a:bodyPr>
          <a:lstStyle/>
          <a:p>
            <a:r>
              <a:rPr lang="en-US" dirty="0"/>
              <a:t>In no case the attacker can get access to the Field communication network</a:t>
            </a:r>
          </a:p>
        </p:txBody>
      </p:sp>
    </p:spTree>
    <p:extLst>
      <p:ext uri="{BB962C8B-B14F-4D97-AF65-F5344CB8AC3E}">
        <p14:creationId xmlns:p14="http://schemas.microsoft.com/office/powerpoint/2010/main" val="191844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5069E-6646-C72E-6BE7-8727A4D6FEA9}"/>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9E1F4224-D781-AA92-E17F-6F3D5B5FB5E5}"/>
              </a:ext>
            </a:extLst>
          </p:cNvPr>
          <p:cNvSpPr>
            <a:spLocks noGrp="1"/>
          </p:cNvSpPr>
          <p:nvPr>
            <p:ph idx="1"/>
          </p:nvPr>
        </p:nvSpPr>
        <p:spPr>
          <a:xfrm>
            <a:off x="1097280" y="1845734"/>
            <a:ext cx="4254038" cy="4023360"/>
          </a:xfrm>
        </p:spPr>
        <p:txBody>
          <a:bodyPr>
            <a:normAutofit lnSpcReduction="10000"/>
          </a:bodyPr>
          <a:lstStyle/>
          <a:p>
            <a:pPr marL="0" indent="0">
              <a:buNone/>
            </a:pPr>
            <a:r>
              <a:rPr lang="en-US" dirty="0"/>
              <a:t>They did not used any hardware, it was only a simulation process</a:t>
            </a:r>
          </a:p>
          <a:p>
            <a:pPr marL="0" indent="0">
              <a:buNone/>
            </a:pPr>
            <a:r>
              <a:rPr lang="en-US" dirty="0"/>
              <a:t>They rely on existing simulation frameworks:</a:t>
            </a:r>
          </a:p>
          <a:p>
            <a:pPr marL="0" indent="0">
              <a:buNone/>
            </a:pPr>
            <a:r>
              <a:rPr lang="en-US" dirty="0"/>
              <a:t> 	- </a:t>
            </a:r>
            <a:r>
              <a:rPr lang="en-US" dirty="0" err="1"/>
              <a:t>HoneyD</a:t>
            </a:r>
            <a:r>
              <a:rPr lang="en-US" dirty="0"/>
              <a:t> </a:t>
            </a:r>
          </a:p>
          <a:p>
            <a:pPr marL="0" indent="0">
              <a:buNone/>
            </a:pPr>
            <a:r>
              <a:rPr lang="en-US" dirty="0"/>
              <a:t>	- </a:t>
            </a:r>
            <a:r>
              <a:rPr lang="en-US" dirty="0" err="1"/>
              <a:t>HoneyPLC</a:t>
            </a:r>
            <a:endParaRPr lang="en-US" dirty="0"/>
          </a:p>
          <a:p>
            <a:pPr marL="0" indent="0">
              <a:buNone/>
            </a:pPr>
            <a:r>
              <a:rPr lang="en-US" dirty="0"/>
              <a:t>	- </a:t>
            </a:r>
            <a:r>
              <a:rPr lang="en-US" dirty="0" err="1"/>
              <a:t>OpenPLC</a:t>
            </a:r>
            <a:endParaRPr lang="en-US" dirty="0"/>
          </a:p>
          <a:p>
            <a:pPr marL="0" indent="0">
              <a:buNone/>
            </a:pPr>
            <a:r>
              <a:rPr lang="en-US" dirty="0"/>
              <a:t>	- </a:t>
            </a:r>
            <a:r>
              <a:rPr lang="en-US" dirty="0" err="1"/>
              <a:t>ScadaBR</a:t>
            </a:r>
            <a:endParaRPr lang="en-US" dirty="0"/>
          </a:p>
          <a:p>
            <a:pPr marL="0" indent="0">
              <a:buNone/>
            </a:pPr>
            <a:r>
              <a:rPr lang="en-US" dirty="0"/>
              <a:t>	- Simulink</a:t>
            </a:r>
          </a:p>
          <a:p>
            <a:pPr marL="0" indent="0">
              <a:buNone/>
            </a:pPr>
            <a:r>
              <a:rPr lang="en-US" dirty="0"/>
              <a:t>	-Modbus</a:t>
            </a:r>
          </a:p>
        </p:txBody>
      </p:sp>
      <p:sp>
        <p:nvSpPr>
          <p:cNvPr id="4" name="Content Placeholder 2">
            <a:extLst>
              <a:ext uri="{FF2B5EF4-FFF2-40B4-BE49-F238E27FC236}">
                <a16:creationId xmlns:a16="http://schemas.microsoft.com/office/drawing/2014/main" id="{DC5349DC-4469-FEFB-4A99-1C901D6D5608}"/>
              </a:ext>
            </a:extLst>
          </p:cNvPr>
          <p:cNvSpPr txBox="1">
            <a:spLocks/>
          </p:cNvSpPr>
          <p:nvPr/>
        </p:nvSpPr>
        <p:spPr>
          <a:xfrm>
            <a:off x="5800899" y="1845734"/>
            <a:ext cx="4631574"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dirty="0"/>
              <a:t>Each Component was docker container running either </a:t>
            </a:r>
            <a:r>
              <a:rPr lang="en-US" b="1" dirty="0"/>
              <a:t>Ubuntu 18.04 </a:t>
            </a:r>
            <a:r>
              <a:rPr lang="en-US" dirty="0"/>
              <a:t>or NGINX base</a:t>
            </a:r>
          </a:p>
          <a:p>
            <a:pPr marL="0" indent="0">
              <a:buFont typeface="Calibri" panose="020F0502020204030204" pitchFamily="34" charset="0"/>
              <a:buNone/>
            </a:pPr>
            <a:endParaRPr lang="en-US" dirty="0"/>
          </a:p>
          <a:p>
            <a:pPr marL="0" indent="0">
              <a:buFont typeface="Calibri" panose="020F0502020204030204" pitchFamily="34" charset="0"/>
              <a:buNone/>
            </a:pPr>
            <a:r>
              <a:rPr lang="en-US" dirty="0"/>
              <a:t>They used </a:t>
            </a:r>
            <a:r>
              <a:rPr lang="en-US" dirty="0" err="1"/>
              <a:t>HoneyD</a:t>
            </a:r>
            <a:r>
              <a:rPr lang="en-US" dirty="0"/>
              <a:t> to simulate TCP/IP stack of a target devices such as PLCs to respond to Nmap fingerprint request</a:t>
            </a:r>
          </a:p>
          <a:p>
            <a:pPr marL="0" indent="0">
              <a:buFont typeface="Calibri" panose="020F0502020204030204" pitchFamily="34" charset="0"/>
              <a:buNone/>
            </a:pPr>
            <a:r>
              <a:rPr lang="en-US" dirty="0"/>
              <a:t>They use </a:t>
            </a:r>
            <a:r>
              <a:rPr lang="en-US" dirty="0" err="1"/>
              <a:t>HoneyPLC</a:t>
            </a:r>
            <a:r>
              <a:rPr lang="en-US" dirty="0"/>
              <a:t> project to support multiple PLC models, by </a:t>
            </a:r>
            <a:r>
              <a:rPr lang="en-US" dirty="0" err="1"/>
              <a:t>integerating</a:t>
            </a:r>
            <a:r>
              <a:rPr lang="en-US" dirty="0"/>
              <a:t> into </a:t>
            </a:r>
            <a:r>
              <a:rPr lang="en-US" dirty="0" err="1"/>
              <a:t>HoneyD</a:t>
            </a:r>
            <a:r>
              <a:rPr lang="en-US" dirty="0"/>
              <a:t> the PLC profiles provided by </a:t>
            </a:r>
            <a:r>
              <a:rPr lang="en-US" dirty="0" err="1"/>
              <a:t>HoneyPLC</a:t>
            </a:r>
            <a:endParaRPr lang="en-US" dirty="0"/>
          </a:p>
        </p:txBody>
      </p:sp>
    </p:spTree>
    <p:extLst>
      <p:ext uri="{BB962C8B-B14F-4D97-AF65-F5344CB8AC3E}">
        <p14:creationId xmlns:p14="http://schemas.microsoft.com/office/powerpoint/2010/main" val="1258871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DE7AC7-772D-2F21-02C1-F182511428E1}"/>
              </a:ext>
            </a:extLst>
          </p:cNvPr>
          <p:cNvSpPr>
            <a:spLocks noGrp="1"/>
          </p:cNvSpPr>
          <p:nvPr>
            <p:ph type="title"/>
          </p:nvPr>
        </p:nvSpPr>
        <p:spPr>
          <a:xfrm>
            <a:off x="4974771" y="634946"/>
            <a:ext cx="6574972" cy="1450757"/>
          </a:xfrm>
        </p:spPr>
        <p:txBody>
          <a:bodyPr vert="horz" lIns="91440" tIns="45720" rIns="91440" bIns="45720" rtlCol="0" anchor="b">
            <a:normAutofit/>
          </a:bodyPr>
          <a:lstStyle/>
          <a:p>
            <a:r>
              <a:rPr lang="en-US" dirty="0"/>
              <a:t>Prototype implementation</a:t>
            </a:r>
          </a:p>
        </p:txBody>
      </p:sp>
      <p:pic>
        <p:nvPicPr>
          <p:cNvPr id="12" name="Graphic 11" descr="Checkmark">
            <a:extLst>
              <a:ext uri="{FF2B5EF4-FFF2-40B4-BE49-F238E27FC236}">
                <a16:creationId xmlns:a16="http://schemas.microsoft.com/office/drawing/2014/main" id="{713228C5-49B2-04C6-E0FB-BECAF05762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296626"/>
            <a:ext cx="4001315" cy="4001315"/>
          </a:xfrm>
          <a:prstGeom prst="rect">
            <a:avLst/>
          </a:prstGeom>
        </p:spPr>
      </p:pic>
      <p:cxnSp>
        <p:nvCxnSpPr>
          <p:cNvPr id="17" name="Straight Connector 16">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29BB75D1-EEF8-6410-646F-51F8F85B5D8D}"/>
              </a:ext>
            </a:extLst>
          </p:cNvPr>
          <p:cNvSpPr>
            <a:spLocks noChangeArrowheads="1"/>
          </p:cNvSpPr>
          <p:nvPr/>
        </p:nvSpPr>
        <p:spPr bwMode="auto">
          <a:xfrm>
            <a:off x="4974769" y="2198914"/>
            <a:ext cx="6574973" cy="36701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0" bIns="45720" numCol="1" rtlCol="0" anchorCtr="0" compatLnSpc="1">
            <a:prstTxWarp prst="textNoShape">
              <a:avLst/>
            </a:prstTxWarp>
            <a:normAutofit/>
          </a:bodyPr>
          <a:lstStyle/>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r>
              <a:rPr kumimoji="0" lang="en-US" altLang="en-US" b="0" i="0" u="none" strike="noStrike" cap="none" normalizeH="0" baseline="0" dirty="0">
                <a:ln>
                  <a:noFill/>
                </a:ln>
                <a:solidFill>
                  <a:schemeClr val="tx1">
                    <a:lumMod val="75000"/>
                    <a:lumOff val="25000"/>
                  </a:schemeClr>
                </a:solidFill>
                <a:effectLst/>
              </a:rPr>
              <a:t>💧 </a:t>
            </a:r>
            <a:r>
              <a:rPr kumimoji="0" lang="en-US" altLang="en-US" b="1" i="0" u="none" strike="noStrike" cap="none" normalizeH="0" baseline="0" dirty="0">
                <a:ln>
                  <a:noFill/>
                </a:ln>
                <a:solidFill>
                  <a:schemeClr val="tx1">
                    <a:lumMod val="75000"/>
                    <a:lumOff val="25000"/>
                  </a:schemeClr>
                </a:solidFill>
                <a:effectLst/>
              </a:rPr>
              <a:t>System Design</a:t>
            </a:r>
            <a:r>
              <a:rPr kumimoji="0" lang="en-US" altLang="en-US" b="0" i="0" u="none" strike="noStrike" cap="none" normalizeH="0" baseline="0" dirty="0">
                <a:ln>
                  <a:noFill/>
                </a:ln>
                <a:solidFill>
                  <a:schemeClr val="tx1">
                    <a:lumMod val="75000"/>
                    <a:lumOff val="25000"/>
                  </a:schemeClr>
                </a:solidFill>
                <a:effectLst/>
              </a:rPr>
              <a:t>: 3 PLCs simulate a secure water treatment plant</a:t>
            </a: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endParaRPr kumimoji="0" lang="en-US" altLang="en-US" b="0" i="0" u="none" strike="noStrike" cap="none" normalizeH="0" baseline="0" dirty="0">
              <a:ln>
                <a:noFill/>
              </a:ln>
              <a:solidFill>
                <a:schemeClr val="tx1">
                  <a:lumMod val="75000"/>
                  <a:lumOff val="25000"/>
                </a:schemeClr>
              </a:solidFill>
              <a:effectLst/>
            </a:endParaRP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r>
              <a:rPr kumimoji="0" lang="en-US" altLang="en-US" b="0" i="0" u="none" strike="noStrike" cap="none" normalizeH="0" baseline="0" dirty="0">
                <a:ln>
                  <a:noFill/>
                </a:ln>
                <a:solidFill>
                  <a:schemeClr val="tx1">
                    <a:lumMod val="75000"/>
                    <a:lumOff val="25000"/>
                  </a:schemeClr>
                </a:solidFill>
                <a:effectLst/>
              </a:rPr>
              <a:t>🛢️ </a:t>
            </a:r>
            <a:r>
              <a:rPr kumimoji="0" lang="en-US" altLang="en-US" b="1" i="0" u="none" strike="noStrike" cap="none" normalizeH="0" baseline="0" dirty="0">
                <a:ln>
                  <a:noFill/>
                </a:ln>
                <a:solidFill>
                  <a:schemeClr val="tx1">
                    <a:lumMod val="75000"/>
                    <a:lumOff val="25000"/>
                  </a:schemeClr>
                </a:solidFill>
                <a:effectLst/>
              </a:rPr>
              <a:t>Tank Configuration</a:t>
            </a:r>
            <a:r>
              <a:rPr kumimoji="0" lang="en-US" altLang="en-US" b="0" i="0" u="none" strike="noStrike" cap="none" normalizeH="0" baseline="0" dirty="0">
                <a:ln>
                  <a:noFill/>
                </a:ln>
                <a:solidFill>
                  <a:schemeClr val="tx1">
                    <a:lumMod val="75000"/>
                    <a:lumOff val="25000"/>
                  </a:schemeClr>
                </a:solidFill>
                <a:effectLst/>
              </a:rPr>
              <a:t>: T-201 (80 gal), T-202 (20 gal), T-203 (1 gal)</a:t>
            </a: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endParaRPr kumimoji="0" lang="en-US" altLang="en-US" b="0" i="0" u="none" strike="noStrike" cap="none" normalizeH="0" baseline="0" dirty="0">
              <a:ln>
                <a:noFill/>
              </a:ln>
              <a:solidFill>
                <a:schemeClr val="tx1">
                  <a:lumMod val="75000"/>
                  <a:lumOff val="25000"/>
                </a:schemeClr>
              </a:solidFill>
              <a:effectLst/>
            </a:endParaRP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r>
              <a:rPr kumimoji="0" lang="en-US" altLang="en-US" b="0" i="0" u="none" strike="noStrike" cap="none" normalizeH="0" baseline="0" dirty="0">
                <a:ln>
                  <a:noFill/>
                </a:ln>
                <a:solidFill>
                  <a:schemeClr val="tx1">
                    <a:lumMod val="75000"/>
                    <a:lumOff val="25000"/>
                  </a:schemeClr>
                </a:solidFill>
                <a:effectLst/>
              </a:rPr>
              <a:t>⚙️ </a:t>
            </a:r>
            <a:r>
              <a:rPr kumimoji="0" lang="en-US" altLang="en-US" b="1" i="0" u="none" strike="noStrike" cap="none" normalizeH="0" baseline="0" dirty="0">
                <a:ln>
                  <a:noFill/>
                </a:ln>
                <a:solidFill>
                  <a:schemeClr val="tx1">
                    <a:lumMod val="75000"/>
                    <a:lumOff val="25000"/>
                  </a:schemeClr>
                </a:solidFill>
                <a:effectLst/>
              </a:rPr>
              <a:t>Flow Mechanics</a:t>
            </a:r>
            <a:r>
              <a:rPr kumimoji="0" lang="en-US" altLang="en-US" b="0" i="0" u="none" strike="noStrike" cap="none" normalizeH="0" baseline="0" dirty="0">
                <a:ln>
                  <a:noFill/>
                </a:ln>
                <a:solidFill>
                  <a:schemeClr val="tx1">
                    <a:lumMod val="75000"/>
                    <a:lumOff val="25000"/>
                  </a:schemeClr>
                </a:solidFill>
                <a:effectLst/>
              </a:rPr>
              <a:t>: Pump P-101, valve MV-301, pump P-102</a:t>
            </a: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endParaRPr kumimoji="0" lang="en-US" altLang="en-US" b="0" i="0" u="none" strike="noStrike" cap="none" normalizeH="0" baseline="0" dirty="0">
              <a:ln>
                <a:noFill/>
              </a:ln>
              <a:solidFill>
                <a:schemeClr val="tx1">
                  <a:lumMod val="75000"/>
                  <a:lumOff val="25000"/>
                </a:schemeClr>
              </a:solidFill>
              <a:effectLst/>
            </a:endParaRP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r>
              <a:rPr kumimoji="0" lang="en-US" altLang="en-US" b="0" i="0" u="none" strike="noStrike" cap="none" normalizeH="0" baseline="0" dirty="0">
                <a:ln>
                  <a:noFill/>
                </a:ln>
                <a:solidFill>
                  <a:schemeClr val="tx1">
                    <a:lumMod val="75000"/>
                    <a:lumOff val="25000"/>
                  </a:schemeClr>
                </a:solidFill>
                <a:effectLst/>
              </a:rPr>
              <a:t>🔁 </a:t>
            </a:r>
            <a:r>
              <a:rPr kumimoji="0" lang="en-US" altLang="en-US" b="1" i="0" u="none" strike="noStrike" cap="none" normalizeH="0" baseline="0" dirty="0">
                <a:ln>
                  <a:noFill/>
                </a:ln>
                <a:solidFill>
                  <a:schemeClr val="tx1">
                    <a:lumMod val="75000"/>
                    <a:lumOff val="25000"/>
                  </a:schemeClr>
                </a:solidFill>
                <a:effectLst/>
              </a:rPr>
              <a:t>Filtration Path</a:t>
            </a:r>
            <a:r>
              <a:rPr kumimoji="0" lang="en-US" altLang="en-US" b="0" i="0" u="none" strike="noStrike" cap="none" normalizeH="0" baseline="0" dirty="0">
                <a:ln>
                  <a:noFill/>
                </a:ln>
                <a:solidFill>
                  <a:schemeClr val="tx1">
                    <a:lumMod val="75000"/>
                    <a:lumOff val="25000"/>
                  </a:schemeClr>
                </a:solidFill>
                <a:effectLst/>
              </a:rPr>
              <a:t>: T-201 → filtration → T-202 → reverse osmosis</a:t>
            </a: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endParaRPr kumimoji="0" lang="en-US" altLang="en-US" b="0" i="0" u="none" strike="noStrike" cap="none" normalizeH="0" baseline="0" dirty="0">
              <a:ln>
                <a:noFill/>
              </a:ln>
              <a:solidFill>
                <a:schemeClr val="tx1">
                  <a:lumMod val="75000"/>
                  <a:lumOff val="25000"/>
                </a:schemeClr>
              </a:solidFill>
              <a:effectLst/>
            </a:endParaRP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r>
              <a:rPr kumimoji="0" lang="en-US" altLang="en-US" b="0" i="0" u="none" strike="noStrike" cap="none" normalizeH="0" baseline="0" dirty="0">
                <a:ln>
                  <a:noFill/>
                </a:ln>
                <a:solidFill>
                  <a:schemeClr val="tx1">
                    <a:lumMod val="75000"/>
                    <a:lumOff val="25000"/>
                  </a:schemeClr>
                </a:solidFill>
                <a:effectLst/>
              </a:rPr>
              <a:t>🚰 </a:t>
            </a:r>
            <a:r>
              <a:rPr kumimoji="0" lang="en-US" altLang="en-US" b="1" i="0" u="none" strike="noStrike" cap="none" normalizeH="0" baseline="0" dirty="0">
                <a:ln>
                  <a:noFill/>
                </a:ln>
                <a:solidFill>
                  <a:schemeClr val="tx1">
                    <a:lumMod val="75000"/>
                    <a:lumOff val="25000"/>
                  </a:schemeClr>
                </a:solidFill>
                <a:effectLst/>
              </a:rPr>
              <a:t>Backwash Loop</a:t>
            </a:r>
            <a:r>
              <a:rPr kumimoji="0" lang="en-US" altLang="en-US" b="0" i="0" u="none" strike="noStrike" cap="none" normalizeH="0" baseline="0" dirty="0">
                <a:ln>
                  <a:noFill/>
                </a:ln>
                <a:solidFill>
                  <a:schemeClr val="tx1">
                    <a:lumMod val="75000"/>
                    <a:lumOff val="25000"/>
                  </a:schemeClr>
                </a:solidFill>
                <a:effectLst/>
              </a:rPr>
              <a:t>: Water can flow to T-203 and loop back via P-102</a:t>
            </a: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endParaRPr kumimoji="0" lang="en-US" altLang="en-US" b="0" i="0" u="none" strike="noStrike" cap="none" normalizeH="0" baseline="0" dirty="0">
              <a:ln>
                <a:noFill/>
              </a:ln>
              <a:solidFill>
                <a:schemeClr val="tx1">
                  <a:lumMod val="75000"/>
                  <a:lumOff val="25000"/>
                </a:schemeClr>
              </a:solidFill>
              <a:effectLst/>
            </a:endParaRP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r>
              <a:rPr kumimoji="0" lang="en-US" altLang="en-US" b="0" i="0" u="none" strike="noStrike" cap="none" normalizeH="0" baseline="0" dirty="0">
                <a:ln>
                  <a:noFill/>
                </a:ln>
                <a:solidFill>
                  <a:schemeClr val="tx1">
                    <a:lumMod val="75000"/>
                    <a:lumOff val="25000"/>
                  </a:schemeClr>
                </a:solidFill>
                <a:effectLst/>
              </a:rPr>
              <a:t>🔍 </a:t>
            </a:r>
            <a:r>
              <a:rPr kumimoji="0" lang="en-US" altLang="en-US" b="1" i="0" u="none" strike="noStrike" cap="none" normalizeH="0" baseline="0" dirty="0">
                <a:ln>
                  <a:noFill/>
                </a:ln>
                <a:solidFill>
                  <a:schemeClr val="tx1">
                    <a:lumMod val="75000"/>
                    <a:lumOff val="25000"/>
                  </a:schemeClr>
                </a:solidFill>
                <a:effectLst/>
              </a:rPr>
              <a:t>Design Constraint</a:t>
            </a:r>
            <a:r>
              <a:rPr kumimoji="0" lang="en-US" altLang="en-US" b="0" i="0" u="none" strike="noStrike" cap="none" normalizeH="0" baseline="0" dirty="0">
                <a:ln>
                  <a:noFill/>
                </a:ln>
                <a:solidFill>
                  <a:schemeClr val="tx1">
                    <a:lumMod val="75000"/>
                    <a:lumOff val="25000"/>
                  </a:schemeClr>
                </a:solidFill>
                <a:effectLst/>
              </a:rPr>
              <a:t>: T-202 can hold full T-203 content at any time</a:t>
            </a:r>
          </a:p>
        </p:txBody>
      </p:sp>
      <p:sp>
        <p:nvSpPr>
          <p:cNvPr id="19" name="Rectangle 18">
            <a:extLst>
              <a:ext uri="{FF2B5EF4-FFF2-40B4-BE49-F238E27FC236}">
                <a16:creationId xmlns:a16="http://schemas.microsoft.com/office/drawing/2014/main" id="{D5FBCAC9-BD8B-4F3B-AD74-EF37D421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9556C5A8-AD7E-4CE7-87BE-9EA3B5E1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91637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63A54-75A4-1242-92B6-ADCF373AE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8557C-B7BA-BEA8-C4DA-F6FA4FD9B82D}"/>
              </a:ext>
            </a:extLst>
          </p:cNvPr>
          <p:cNvSpPr>
            <a:spLocks noGrp="1"/>
          </p:cNvSpPr>
          <p:nvPr>
            <p:ph type="title"/>
          </p:nvPr>
        </p:nvSpPr>
        <p:spPr>
          <a:xfrm>
            <a:off x="4881253" y="364782"/>
            <a:ext cx="6574972" cy="1450757"/>
          </a:xfrm>
        </p:spPr>
        <p:txBody>
          <a:bodyPr vert="horz" lIns="91440" tIns="45720" rIns="91440" bIns="45720" rtlCol="0" anchor="b">
            <a:normAutofit/>
          </a:bodyPr>
          <a:lstStyle/>
          <a:p>
            <a:r>
              <a:rPr lang="en-US" dirty="0"/>
              <a:t>Prototype implementation</a:t>
            </a:r>
          </a:p>
        </p:txBody>
      </p:sp>
      <p:pic>
        <p:nvPicPr>
          <p:cNvPr id="12" name="Graphic 11" descr="Checkmark">
            <a:extLst>
              <a:ext uri="{FF2B5EF4-FFF2-40B4-BE49-F238E27FC236}">
                <a16:creationId xmlns:a16="http://schemas.microsoft.com/office/drawing/2014/main" id="{998C91D3-DF5A-B633-3F45-EF621A3AE0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999" y="1296626"/>
            <a:ext cx="4001315" cy="4001315"/>
          </a:xfrm>
          <a:prstGeom prst="rect">
            <a:avLst/>
          </a:prstGeom>
        </p:spPr>
      </p:pic>
      <p:sp>
        <p:nvSpPr>
          <p:cNvPr id="8" name="Rectangle 3">
            <a:extLst>
              <a:ext uri="{FF2B5EF4-FFF2-40B4-BE49-F238E27FC236}">
                <a16:creationId xmlns:a16="http://schemas.microsoft.com/office/drawing/2014/main" id="{63A069A6-4945-D0F5-816F-CFBA4A707B6F}"/>
              </a:ext>
            </a:extLst>
          </p:cNvPr>
          <p:cNvSpPr>
            <a:spLocks noChangeArrowheads="1"/>
          </p:cNvSpPr>
          <p:nvPr/>
        </p:nvSpPr>
        <p:spPr bwMode="auto">
          <a:xfrm>
            <a:off x="4974769" y="2198914"/>
            <a:ext cx="6574973" cy="36701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0" bIns="45720" numCol="1" rtlCol="0" anchorCtr="0" compatLnSpc="1">
            <a:prstTxWarp prst="textNoShape">
              <a:avLst/>
            </a:prstTxWarp>
            <a:normAutofit fontScale="92500" lnSpcReduction="10000"/>
          </a:bodyPr>
          <a:lstStyle/>
          <a:p>
            <a:pPr marL="0" marR="0" lvl="0" indent="0" defTabSz="914400" fontAlgn="base">
              <a:lnSpc>
                <a:spcPct val="90000"/>
              </a:lnSpc>
              <a:spcBef>
                <a:spcPct val="0"/>
              </a:spcBef>
              <a:spcAft>
                <a:spcPts val="600"/>
              </a:spcAft>
              <a:buClr>
                <a:schemeClr val="accent1"/>
              </a:buClr>
              <a:buSzTx/>
              <a:tabLst/>
            </a:pPr>
            <a:endParaRPr kumimoji="0" lang="en-US" altLang="en-US" b="0" i="0" u="none" strike="noStrike" cap="none" normalizeH="0" baseline="0" dirty="0">
              <a:ln>
                <a:noFill/>
              </a:ln>
              <a:solidFill>
                <a:schemeClr val="tx1">
                  <a:lumMod val="75000"/>
                  <a:lumOff val="25000"/>
                </a:schemeClr>
              </a:solidFill>
              <a:effectLst/>
            </a:endParaRP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r>
              <a:rPr kumimoji="0" lang="en-US" altLang="en-US" b="0" i="0" u="none" strike="noStrike" cap="none" normalizeH="0" baseline="0" dirty="0">
                <a:ln>
                  <a:noFill/>
                </a:ln>
                <a:solidFill>
                  <a:schemeClr val="tx1">
                    <a:lumMod val="75000"/>
                    <a:lumOff val="25000"/>
                  </a:schemeClr>
                </a:solidFill>
                <a:effectLst/>
              </a:rPr>
              <a:t>⚙️ </a:t>
            </a:r>
            <a:r>
              <a:rPr kumimoji="0" lang="en-US" altLang="en-US" b="1" i="0" u="none" strike="noStrike" cap="none" normalizeH="0" baseline="0" dirty="0">
                <a:ln>
                  <a:noFill/>
                </a:ln>
                <a:solidFill>
                  <a:schemeClr val="tx1">
                    <a:lumMod val="75000"/>
                    <a:lumOff val="25000"/>
                  </a:schemeClr>
                </a:solidFill>
                <a:effectLst/>
              </a:rPr>
              <a:t>Control Logic</a:t>
            </a:r>
            <a:r>
              <a:rPr kumimoji="0" lang="en-US" altLang="en-US" b="0" i="0" u="none" strike="noStrike" cap="none" normalizeH="0" baseline="0" dirty="0">
                <a:ln>
                  <a:noFill/>
                </a:ln>
                <a:solidFill>
                  <a:schemeClr val="tx1">
                    <a:lumMod val="75000"/>
                    <a:lumOff val="25000"/>
                  </a:schemeClr>
                </a:solidFill>
                <a:effectLst/>
              </a:rPr>
              <a:t>: Pump P-101, valve MV-301, pump P-102</a:t>
            </a:r>
          </a:p>
          <a:p>
            <a:pPr lvl="1" defTabSz="914400" fontAlgn="base">
              <a:lnSpc>
                <a:spcPct val="90000"/>
              </a:lnSpc>
              <a:spcBef>
                <a:spcPct val="0"/>
              </a:spcBef>
              <a:spcAft>
                <a:spcPts val="600"/>
              </a:spcAft>
              <a:buClr>
                <a:schemeClr val="accent1"/>
              </a:buClr>
              <a:buFont typeface="Calibri" panose="020F0502020204030204" pitchFamily="34" charset="0"/>
              <a:buChar char="•"/>
            </a:pPr>
            <a:r>
              <a:rPr kumimoji="0" lang="en-US" altLang="en-US" b="0" i="0" u="none" strike="noStrike" cap="none" normalizeH="0" baseline="0" dirty="0">
                <a:ln>
                  <a:noFill/>
                </a:ln>
                <a:solidFill>
                  <a:schemeClr val="tx1">
                    <a:lumMod val="75000"/>
                    <a:lumOff val="25000"/>
                  </a:schemeClr>
                </a:solidFill>
                <a:effectLst/>
              </a:rPr>
              <a:t> PLC-1: Manages T-201: opens pump at low level, stops at high level</a:t>
            </a:r>
          </a:p>
          <a:p>
            <a:pPr lvl="1" defTabSz="914400" fontAlgn="base">
              <a:lnSpc>
                <a:spcPct val="90000"/>
              </a:lnSpc>
              <a:spcBef>
                <a:spcPct val="0"/>
              </a:spcBef>
              <a:spcAft>
                <a:spcPts val="600"/>
              </a:spcAft>
              <a:buClr>
                <a:schemeClr val="accent1"/>
              </a:buClr>
              <a:buFont typeface="Calibri" panose="020F0502020204030204" pitchFamily="34" charset="0"/>
              <a:buChar char="•"/>
            </a:pPr>
            <a:r>
              <a:rPr kumimoji="0" lang="en-US" altLang="en-US" b="0" i="0" u="none" strike="noStrike" cap="none" normalizeH="0" baseline="0" dirty="0">
                <a:ln>
                  <a:noFill/>
                </a:ln>
                <a:solidFill>
                  <a:schemeClr val="tx1">
                    <a:lumMod val="75000"/>
                    <a:lumOff val="25000"/>
                  </a:schemeClr>
                </a:solidFill>
                <a:effectLst/>
              </a:rPr>
              <a:t> PLC-2: Requests PLC-1 to open/close valve for T-201 -&gt; T-202 flow</a:t>
            </a:r>
          </a:p>
          <a:p>
            <a:pPr lvl="1" defTabSz="914400" fontAlgn="base">
              <a:lnSpc>
                <a:spcPct val="90000"/>
              </a:lnSpc>
              <a:spcBef>
                <a:spcPct val="0"/>
              </a:spcBef>
              <a:spcAft>
                <a:spcPts val="600"/>
              </a:spcAft>
              <a:buClr>
                <a:schemeClr val="accent1"/>
              </a:buClr>
              <a:buFont typeface="Calibri" panose="020F0502020204030204" pitchFamily="34" charset="0"/>
              <a:buChar char="•"/>
            </a:pPr>
            <a:r>
              <a:rPr lang="en-US" altLang="en-US" dirty="0">
                <a:solidFill>
                  <a:schemeClr val="tx1">
                    <a:lumMod val="75000"/>
                    <a:lumOff val="25000"/>
                  </a:schemeClr>
                </a:solidFill>
              </a:rPr>
              <a:t> PLC-3: Monitors T-203; opens valve to drain into T-202 at high level</a:t>
            </a:r>
          </a:p>
          <a:p>
            <a:pPr lvl="1" defTabSz="914400" fontAlgn="base">
              <a:lnSpc>
                <a:spcPct val="90000"/>
              </a:lnSpc>
              <a:spcBef>
                <a:spcPct val="0"/>
              </a:spcBef>
              <a:spcAft>
                <a:spcPts val="600"/>
              </a:spcAft>
              <a:buClr>
                <a:schemeClr val="accent1"/>
              </a:buClr>
            </a:pPr>
            <a:endParaRPr lang="en-US" dirty="0"/>
          </a:p>
          <a:p>
            <a:pPr marL="285750" indent="-285750">
              <a:buClr>
                <a:schemeClr val="accent1">
                  <a:lumMod val="60000"/>
                  <a:lumOff val="40000"/>
                </a:schemeClr>
              </a:buClr>
              <a:buFont typeface="Wingdings" panose="05000000000000000000" pitchFamily="2" charset="2"/>
              <a:buChar char="§"/>
            </a:pPr>
            <a:r>
              <a:rPr lang="en-US" dirty="0"/>
              <a:t>📡 </a:t>
            </a:r>
            <a:r>
              <a:rPr lang="en-US" b="1" dirty="0"/>
              <a:t>Protocol</a:t>
            </a:r>
            <a:r>
              <a:rPr lang="en-US" dirty="0"/>
              <a:t>: PLCs communicate via </a:t>
            </a:r>
            <a:r>
              <a:rPr lang="en-US" b="1" dirty="0"/>
              <a:t>Modbus</a:t>
            </a:r>
          </a:p>
          <a:p>
            <a:endParaRPr lang="en-US" dirty="0"/>
          </a:p>
          <a:p>
            <a:pPr marL="285750" indent="-285750">
              <a:buClr>
                <a:srgbClr val="FFC000"/>
              </a:buClr>
              <a:buFont typeface="Arial" panose="020B0604020202020204" pitchFamily="34" charset="0"/>
              <a:buChar char="•"/>
            </a:pPr>
            <a:r>
              <a:rPr lang="en-US" dirty="0"/>
              <a:t>🖥️ </a:t>
            </a:r>
            <a:r>
              <a:rPr lang="en-US" b="1" dirty="0"/>
              <a:t>HMI Interface</a:t>
            </a:r>
            <a:r>
              <a:rPr lang="en-US" dirty="0"/>
              <a:t>: Displays tank levels (T-201, T-202, T-203), valve states, </a:t>
            </a:r>
          </a:p>
          <a:p>
            <a:r>
              <a:rPr lang="en-US" dirty="0"/>
              <a:t>and pump statuses</a:t>
            </a:r>
          </a:p>
          <a:p>
            <a:pPr marL="285750" indent="-285750">
              <a:buClr>
                <a:srgbClr val="FFC000"/>
              </a:buClr>
              <a:buFont typeface="Arial" panose="020B0604020202020204" pitchFamily="34" charset="0"/>
              <a:buChar char="•"/>
            </a:pPr>
            <a:r>
              <a:rPr lang="en-US" dirty="0"/>
              <a:t>🔐 </a:t>
            </a:r>
            <a:r>
              <a:rPr lang="en-US" b="1" dirty="0"/>
              <a:t>Design Constraint</a:t>
            </a:r>
            <a:r>
              <a:rPr lang="en-US" dirty="0"/>
              <a:t>: Coordination required to prevent overflow at T-202 during transfers</a:t>
            </a:r>
          </a:p>
          <a:p>
            <a:pPr marL="0" marR="0" lvl="0" indent="0" defTabSz="914400" fontAlgn="base">
              <a:lnSpc>
                <a:spcPct val="90000"/>
              </a:lnSpc>
              <a:spcBef>
                <a:spcPct val="0"/>
              </a:spcBef>
              <a:spcAft>
                <a:spcPts val="600"/>
              </a:spcAft>
              <a:buClr>
                <a:schemeClr val="accent1"/>
              </a:buClr>
              <a:buSzTx/>
              <a:buFont typeface="Calibri" panose="020F0502020204030204" pitchFamily="34" charset="0"/>
              <a:buChar char="•"/>
              <a:tabLst/>
            </a:pPr>
            <a:endParaRPr kumimoji="0" lang="en-US" altLang="en-US" b="0" i="0" u="none" strike="noStrike" cap="none" normalizeH="0" baseline="0" dirty="0">
              <a:ln>
                <a:noFill/>
              </a:ln>
              <a:solidFill>
                <a:schemeClr val="tx1">
                  <a:lumMod val="75000"/>
                  <a:lumOff val="25000"/>
                </a:schemeClr>
              </a:solidFill>
              <a:effectLst/>
            </a:endParaRPr>
          </a:p>
        </p:txBody>
      </p:sp>
    </p:spTree>
    <p:extLst>
      <p:ext uri="{BB962C8B-B14F-4D97-AF65-F5344CB8AC3E}">
        <p14:creationId xmlns:p14="http://schemas.microsoft.com/office/powerpoint/2010/main" val="318664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B8628-6F3D-5940-26CD-324D1BC5E198}"/>
              </a:ext>
            </a:extLst>
          </p:cNvPr>
          <p:cNvSpPr>
            <a:spLocks noGrp="1"/>
          </p:cNvSpPr>
          <p:nvPr>
            <p:ph type="title"/>
          </p:nvPr>
        </p:nvSpPr>
        <p:spPr/>
        <p:txBody>
          <a:bodyPr/>
          <a:lstStyle/>
          <a:p>
            <a:r>
              <a:rPr lang="en-US" dirty="0"/>
              <a:t>Network Layer</a:t>
            </a:r>
          </a:p>
        </p:txBody>
      </p:sp>
      <p:graphicFrame>
        <p:nvGraphicFramePr>
          <p:cNvPr id="5" name="Content Placeholder 2">
            <a:extLst>
              <a:ext uri="{FF2B5EF4-FFF2-40B4-BE49-F238E27FC236}">
                <a16:creationId xmlns:a16="http://schemas.microsoft.com/office/drawing/2014/main" id="{3D7BF6A5-906B-AF33-64E0-C6EB0EBBC7EB}"/>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7436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10EF0-F6BF-023B-7AAE-F00535017132}"/>
              </a:ext>
            </a:extLst>
          </p:cNvPr>
          <p:cNvSpPr>
            <a:spLocks noGrp="1"/>
          </p:cNvSpPr>
          <p:nvPr>
            <p:ph type="title"/>
          </p:nvPr>
        </p:nvSpPr>
        <p:spPr/>
        <p:txBody>
          <a:bodyPr/>
          <a:lstStyle/>
          <a:p>
            <a:r>
              <a:rPr lang="en-US" dirty="0"/>
              <a:t>Implementation Details</a:t>
            </a:r>
          </a:p>
        </p:txBody>
      </p:sp>
      <p:sp>
        <p:nvSpPr>
          <p:cNvPr id="3" name="Content Placeholder 2">
            <a:extLst>
              <a:ext uri="{FF2B5EF4-FFF2-40B4-BE49-F238E27FC236}">
                <a16:creationId xmlns:a16="http://schemas.microsoft.com/office/drawing/2014/main" id="{079DD57A-5AE6-717C-2414-C6D4B8620366}"/>
              </a:ext>
            </a:extLst>
          </p:cNvPr>
          <p:cNvSpPr>
            <a:spLocks noGrp="1"/>
          </p:cNvSpPr>
          <p:nvPr>
            <p:ph idx="1"/>
          </p:nvPr>
        </p:nvSpPr>
        <p:spPr/>
        <p:txBody>
          <a:bodyPr>
            <a:normAutofit fontScale="92500" lnSpcReduction="10000"/>
          </a:bodyPr>
          <a:lstStyle/>
          <a:p>
            <a:pPr>
              <a:buFont typeface="Wingdings" panose="05000000000000000000" pitchFamily="2" charset="2"/>
              <a:buChar char="q"/>
            </a:pPr>
            <a:r>
              <a:rPr lang="en-US" dirty="0"/>
              <a:t> Honeyd:</a:t>
            </a:r>
          </a:p>
          <a:p>
            <a:pPr lvl="1">
              <a:buFont typeface="Wingdings" panose="05000000000000000000" pitchFamily="2" charset="2"/>
              <a:buChar char="q"/>
            </a:pPr>
            <a:r>
              <a:rPr lang="en-US" dirty="0"/>
              <a:t>Simulate the TCP/IP stack of a target device such as PLCs to respond to Nmap scans.</a:t>
            </a:r>
          </a:p>
          <a:p>
            <a:pPr lvl="1">
              <a:buFont typeface="Wingdings" panose="05000000000000000000" pitchFamily="2" charset="2"/>
              <a:buChar char="q"/>
            </a:pPr>
            <a:r>
              <a:rPr lang="en-US" dirty="0"/>
              <a:t> integrated HoneyPLC profiles to support multiple PLC models (the five mentioned in HoneyPLC paper).</a:t>
            </a:r>
          </a:p>
          <a:p>
            <a:pPr>
              <a:buFont typeface="Wingdings" panose="05000000000000000000" pitchFamily="2" charset="2"/>
              <a:buChar char="q"/>
            </a:pPr>
            <a:r>
              <a:rPr lang="en-US" dirty="0"/>
              <a:t> </a:t>
            </a:r>
            <a:r>
              <a:rPr lang="en-US" dirty="0" err="1"/>
              <a:t>OpenPLC</a:t>
            </a:r>
            <a:r>
              <a:rPr lang="en-US" dirty="0"/>
              <a:t>: implement high-interaction physics aware honeypot which is an open-source solution for PLC virtualization</a:t>
            </a:r>
          </a:p>
          <a:p>
            <a:pPr lvl="1">
              <a:buFont typeface="Wingdings" panose="05000000000000000000" pitchFamily="2" charset="2"/>
              <a:buChar char="q"/>
            </a:pPr>
            <a:r>
              <a:rPr lang="en-US" dirty="0"/>
              <a:t> The network layer of </a:t>
            </a:r>
            <a:r>
              <a:rPr lang="en-US" dirty="0" err="1"/>
              <a:t>OpenPLC</a:t>
            </a:r>
            <a:r>
              <a:rPr lang="en-US" dirty="0"/>
              <a:t> is responsible for establishing and maintaining network connections over Modbus.</a:t>
            </a:r>
          </a:p>
          <a:p>
            <a:pPr lvl="1">
              <a:buFont typeface="Wingdings" panose="05000000000000000000" pitchFamily="2" charset="2"/>
              <a:buChar char="q"/>
            </a:pPr>
            <a:r>
              <a:rPr lang="en-US" dirty="0"/>
              <a:t> So, requests from scanning tools are handled by Honeyd, while requests received via ICS network protocols (such as register manipulation), and handled by </a:t>
            </a:r>
            <a:r>
              <a:rPr lang="en-US" dirty="0" err="1"/>
              <a:t>OpenPLC</a:t>
            </a:r>
            <a:r>
              <a:rPr lang="en-US" dirty="0"/>
              <a:t>.</a:t>
            </a:r>
          </a:p>
          <a:p>
            <a:pPr lvl="1">
              <a:buFont typeface="Wingdings" panose="05000000000000000000" pitchFamily="2" charset="2"/>
              <a:buChar char="q"/>
            </a:pPr>
            <a:r>
              <a:rPr lang="en-US" dirty="0"/>
              <a:t> </a:t>
            </a:r>
            <a:r>
              <a:rPr lang="en-US" dirty="0" err="1"/>
              <a:t>OpenPLC</a:t>
            </a:r>
            <a:r>
              <a:rPr lang="en-US" dirty="0"/>
              <a:t> is integrated into the </a:t>
            </a:r>
            <a:r>
              <a:rPr lang="en-US" b="1" dirty="0"/>
              <a:t>subsystem virtualization component provided by Honeyd</a:t>
            </a:r>
          </a:p>
          <a:p>
            <a:pPr>
              <a:buFont typeface="Wingdings" panose="05000000000000000000" pitchFamily="2" charset="2"/>
              <a:buChar char="q"/>
            </a:pPr>
            <a:r>
              <a:rPr lang="en-US" dirty="0"/>
              <a:t> </a:t>
            </a:r>
            <a:r>
              <a:rPr lang="en-US" dirty="0" err="1"/>
              <a:t>ScadaBR</a:t>
            </a:r>
            <a:r>
              <a:rPr lang="en-US" dirty="0"/>
              <a:t>: implement HMI components.</a:t>
            </a:r>
          </a:p>
          <a:p>
            <a:pPr lvl="1">
              <a:buFont typeface="Wingdings" panose="05000000000000000000" pitchFamily="2" charset="2"/>
              <a:buChar char="q"/>
            </a:pPr>
            <a:r>
              <a:rPr lang="en-US" dirty="0"/>
              <a:t> The credentials for HMI is so weak: admin/admin</a:t>
            </a:r>
          </a:p>
          <a:p>
            <a:pPr>
              <a:buFont typeface="Wingdings" panose="05000000000000000000" pitchFamily="2" charset="2"/>
              <a:buChar char="q"/>
            </a:pPr>
            <a:r>
              <a:rPr lang="en-US" dirty="0"/>
              <a:t>Simulink is used to emulate simplified water treatment plant.</a:t>
            </a:r>
          </a:p>
        </p:txBody>
      </p:sp>
    </p:spTree>
    <p:extLst>
      <p:ext uri="{BB962C8B-B14F-4D97-AF65-F5344CB8AC3E}">
        <p14:creationId xmlns:p14="http://schemas.microsoft.com/office/powerpoint/2010/main" val="209823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E7C7-0FA0-50D2-F9EA-BCEFD22C6AF1}"/>
              </a:ext>
            </a:extLst>
          </p:cNvPr>
          <p:cNvSpPr>
            <a:spLocks noGrp="1"/>
          </p:cNvSpPr>
          <p:nvPr>
            <p:ph type="title"/>
          </p:nvPr>
        </p:nvSpPr>
        <p:spPr/>
        <p:txBody>
          <a:bodyPr/>
          <a:lstStyle/>
          <a:p>
            <a:r>
              <a:rPr lang="en-US" dirty="0"/>
              <a:t>More implementation details</a:t>
            </a:r>
          </a:p>
        </p:txBody>
      </p:sp>
      <p:sp>
        <p:nvSpPr>
          <p:cNvPr id="3" name="Content Placeholder 2">
            <a:extLst>
              <a:ext uri="{FF2B5EF4-FFF2-40B4-BE49-F238E27FC236}">
                <a16:creationId xmlns:a16="http://schemas.microsoft.com/office/drawing/2014/main" id="{ABB0CF13-7A19-86DE-2E67-8B19B5534EBF}"/>
              </a:ext>
            </a:extLst>
          </p:cNvPr>
          <p:cNvSpPr>
            <a:spLocks noGrp="1"/>
          </p:cNvSpPr>
          <p:nvPr>
            <p:ph idx="1"/>
          </p:nvPr>
        </p:nvSpPr>
        <p:spPr/>
        <p:txBody>
          <a:bodyPr/>
          <a:lstStyle/>
          <a:p>
            <a:pPr>
              <a:buFont typeface="Wingdings" panose="05000000000000000000" pitchFamily="2" charset="2"/>
              <a:buChar char="q"/>
            </a:pPr>
            <a:r>
              <a:rPr lang="en-US" dirty="0"/>
              <a:t> Each component is implemented in a dedicated docker container</a:t>
            </a:r>
          </a:p>
          <a:p>
            <a:pPr marL="544068" lvl="1" indent="-342900">
              <a:buFont typeface="+mj-lt"/>
              <a:buAutoNum type="arabicPeriod"/>
            </a:pPr>
            <a:r>
              <a:rPr lang="en-US" dirty="0"/>
              <a:t>PLC containers</a:t>
            </a:r>
          </a:p>
          <a:p>
            <a:pPr marL="544068" lvl="1" indent="-342900">
              <a:buFont typeface="+mj-lt"/>
              <a:buAutoNum type="arabicPeriod"/>
            </a:pPr>
            <a:r>
              <a:rPr lang="en-US" dirty="0"/>
              <a:t>HMI containers</a:t>
            </a:r>
          </a:p>
          <a:p>
            <a:pPr marL="544068" lvl="1" indent="-342900">
              <a:buFont typeface="+mj-lt"/>
              <a:buAutoNum type="arabicPeriod"/>
            </a:pPr>
            <a:r>
              <a:rPr lang="en-US" dirty="0"/>
              <a:t>Physical plant container</a:t>
            </a:r>
          </a:p>
          <a:p>
            <a:pPr marL="544068" lvl="1" indent="-342900">
              <a:buFont typeface="+mj-lt"/>
              <a:buAutoNum type="arabicPeriod"/>
            </a:pPr>
            <a:r>
              <a:rPr lang="en-US" dirty="0"/>
              <a:t>Supervisory Control Network</a:t>
            </a:r>
          </a:p>
          <a:p>
            <a:pPr marL="544068" lvl="1" indent="-342900">
              <a:buFont typeface="+mj-lt"/>
              <a:buAutoNum type="arabicPeriod"/>
            </a:pPr>
            <a:r>
              <a:rPr lang="en-US" dirty="0"/>
              <a:t>Management &amp; Monitoring Dashboard</a:t>
            </a:r>
          </a:p>
        </p:txBody>
      </p:sp>
    </p:spTree>
    <p:extLst>
      <p:ext uri="{BB962C8B-B14F-4D97-AF65-F5344CB8AC3E}">
        <p14:creationId xmlns:p14="http://schemas.microsoft.com/office/powerpoint/2010/main" val="934173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7BABD-FEED-7EF7-BAF9-18B045C7968F}"/>
              </a:ext>
            </a:extLst>
          </p:cNvPr>
          <p:cNvSpPr>
            <a:spLocks noGrp="1"/>
          </p:cNvSpPr>
          <p:nvPr>
            <p:ph type="title"/>
          </p:nvPr>
        </p:nvSpPr>
        <p:spPr/>
        <p:txBody>
          <a:bodyPr/>
          <a:lstStyle/>
          <a:p>
            <a:r>
              <a:rPr lang="en-US" dirty="0"/>
              <a:t>PLC containers</a:t>
            </a:r>
          </a:p>
        </p:txBody>
      </p:sp>
      <p:sp>
        <p:nvSpPr>
          <p:cNvPr id="3" name="Content Placeholder 2">
            <a:extLst>
              <a:ext uri="{FF2B5EF4-FFF2-40B4-BE49-F238E27FC236}">
                <a16:creationId xmlns:a16="http://schemas.microsoft.com/office/drawing/2014/main" id="{45A70737-CB95-2066-D25B-9FD922A97FFA}"/>
              </a:ext>
            </a:extLst>
          </p:cNvPr>
          <p:cNvSpPr>
            <a:spLocks noGrp="1"/>
          </p:cNvSpPr>
          <p:nvPr>
            <p:ph idx="1"/>
          </p:nvPr>
        </p:nvSpPr>
        <p:spPr/>
        <p:txBody>
          <a:bodyPr>
            <a:normAutofit lnSpcReduction="10000"/>
          </a:bodyPr>
          <a:lstStyle/>
          <a:p>
            <a:pPr>
              <a:buFont typeface="Wingdings" panose="05000000000000000000" pitchFamily="2" charset="2"/>
              <a:buChar char="q"/>
            </a:pPr>
            <a:r>
              <a:rPr lang="en-US" dirty="0"/>
              <a:t> They implemented 3 software PLCs</a:t>
            </a:r>
          </a:p>
          <a:p>
            <a:pPr>
              <a:buFont typeface="Wingdings" panose="05000000000000000000" pitchFamily="2" charset="2"/>
              <a:buChar char="q"/>
            </a:pPr>
            <a:r>
              <a:rPr lang="en-US" dirty="0"/>
              <a:t> Each container running both </a:t>
            </a:r>
            <a:r>
              <a:rPr lang="en-US" b="1" dirty="0"/>
              <a:t>low-interaction </a:t>
            </a:r>
            <a:r>
              <a:rPr lang="en-US" dirty="0"/>
              <a:t>( relies of </a:t>
            </a:r>
            <a:r>
              <a:rPr lang="en-US" b="1" dirty="0"/>
              <a:t>Honeyd </a:t>
            </a:r>
            <a:r>
              <a:rPr lang="en-US" dirty="0"/>
              <a:t>which simulates the TCP/IP stack) and </a:t>
            </a:r>
            <a:r>
              <a:rPr lang="en-US" b="1" dirty="0"/>
              <a:t>high-interaction  </a:t>
            </a:r>
            <a:r>
              <a:rPr lang="en-US" dirty="0"/>
              <a:t>( relies on </a:t>
            </a:r>
            <a:r>
              <a:rPr lang="en-US" b="1" dirty="0" err="1"/>
              <a:t>OpenPLC</a:t>
            </a:r>
            <a:r>
              <a:rPr lang="en-US" b="1" dirty="0"/>
              <a:t> </a:t>
            </a:r>
            <a:r>
              <a:rPr lang="en-US" dirty="0"/>
              <a:t>by establishing and maintaining network over Modbus by accessing the I/O image tables and PLC registers. )</a:t>
            </a:r>
          </a:p>
          <a:p>
            <a:pPr>
              <a:buFont typeface="Wingdings" panose="05000000000000000000" pitchFamily="2" charset="2"/>
              <a:buChar char="q"/>
            </a:pPr>
            <a:r>
              <a:rPr lang="en-US" dirty="0"/>
              <a:t>Also, They support multiple PLC models by integrating HoneyPLC </a:t>
            </a:r>
            <a:r>
              <a:rPr lang="en-US" dirty="0" err="1"/>
              <a:t>finderprints</a:t>
            </a:r>
            <a:r>
              <a:rPr lang="en-US" dirty="0"/>
              <a:t> into Honeyd fingerprint database.</a:t>
            </a:r>
          </a:p>
          <a:p>
            <a:pPr>
              <a:buFont typeface="Wingdings" panose="05000000000000000000" pitchFamily="2" charset="2"/>
              <a:buChar char="q"/>
            </a:pPr>
            <a:r>
              <a:rPr lang="en-US" dirty="0"/>
              <a:t>Notice that they integrated </a:t>
            </a:r>
            <a:r>
              <a:rPr lang="en-US" dirty="0" err="1"/>
              <a:t>OpenPLC</a:t>
            </a:r>
            <a:r>
              <a:rPr lang="en-US" dirty="0"/>
              <a:t> into </a:t>
            </a:r>
            <a:r>
              <a:rPr lang="en-US" dirty="0" err="1"/>
              <a:t>honeyd</a:t>
            </a:r>
            <a:r>
              <a:rPr lang="en-US" dirty="0"/>
              <a:t> using the subsystem virtualization provided by </a:t>
            </a:r>
            <a:r>
              <a:rPr lang="en-US" dirty="0" err="1"/>
              <a:t>HoenyD</a:t>
            </a:r>
            <a:r>
              <a:rPr lang="en-US" dirty="0"/>
              <a:t>, which allows </a:t>
            </a:r>
            <a:r>
              <a:rPr lang="en-US" dirty="0" err="1"/>
              <a:t>honeyD</a:t>
            </a:r>
            <a:r>
              <a:rPr lang="en-US" dirty="0"/>
              <a:t> to run scripts acting like real services. </a:t>
            </a:r>
          </a:p>
          <a:p>
            <a:pPr>
              <a:buFont typeface="Wingdings" panose="05000000000000000000" pitchFamily="2" charset="2"/>
              <a:buChar char="q"/>
            </a:pPr>
            <a:r>
              <a:rPr lang="en-US" dirty="0"/>
              <a:t> They deployed in each PLC a broker to connect PLCs with each other</a:t>
            </a:r>
          </a:p>
          <a:p>
            <a:pPr lvl="1">
              <a:buFont typeface="Wingdings" panose="05000000000000000000" pitchFamily="2" charset="2"/>
              <a:buChar char="q"/>
            </a:pPr>
            <a:r>
              <a:rPr lang="en-US" dirty="0"/>
              <a:t> PLC-HMI connections is already supported by </a:t>
            </a:r>
            <a:r>
              <a:rPr lang="en-US" dirty="0" err="1"/>
              <a:t>OpenPLC</a:t>
            </a:r>
            <a:r>
              <a:rPr lang="en-US" dirty="0"/>
              <a:t>, and </a:t>
            </a:r>
            <a:r>
              <a:rPr lang="en-US" dirty="0" err="1"/>
              <a:t>ScadaBR</a:t>
            </a:r>
            <a:r>
              <a:rPr lang="en-US" dirty="0"/>
              <a:t>)</a:t>
            </a:r>
          </a:p>
          <a:p>
            <a:pPr lvl="1">
              <a:buFont typeface="Wingdings" panose="05000000000000000000" pitchFamily="2" charset="2"/>
              <a:buChar char="q"/>
            </a:pPr>
            <a:r>
              <a:rPr lang="en-US" dirty="0"/>
              <a:t>When a PLC requires to transmit a message to another PLC, it writes the message in a dedicated register in its memory; the broker copies the value in this register into an associated register of the receiving PLC</a:t>
            </a:r>
          </a:p>
        </p:txBody>
      </p:sp>
    </p:spTree>
    <p:extLst>
      <p:ext uri="{BB962C8B-B14F-4D97-AF65-F5344CB8AC3E}">
        <p14:creationId xmlns:p14="http://schemas.microsoft.com/office/powerpoint/2010/main" val="2636307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E7031-8672-79B0-3E60-862B6490D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4344-CD72-FF48-6489-5BC1E0519190}"/>
              </a:ext>
            </a:extLst>
          </p:cNvPr>
          <p:cNvSpPr>
            <a:spLocks noGrp="1"/>
          </p:cNvSpPr>
          <p:nvPr>
            <p:ph type="title"/>
          </p:nvPr>
        </p:nvSpPr>
        <p:spPr/>
        <p:txBody>
          <a:bodyPr/>
          <a:lstStyle/>
          <a:p>
            <a:r>
              <a:rPr lang="en-US" dirty="0"/>
              <a:t>HMI containers</a:t>
            </a:r>
          </a:p>
        </p:txBody>
      </p:sp>
      <p:sp>
        <p:nvSpPr>
          <p:cNvPr id="3" name="Content Placeholder 2">
            <a:extLst>
              <a:ext uri="{FF2B5EF4-FFF2-40B4-BE49-F238E27FC236}">
                <a16:creationId xmlns:a16="http://schemas.microsoft.com/office/drawing/2014/main" id="{E8BB6945-E2D3-739A-58B0-B54E55E828D2}"/>
              </a:ext>
            </a:extLst>
          </p:cNvPr>
          <p:cNvSpPr>
            <a:spLocks noGrp="1"/>
          </p:cNvSpPr>
          <p:nvPr>
            <p:ph idx="1"/>
          </p:nvPr>
        </p:nvSpPr>
        <p:spPr/>
        <p:txBody>
          <a:bodyPr>
            <a:normAutofit/>
          </a:bodyPr>
          <a:lstStyle/>
          <a:p>
            <a:pPr>
              <a:buFont typeface="Wingdings" panose="05000000000000000000" pitchFamily="2" charset="2"/>
              <a:buChar char="q"/>
            </a:pPr>
            <a:r>
              <a:rPr lang="en-US" dirty="0"/>
              <a:t> They created a container and installed on it </a:t>
            </a:r>
            <a:r>
              <a:rPr lang="en-US" dirty="0" err="1"/>
              <a:t>ScadaBR</a:t>
            </a:r>
            <a:r>
              <a:rPr lang="en-US" dirty="0"/>
              <a:t> which allows drag-and-drop SCADA interface and can interact with several PLC brands</a:t>
            </a:r>
          </a:p>
          <a:p>
            <a:pPr>
              <a:buFont typeface="Wingdings" panose="05000000000000000000" pitchFamily="2" charset="2"/>
              <a:buChar char="q"/>
            </a:pPr>
            <a:r>
              <a:rPr lang="en-US" dirty="0"/>
              <a:t> </a:t>
            </a:r>
            <a:r>
              <a:rPr lang="en-US" dirty="0" err="1"/>
              <a:t>ScadaBR</a:t>
            </a:r>
            <a:r>
              <a:rPr lang="en-US" dirty="0"/>
              <a:t> get the data by connecting them to the software PLCs using Modbus protocol, which are used to fill data sources and data points in </a:t>
            </a:r>
            <a:r>
              <a:rPr lang="en-US" dirty="0" err="1"/>
              <a:t>ScadaBR</a:t>
            </a:r>
            <a:r>
              <a:rPr lang="en-US" dirty="0"/>
              <a:t>, then it shows them in its interface.</a:t>
            </a:r>
          </a:p>
          <a:p>
            <a:pPr>
              <a:buFont typeface="Wingdings" panose="05000000000000000000" pitchFamily="2" charset="2"/>
              <a:buChar char="q"/>
            </a:pPr>
            <a:r>
              <a:rPr lang="en-US" dirty="0"/>
              <a:t> Attacker can access the web-interface hosted on TCP port 9090, and the authentication is with weak credentials (admin/admin)</a:t>
            </a:r>
          </a:p>
          <a:p>
            <a:pPr>
              <a:buFont typeface="Wingdings" panose="05000000000000000000" pitchFamily="2" charset="2"/>
              <a:buChar char="q"/>
            </a:pPr>
            <a:r>
              <a:rPr lang="en-US" dirty="0"/>
              <a:t> Communication in HMIs are built-in and does not need dedicated broker as in PLCs.</a:t>
            </a:r>
          </a:p>
          <a:p>
            <a:pPr>
              <a:buFont typeface="Wingdings" panose="05000000000000000000" pitchFamily="2" charset="2"/>
              <a:buChar char="q"/>
            </a:pPr>
            <a:r>
              <a:rPr lang="en-US" dirty="0"/>
              <a:t> They installed a </a:t>
            </a:r>
            <a:r>
              <a:rPr lang="en-US" b="1" dirty="0"/>
              <a:t>version 1.0CE </a:t>
            </a:r>
            <a:r>
              <a:rPr lang="en-US" dirty="0"/>
              <a:t>which is exposed to a known vulnerability (CVE-2021-26828) which allows authenticated attacker to execute arbitrary code on the targeted system by uploading malicious </a:t>
            </a:r>
            <a:r>
              <a:rPr lang="en-US" b="1" dirty="0"/>
              <a:t>.</a:t>
            </a:r>
            <a:r>
              <a:rPr lang="en-US" b="1" dirty="0" err="1"/>
              <a:t>jsp</a:t>
            </a:r>
            <a:r>
              <a:rPr lang="en-US" b="1" dirty="0"/>
              <a:t> file </a:t>
            </a:r>
            <a:r>
              <a:rPr lang="en-US" dirty="0"/>
              <a:t>through </a:t>
            </a:r>
            <a:r>
              <a:rPr lang="en-US" b="1" dirty="0" err="1"/>
              <a:t>view_edit.shtm</a:t>
            </a:r>
            <a:r>
              <a:rPr lang="en-US" b="1" dirty="0"/>
              <a:t> page</a:t>
            </a:r>
          </a:p>
          <a:p>
            <a:pPr>
              <a:buFont typeface="Wingdings" panose="05000000000000000000" pitchFamily="2" charset="2"/>
              <a:buChar char="q"/>
            </a:pPr>
            <a:r>
              <a:rPr lang="en-US" b="1" dirty="0"/>
              <a:t> </a:t>
            </a:r>
            <a:r>
              <a:rPr lang="en-US" dirty="0"/>
              <a:t>containers are equipped with a probe built on security forensics tool called </a:t>
            </a:r>
            <a:r>
              <a:rPr lang="en-US" dirty="0" err="1"/>
              <a:t>Aquasecurity</a:t>
            </a:r>
            <a:r>
              <a:rPr lang="en-US" dirty="0"/>
              <a:t>. </a:t>
            </a:r>
            <a:endParaRPr lang="en-US" b="1" dirty="0"/>
          </a:p>
        </p:txBody>
      </p:sp>
    </p:spTree>
    <p:extLst>
      <p:ext uri="{BB962C8B-B14F-4D97-AF65-F5344CB8AC3E}">
        <p14:creationId xmlns:p14="http://schemas.microsoft.com/office/powerpoint/2010/main" val="686009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4DE24-635D-A2AC-B73E-FE00BE107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7EC00-25A4-B1EE-34D0-73C57E81A2E2}"/>
              </a:ext>
            </a:extLst>
          </p:cNvPr>
          <p:cNvSpPr>
            <a:spLocks noGrp="1"/>
          </p:cNvSpPr>
          <p:nvPr>
            <p:ph type="title"/>
          </p:nvPr>
        </p:nvSpPr>
        <p:spPr/>
        <p:txBody>
          <a:bodyPr/>
          <a:lstStyle/>
          <a:p>
            <a:r>
              <a:rPr lang="en-US" dirty="0"/>
              <a:t>Physical Plant Container</a:t>
            </a:r>
          </a:p>
        </p:txBody>
      </p:sp>
      <p:sp>
        <p:nvSpPr>
          <p:cNvPr id="3" name="Content Placeholder 2">
            <a:extLst>
              <a:ext uri="{FF2B5EF4-FFF2-40B4-BE49-F238E27FC236}">
                <a16:creationId xmlns:a16="http://schemas.microsoft.com/office/drawing/2014/main" id="{19C9EAAA-75B1-BC0C-867B-FBAD9A61A7D2}"/>
              </a:ext>
            </a:extLst>
          </p:cNvPr>
          <p:cNvSpPr>
            <a:spLocks noGrp="1"/>
          </p:cNvSpPr>
          <p:nvPr>
            <p:ph idx="1"/>
          </p:nvPr>
        </p:nvSpPr>
        <p:spPr/>
        <p:txBody>
          <a:bodyPr>
            <a:normAutofit/>
          </a:bodyPr>
          <a:lstStyle/>
          <a:p>
            <a:pPr>
              <a:buFont typeface="Wingdings" panose="05000000000000000000" pitchFamily="2" charset="2"/>
              <a:buChar char="q"/>
            </a:pPr>
            <a:r>
              <a:rPr lang="en-US" dirty="0"/>
              <a:t> They emulate simplified water treatment plant using Simulink</a:t>
            </a:r>
          </a:p>
          <a:p>
            <a:pPr>
              <a:buFont typeface="Wingdings" panose="05000000000000000000" pitchFamily="2" charset="2"/>
              <a:buChar char="q"/>
            </a:pPr>
            <a:r>
              <a:rPr lang="en-US" dirty="0"/>
              <a:t> Simulink is a widely adopted framework that simulate, and analyze ICS.</a:t>
            </a:r>
          </a:p>
          <a:p>
            <a:pPr>
              <a:buFont typeface="Wingdings" panose="05000000000000000000" pitchFamily="2" charset="2"/>
              <a:buChar char="q"/>
            </a:pPr>
            <a:r>
              <a:rPr lang="en-US" dirty="0"/>
              <a:t> They run it inside Debian-based Docker container, which includes </a:t>
            </a:r>
            <a:r>
              <a:rPr lang="en-US" dirty="0" err="1"/>
              <a:t>MatLab</a:t>
            </a:r>
            <a:r>
              <a:rPr lang="en-US" dirty="0"/>
              <a:t> and the needed toolboxes.</a:t>
            </a:r>
          </a:p>
          <a:p>
            <a:pPr>
              <a:buFont typeface="Wingdings" panose="05000000000000000000" pitchFamily="2" charset="2"/>
              <a:buChar char="q"/>
            </a:pPr>
            <a:r>
              <a:rPr lang="en-US" dirty="0"/>
              <a:t> They also implemented another broker to simulate the field communications network connecting the physical plant with the PLCs, using C++ script called </a:t>
            </a:r>
            <a:r>
              <a:rPr lang="en-US" dirty="0" err="1"/>
              <a:t>Simlink</a:t>
            </a:r>
            <a:r>
              <a:rPr lang="en-US" dirty="0"/>
              <a:t> which is part of </a:t>
            </a:r>
            <a:r>
              <a:rPr lang="en-US" dirty="0" err="1"/>
              <a:t>OpenPLC</a:t>
            </a:r>
            <a:r>
              <a:rPr lang="en-US" dirty="0"/>
              <a:t> environment. </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891926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8C2C5-4A11-7DE2-C7E2-926848F16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510C5-FBD7-01E0-1E29-671ADBEA7934}"/>
              </a:ext>
            </a:extLst>
          </p:cNvPr>
          <p:cNvSpPr>
            <a:spLocks noGrp="1"/>
          </p:cNvSpPr>
          <p:nvPr>
            <p:ph type="title"/>
          </p:nvPr>
        </p:nvSpPr>
        <p:spPr/>
        <p:txBody>
          <a:bodyPr/>
          <a:lstStyle/>
          <a:p>
            <a:r>
              <a:rPr lang="en-US" dirty="0"/>
              <a:t>Supervisory Control Network</a:t>
            </a:r>
          </a:p>
        </p:txBody>
      </p:sp>
      <p:sp>
        <p:nvSpPr>
          <p:cNvPr id="3" name="Content Placeholder 2">
            <a:extLst>
              <a:ext uri="{FF2B5EF4-FFF2-40B4-BE49-F238E27FC236}">
                <a16:creationId xmlns:a16="http://schemas.microsoft.com/office/drawing/2014/main" id="{469AA09A-01A8-220D-E95B-113DCBBC0D4F}"/>
              </a:ext>
            </a:extLst>
          </p:cNvPr>
          <p:cNvSpPr>
            <a:spLocks noGrp="1"/>
          </p:cNvSpPr>
          <p:nvPr>
            <p:ph idx="1"/>
          </p:nvPr>
        </p:nvSpPr>
        <p:spPr>
          <a:xfrm>
            <a:off x="1097280" y="1845733"/>
            <a:ext cx="10058400" cy="4383985"/>
          </a:xfrm>
        </p:spPr>
        <p:txBody>
          <a:bodyPr>
            <a:normAutofit/>
          </a:bodyPr>
          <a:lstStyle/>
          <a:p>
            <a:pPr>
              <a:buFont typeface="Wingdings" panose="05000000000000000000" pitchFamily="2" charset="2"/>
              <a:buChar char="q"/>
            </a:pPr>
            <a:r>
              <a:rPr lang="en-US" dirty="0"/>
              <a:t>When attacker gain access to the honeynet, there are two main challenges</a:t>
            </a:r>
          </a:p>
          <a:p>
            <a:pPr marL="544068" lvl="1" indent="-342900">
              <a:buFont typeface="+mj-lt"/>
              <a:buAutoNum type="arabicPeriod"/>
            </a:pPr>
            <a:r>
              <a:rPr lang="en-US" dirty="0"/>
              <a:t>Transparent Redirection:</a:t>
            </a:r>
          </a:p>
          <a:p>
            <a:pPr lvl="2">
              <a:buFont typeface="Wingdings" panose="05000000000000000000" pitchFamily="2" charset="2"/>
              <a:buChar char="q"/>
            </a:pPr>
            <a:r>
              <a:rPr lang="en-US" dirty="0"/>
              <a:t> The attacker might try to interact with the PLCs or HMIs. The honeynet must make sure that this traffic is redirected correctly to the actual containers without revealing that these are virtualize components.</a:t>
            </a:r>
          </a:p>
          <a:p>
            <a:pPr marL="544068" lvl="1" indent="-342900">
              <a:buFont typeface="+mj-lt"/>
              <a:buAutoNum type="arabicPeriod"/>
            </a:pPr>
            <a:r>
              <a:rPr lang="en-US" dirty="0"/>
              <a:t>Lateral Movement Isolation ( prevent pivoting )</a:t>
            </a:r>
          </a:p>
          <a:p>
            <a:pPr lvl="2">
              <a:buFont typeface="Wingdings" panose="05000000000000000000" pitchFamily="2" charset="2"/>
              <a:buChar char="q"/>
            </a:pPr>
            <a:r>
              <a:rPr lang="en-US" dirty="0"/>
              <a:t> If the Attacker compromises one PLC, they should not be able to directly hack into other containers.</a:t>
            </a:r>
          </a:p>
          <a:p>
            <a:pPr lvl="2">
              <a:buFont typeface="Wingdings" panose="05000000000000000000" pitchFamily="2" charset="2"/>
              <a:buChar char="q"/>
            </a:pPr>
            <a:r>
              <a:rPr lang="en-US" dirty="0"/>
              <a:t> The system should prevent uncontrollable lateral movement within the network.</a:t>
            </a:r>
          </a:p>
          <a:p>
            <a:pPr>
              <a:buFont typeface="Wingdings" panose="05000000000000000000" pitchFamily="2" charset="2"/>
              <a:buChar char="q"/>
            </a:pPr>
            <a:r>
              <a:rPr lang="en-US" dirty="0"/>
              <a:t> In order to achieve this:</a:t>
            </a:r>
          </a:p>
          <a:p>
            <a:pPr lvl="1">
              <a:buFont typeface="Wingdings" panose="05000000000000000000" pitchFamily="2" charset="2"/>
              <a:buChar char="q"/>
            </a:pPr>
            <a:r>
              <a:rPr lang="en-US" dirty="0"/>
              <a:t> Each PLC is placed in its own isolation network called Docker </a:t>
            </a:r>
            <a:r>
              <a:rPr lang="en-US" dirty="0" err="1"/>
              <a:t>macvlan</a:t>
            </a:r>
            <a:r>
              <a:rPr lang="en-US" dirty="0"/>
              <a:t> (virtual network interface) alongside each PLC is a proxy container</a:t>
            </a:r>
          </a:p>
          <a:p>
            <a:pPr lvl="1">
              <a:buFont typeface="Wingdings" panose="05000000000000000000" pitchFamily="2" charset="2"/>
              <a:buChar char="q"/>
            </a:pPr>
            <a:r>
              <a:rPr lang="en-US" dirty="0"/>
              <a:t>The Proxy has two main jobs:	</a:t>
            </a:r>
          </a:p>
          <a:p>
            <a:pPr marL="726948" lvl="2" indent="-342900">
              <a:buFont typeface="+mj-lt"/>
              <a:buAutoNum type="arabicPeriod"/>
            </a:pPr>
            <a:r>
              <a:rPr lang="en-US" dirty="0"/>
              <a:t>Reverse Proxy: listens to traffic from the internet or supervisory control network, and forwards that traffic to the corresponding PLC container</a:t>
            </a:r>
          </a:p>
          <a:p>
            <a:pPr marL="726948" lvl="2" indent="-342900">
              <a:buFont typeface="+mj-lt"/>
              <a:buAutoNum type="arabicPeriod"/>
            </a:pPr>
            <a:r>
              <a:rPr lang="en-US" dirty="0"/>
              <a:t>Gateway: for outgoing connections from the PLC, it rewrites the source address using the iptables so responses look real, which prevents attacker from easily seeing the container structure or origin.</a:t>
            </a:r>
          </a:p>
        </p:txBody>
      </p:sp>
    </p:spTree>
    <p:extLst>
      <p:ext uri="{BB962C8B-B14F-4D97-AF65-F5344CB8AC3E}">
        <p14:creationId xmlns:p14="http://schemas.microsoft.com/office/powerpoint/2010/main" val="2234093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7" name="Straight Connector 26">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FDC401-4812-76AE-A41A-3095AED92719}"/>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5100">
                <a:solidFill>
                  <a:schemeClr val="tx1">
                    <a:lumMod val="85000"/>
                    <a:lumOff val="15000"/>
                  </a:schemeClr>
                </a:solidFill>
              </a:rPr>
              <a:t>Supervisory Control Network</a:t>
            </a:r>
          </a:p>
        </p:txBody>
      </p:sp>
      <p:pic>
        <p:nvPicPr>
          <p:cNvPr id="5" name="Content Placeholder 4" descr="A diagram of a network&#10;&#10;AI-generated content may be incorrect.">
            <a:extLst>
              <a:ext uri="{FF2B5EF4-FFF2-40B4-BE49-F238E27FC236}">
                <a16:creationId xmlns:a16="http://schemas.microsoft.com/office/drawing/2014/main" id="{5B617927-6FE5-B490-5E0C-A19CE037D842}"/>
              </a:ext>
            </a:extLst>
          </p:cNvPr>
          <p:cNvPicPr>
            <a:picLocks noChangeAspect="1"/>
          </p:cNvPicPr>
          <p:nvPr/>
        </p:nvPicPr>
        <p:blipFill>
          <a:blip r:embed="rId3"/>
          <a:stretch>
            <a:fillRect/>
          </a:stretch>
        </p:blipFill>
        <p:spPr>
          <a:xfrm>
            <a:off x="633999" y="1041652"/>
            <a:ext cx="6912217" cy="4251013"/>
          </a:xfrm>
          <a:prstGeom prst="rect">
            <a:avLst/>
          </a:prstGeom>
        </p:spPr>
      </p:pic>
      <p:cxnSp>
        <p:nvCxnSpPr>
          <p:cNvPr id="31" name="Straight Connector 30">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45877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355D-C5C0-A800-C8F7-A7CB1530B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94512-9EDF-3284-13AC-585B8B17936A}"/>
              </a:ext>
            </a:extLst>
          </p:cNvPr>
          <p:cNvSpPr>
            <a:spLocks noGrp="1"/>
          </p:cNvSpPr>
          <p:nvPr>
            <p:ph type="title"/>
          </p:nvPr>
        </p:nvSpPr>
        <p:spPr/>
        <p:txBody>
          <a:bodyPr/>
          <a:lstStyle/>
          <a:p>
            <a:r>
              <a:rPr lang="en-US" dirty="0"/>
              <a:t>Management &amp; Monitoring Dashboard</a:t>
            </a:r>
          </a:p>
        </p:txBody>
      </p:sp>
      <p:sp>
        <p:nvSpPr>
          <p:cNvPr id="3" name="Content Placeholder 2">
            <a:extLst>
              <a:ext uri="{FF2B5EF4-FFF2-40B4-BE49-F238E27FC236}">
                <a16:creationId xmlns:a16="http://schemas.microsoft.com/office/drawing/2014/main" id="{F57A5C6F-E0C4-CC4C-D218-A14302654321}"/>
              </a:ext>
            </a:extLst>
          </p:cNvPr>
          <p:cNvSpPr>
            <a:spLocks noGrp="1"/>
          </p:cNvSpPr>
          <p:nvPr>
            <p:ph idx="1"/>
          </p:nvPr>
        </p:nvSpPr>
        <p:spPr>
          <a:xfrm>
            <a:off x="1097280" y="1845733"/>
            <a:ext cx="10058400" cy="4383985"/>
          </a:xfrm>
        </p:spPr>
        <p:txBody>
          <a:bodyPr>
            <a:normAutofit/>
          </a:bodyPr>
          <a:lstStyle/>
          <a:p>
            <a:pPr>
              <a:buFont typeface="Wingdings" panose="05000000000000000000" pitchFamily="2" charset="2"/>
              <a:buChar char="q"/>
            </a:pPr>
            <a:r>
              <a:rPr lang="en-US" dirty="0"/>
              <a:t> It is used to facilitate the deployment, configuration, and runtime monitoring of </a:t>
            </a:r>
            <a:r>
              <a:rPr lang="en-US" dirty="0" err="1"/>
              <a:t>HoneyICS</a:t>
            </a:r>
            <a:endParaRPr lang="en-US" dirty="0"/>
          </a:p>
          <a:p>
            <a:pPr>
              <a:buFont typeface="Wingdings" panose="05000000000000000000" pitchFamily="2" charset="2"/>
              <a:buChar char="q"/>
            </a:pPr>
            <a:r>
              <a:rPr lang="en-US" dirty="0"/>
              <a:t> It is a web dashboard that allows visualization of the utilized honeynets’ components</a:t>
            </a:r>
          </a:p>
          <a:p>
            <a:pPr>
              <a:buFont typeface="Wingdings" panose="05000000000000000000" pitchFamily="2" charset="2"/>
              <a:buChar char="q"/>
            </a:pPr>
            <a:r>
              <a:rPr lang="en-US" dirty="0"/>
              <a:t> Each device can be managed via device page</a:t>
            </a:r>
          </a:p>
          <a:p>
            <a:pPr>
              <a:buFont typeface="Wingdings" panose="05000000000000000000" pitchFamily="2" charset="2"/>
              <a:buChar char="q"/>
            </a:pPr>
            <a:r>
              <a:rPr lang="en-US" dirty="0"/>
              <a:t> It also allows adding new devices to the honeynet, either via docker image or </a:t>
            </a:r>
            <a:r>
              <a:rPr lang="en-US" dirty="0" err="1"/>
              <a:t>selecing</a:t>
            </a:r>
            <a:r>
              <a:rPr lang="en-US" dirty="0"/>
              <a:t> pre-existing one.</a:t>
            </a:r>
          </a:p>
          <a:p>
            <a:pPr>
              <a:buFont typeface="Wingdings" panose="05000000000000000000" pitchFamily="2" charset="2"/>
              <a:buChar char="q"/>
            </a:pPr>
            <a:r>
              <a:rPr lang="en-US" dirty="0"/>
              <a:t> It also shows all logs performed by the attacker and the captured logs. </a:t>
            </a:r>
          </a:p>
        </p:txBody>
      </p:sp>
    </p:spTree>
    <p:extLst>
      <p:ext uri="{BB962C8B-B14F-4D97-AF65-F5344CB8AC3E}">
        <p14:creationId xmlns:p14="http://schemas.microsoft.com/office/powerpoint/2010/main" val="2076745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7EEA-9FBB-184D-AD82-666C3CE99A12}"/>
              </a:ext>
            </a:extLst>
          </p:cNvPr>
          <p:cNvSpPr>
            <a:spLocks noGrp="1"/>
          </p:cNvSpPr>
          <p:nvPr>
            <p:ph type="title"/>
          </p:nvPr>
        </p:nvSpPr>
        <p:spPr/>
        <p:txBody>
          <a:bodyPr/>
          <a:lstStyle/>
          <a:p>
            <a:r>
              <a:rPr lang="en-US" dirty="0"/>
              <a:t>Evaluation - Setup</a:t>
            </a:r>
          </a:p>
        </p:txBody>
      </p:sp>
      <p:sp>
        <p:nvSpPr>
          <p:cNvPr id="3" name="Content Placeholder 2">
            <a:extLst>
              <a:ext uri="{FF2B5EF4-FFF2-40B4-BE49-F238E27FC236}">
                <a16:creationId xmlns:a16="http://schemas.microsoft.com/office/drawing/2014/main" id="{BDE7E373-B65E-50D7-8FB0-B8A7773C235C}"/>
              </a:ext>
            </a:extLst>
          </p:cNvPr>
          <p:cNvSpPr>
            <a:spLocks noGrp="1"/>
          </p:cNvSpPr>
          <p:nvPr>
            <p:ph idx="1"/>
          </p:nvPr>
        </p:nvSpPr>
        <p:spPr/>
        <p:txBody>
          <a:bodyPr/>
          <a:lstStyle/>
          <a:p>
            <a:pPr>
              <a:buFont typeface="Wingdings" panose="05000000000000000000" pitchFamily="2" charset="2"/>
              <a:buChar char="q"/>
            </a:pPr>
            <a:r>
              <a:rPr lang="en-US" dirty="0"/>
              <a:t> They deployed it on Dell PowerEdge T620 server with Inter Xeon E5-2640v2 with 16 CPUs, 128 GB RAM running </a:t>
            </a:r>
            <a:r>
              <a:rPr lang="en-US" dirty="0" err="1"/>
              <a:t>Vmware</a:t>
            </a:r>
            <a:r>
              <a:rPr lang="en-US" dirty="0"/>
              <a:t> </a:t>
            </a:r>
            <a:r>
              <a:rPr lang="en-US" dirty="0" err="1"/>
              <a:t>ESXi</a:t>
            </a:r>
            <a:r>
              <a:rPr lang="en-US" dirty="0"/>
              <a:t>.</a:t>
            </a:r>
          </a:p>
          <a:p>
            <a:pPr>
              <a:buFont typeface="Wingdings" panose="05000000000000000000" pitchFamily="2" charset="2"/>
              <a:buChar char="q"/>
            </a:pPr>
            <a:r>
              <a:rPr lang="en-US" dirty="0"/>
              <a:t> Three VMs were created</a:t>
            </a:r>
          </a:p>
          <a:p>
            <a:pPr marL="544068" lvl="1" indent="-342900">
              <a:buFont typeface="+mj-lt"/>
              <a:buAutoNum type="arabicPeriod"/>
            </a:pPr>
            <a:r>
              <a:rPr lang="en-US" dirty="0"/>
              <a:t>Runs Docker with both the PLCs, HMI, and proxy containers and equipped with 4vCPUs, 8GB RAB, 200 GB </a:t>
            </a:r>
            <a:r>
              <a:rPr lang="en-US" dirty="0" err="1"/>
              <a:t>diskm</a:t>
            </a:r>
            <a:r>
              <a:rPr lang="en-US" dirty="0"/>
              <a:t> 5 Network adapters.</a:t>
            </a:r>
          </a:p>
          <a:p>
            <a:pPr marL="544068" lvl="1" indent="-342900">
              <a:buFont typeface="+mj-lt"/>
              <a:buAutoNum type="arabicPeriod"/>
            </a:pPr>
            <a:r>
              <a:rPr lang="en-US" dirty="0"/>
              <a:t>Runs Docker with </a:t>
            </a:r>
            <a:r>
              <a:rPr lang="en-US" dirty="0" err="1"/>
              <a:t>Matlab</a:t>
            </a:r>
            <a:r>
              <a:rPr lang="en-US" dirty="0"/>
              <a:t> Simulink container, has 4vCPUs, 8 GB Ram, 200GB disk, and 1 adapter net</a:t>
            </a:r>
          </a:p>
          <a:p>
            <a:pPr marL="544068" lvl="1" indent="-342900">
              <a:buFont typeface="+mj-lt"/>
              <a:buAutoNum type="arabicPeriod"/>
            </a:pPr>
            <a:r>
              <a:rPr lang="en-US" dirty="0"/>
              <a:t>Runs Management and monitoring dashboard,  features 4vCPUs, 12GB RAM, 500GB disk, 1 adapter</a:t>
            </a:r>
          </a:p>
        </p:txBody>
      </p:sp>
    </p:spTree>
    <p:extLst>
      <p:ext uri="{BB962C8B-B14F-4D97-AF65-F5344CB8AC3E}">
        <p14:creationId xmlns:p14="http://schemas.microsoft.com/office/powerpoint/2010/main" val="3201538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B7647-8DFD-C032-F086-EA2DC52C7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4B9B8-B33B-1AE7-8D20-83D91B2EF11C}"/>
              </a:ext>
            </a:extLst>
          </p:cNvPr>
          <p:cNvSpPr>
            <a:spLocks noGrp="1"/>
          </p:cNvSpPr>
          <p:nvPr>
            <p:ph type="title"/>
          </p:nvPr>
        </p:nvSpPr>
        <p:spPr/>
        <p:txBody>
          <a:bodyPr/>
          <a:lstStyle/>
          <a:p>
            <a:r>
              <a:rPr lang="en-US" dirty="0"/>
              <a:t>Evaluation – Fingerprinting experiment</a:t>
            </a:r>
          </a:p>
        </p:txBody>
      </p:sp>
      <p:sp>
        <p:nvSpPr>
          <p:cNvPr id="3" name="Content Placeholder 2">
            <a:extLst>
              <a:ext uri="{FF2B5EF4-FFF2-40B4-BE49-F238E27FC236}">
                <a16:creationId xmlns:a16="http://schemas.microsoft.com/office/drawing/2014/main" id="{B67CAD06-B46E-8AA9-8111-867FB17883FA}"/>
              </a:ext>
            </a:extLst>
          </p:cNvPr>
          <p:cNvSpPr>
            <a:spLocks noGrp="1"/>
          </p:cNvSpPr>
          <p:nvPr>
            <p:ph idx="1"/>
          </p:nvPr>
        </p:nvSpPr>
        <p:spPr>
          <a:xfrm>
            <a:off x="1097279" y="1845734"/>
            <a:ext cx="10453657" cy="4023360"/>
          </a:xfrm>
        </p:spPr>
        <p:txBody>
          <a:bodyPr/>
          <a:lstStyle/>
          <a:p>
            <a:pPr>
              <a:buFont typeface="Wingdings" panose="05000000000000000000" pitchFamily="2" charset="2"/>
              <a:buChar char="q"/>
            </a:pPr>
            <a:r>
              <a:rPr lang="en-US" dirty="0"/>
              <a:t> The main goal  was to test the emulation effectiveness.</a:t>
            </a:r>
          </a:p>
          <a:p>
            <a:pPr>
              <a:buFont typeface="Wingdings" panose="05000000000000000000" pitchFamily="2" charset="2"/>
              <a:buChar char="q"/>
            </a:pPr>
            <a:r>
              <a:rPr lang="en-US" dirty="0"/>
              <a:t> They scanned the IP addresses of the </a:t>
            </a:r>
            <a:r>
              <a:rPr lang="en-US" dirty="0" err="1"/>
              <a:t>eposed</a:t>
            </a:r>
            <a:r>
              <a:rPr lang="en-US" dirty="0"/>
              <a:t> devices.</a:t>
            </a:r>
          </a:p>
          <a:p>
            <a:pPr>
              <a:buFont typeface="Wingdings" panose="05000000000000000000" pitchFamily="2" charset="2"/>
              <a:buChar char="q"/>
            </a:pPr>
            <a:r>
              <a:rPr lang="en-US" dirty="0"/>
              <a:t> They are connected to the honeynet via a VPN and used two tools, NMAP and </a:t>
            </a:r>
            <a:r>
              <a:rPr lang="en-US" dirty="0" err="1"/>
              <a:t>PLCScan</a:t>
            </a:r>
            <a:endParaRPr lang="en-US" dirty="0"/>
          </a:p>
          <a:p>
            <a:pPr>
              <a:buFont typeface="Wingdings" panose="05000000000000000000" pitchFamily="2" charset="2"/>
              <a:buChar char="q"/>
            </a:pPr>
            <a:r>
              <a:rPr lang="en-US" dirty="0"/>
              <a:t> As result, Nmap showed that the honeynet devices are actual PLCs not virtual with accuracy 98%, and detected HMI port 9090 as open running Apache engine.</a:t>
            </a:r>
          </a:p>
          <a:p>
            <a:pPr>
              <a:buFont typeface="Wingdings" panose="05000000000000000000" pitchFamily="2" charset="2"/>
              <a:buChar char="q"/>
            </a:pPr>
            <a:r>
              <a:rPr lang="en-US" dirty="0" err="1"/>
              <a:t>PLCScan</a:t>
            </a:r>
            <a:r>
              <a:rPr lang="en-US" dirty="0"/>
              <a:t> gets two </a:t>
            </a:r>
            <a:r>
              <a:rPr lang="en-US" dirty="0" err="1"/>
              <a:t>modbus</a:t>
            </a:r>
            <a:r>
              <a:rPr lang="en-US" dirty="0"/>
              <a:t> units on port 502 and identified by their IDs.</a:t>
            </a:r>
          </a:p>
        </p:txBody>
      </p:sp>
    </p:spTree>
    <p:extLst>
      <p:ext uri="{BB962C8B-B14F-4D97-AF65-F5344CB8AC3E}">
        <p14:creationId xmlns:p14="http://schemas.microsoft.com/office/powerpoint/2010/main" val="53903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B4EFD2-AD72-ED18-148F-2881F61685E2}"/>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9365254-5193-0752-F9C2-C21ECAA646FF}"/>
              </a:ext>
            </a:extLst>
          </p:cNvPr>
          <p:cNvSpPr>
            <a:spLocks noGrp="1"/>
          </p:cNvSpPr>
          <p:nvPr>
            <p:ph type="title"/>
          </p:nvPr>
        </p:nvSpPr>
        <p:spPr>
          <a:xfrm>
            <a:off x="1066800" y="5252936"/>
            <a:ext cx="10058400" cy="1028715"/>
          </a:xfrm>
        </p:spPr>
        <p:txBody>
          <a:bodyPr anchor="ctr">
            <a:normAutofit/>
          </a:bodyPr>
          <a:lstStyle/>
          <a:p>
            <a:pPr algn="ctr"/>
            <a:r>
              <a:rPr lang="en-US" sz="4400">
                <a:solidFill>
                  <a:srgbClr val="FFFFFF"/>
                </a:solidFill>
              </a:rPr>
              <a:t>Evaluation – Attack Simulation Experminet</a:t>
            </a:r>
          </a:p>
        </p:txBody>
      </p:sp>
      <p:sp>
        <p:nvSpPr>
          <p:cNvPr id="3" name="Content Placeholder 2">
            <a:extLst>
              <a:ext uri="{FF2B5EF4-FFF2-40B4-BE49-F238E27FC236}">
                <a16:creationId xmlns:a16="http://schemas.microsoft.com/office/drawing/2014/main" id="{BEDEF998-EDC1-5F38-6FFC-A806F35588B2}"/>
              </a:ext>
            </a:extLst>
          </p:cNvPr>
          <p:cNvSpPr>
            <a:spLocks noGrp="1"/>
          </p:cNvSpPr>
          <p:nvPr>
            <p:ph idx="1"/>
          </p:nvPr>
        </p:nvSpPr>
        <p:spPr>
          <a:xfrm>
            <a:off x="1097280" y="1086678"/>
            <a:ext cx="10027920" cy="3471467"/>
          </a:xfrm>
        </p:spPr>
        <p:txBody>
          <a:bodyPr>
            <a:normAutofit/>
          </a:bodyPr>
          <a:lstStyle/>
          <a:p>
            <a:pPr>
              <a:buFont typeface="Wingdings" panose="05000000000000000000" pitchFamily="2" charset="2"/>
              <a:buChar char="q"/>
            </a:pPr>
            <a:r>
              <a:rPr lang="en-US"/>
              <a:t> They simulated 3 attacks</a:t>
            </a:r>
          </a:p>
          <a:p>
            <a:pPr marL="544068" lvl="1" indent="-342900">
              <a:buFont typeface="+mj-lt"/>
              <a:buAutoNum type="arabicPeriod"/>
            </a:pPr>
            <a:r>
              <a:rPr lang="en-US"/>
              <a:t> Assume that both PLCs and HMIs are exposed to the internet, so they want to perform DOS on pumps to achieve tank overflow, this can be done using a script that keeps transmitting a Modbus packets on port 502/TCP</a:t>
            </a:r>
          </a:p>
          <a:p>
            <a:pPr marL="544068" lvl="1" indent="-342900">
              <a:buFont typeface="+mj-lt"/>
              <a:buAutoNum type="arabicPeriod"/>
            </a:pPr>
            <a:r>
              <a:rPr lang="en-US"/>
              <a:t>Assume HMI is exposed to internet, the attacker exploit the vulnerability CVE-2021-26828 and gain complete control of the HMI and carry out a MITM attack to get the physical system into a deadlock and giving the attacker a </a:t>
            </a:r>
            <a:r>
              <a:rPr lang="en-US" err="1"/>
              <a:t>webshell</a:t>
            </a:r>
            <a:r>
              <a:rPr lang="en-US"/>
              <a:t> on the container allowing him to perform remote command execution</a:t>
            </a:r>
          </a:p>
          <a:p>
            <a:pPr marL="544068" lvl="1" indent="-342900">
              <a:buFont typeface="+mj-lt"/>
              <a:buAutoNum type="arabicPeriod"/>
            </a:pPr>
            <a:r>
              <a:rPr lang="en-US"/>
              <a:t>Assuming compromised VPN</a:t>
            </a:r>
          </a:p>
          <a:p>
            <a:pPr marL="726948" lvl="2" indent="-342900">
              <a:buFont typeface="+mj-lt"/>
              <a:buAutoNum type="arabicPeriod"/>
            </a:pPr>
            <a:r>
              <a:rPr lang="en-US"/>
              <a:t>Simulating a stealthy DoS attack on pumps, by sending commands to HMI showing that pump is off, and sending commands to the pumps to keep it on and overflow the system, something similar to what happened in Stuxnet. </a:t>
            </a:r>
          </a:p>
          <a:p>
            <a:pPr marL="544068" lvl="1" indent="-342900">
              <a:buFont typeface="+mj-lt"/>
              <a:buAutoNum type="arabicPeriod"/>
            </a:pPr>
            <a:endParaRPr lang="en-US"/>
          </a:p>
          <a:p>
            <a:pPr marL="544068" lvl="1" indent="-342900">
              <a:buFont typeface="+mj-lt"/>
              <a:buAutoNum type="arabicPeriod"/>
            </a:pPr>
            <a:endParaRPr lang="en-US"/>
          </a:p>
        </p:txBody>
      </p:sp>
      <p:sp>
        <p:nvSpPr>
          <p:cNvPr id="45" name="Rectangle 44">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6206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BCD2D517-BC35-4439-AC31-06DF764F2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2DD3F846-0483-40F5-A881-0C1AD2A0C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up of a document&#10;&#10;AI-generated content may be incorrect.">
            <a:extLst>
              <a:ext uri="{FF2B5EF4-FFF2-40B4-BE49-F238E27FC236}">
                <a16:creationId xmlns:a16="http://schemas.microsoft.com/office/drawing/2014/main" id="{3BEE1E53-52E6-B6CF-9B30-0F23CB3F1C0D}"/>
              </a:ext>
            </a:extLst>
          </p:cNvPr>
          <p:cNvPicPr>
            <a:picLocks noGrp="1" noChangeAspect="1"/>
          </p:cNvPicPr>
          <p:nvPr>
            <p:ph idx="1"/>
          </p:nvPr>
        </p:nvPicPr>
        <p:blipFill>
          <a:blip r:embed="rId2"/>
          <a:stretch>
            <a:fillRect/>
          </a:stretch>
        </p:blipFill>
        <p:spPr>
          <a:xfrm>
            <a:off x="804847" y="490252"/>
            <a:ext cx="10579160" cy="5897880"/>
          </a:xfrm>
          <a:prstGeom prst="rect">
            <a:avLst/>
          </a:prstGeom>
        </p:spPr>
      </p:pic>
    </p:spTree>
    <p:extLst>
      <p:ext uri="{BB962C8B-B14F-4D97-AF65-F5344CB8AC3E}">
        <p14:creationId xmlns:p14="http://schemas.microsoft.com/office/powerpoint/2010/main" val="2305750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BCD2D517-BC35-4439-AC31-06DF764F2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2DD3F846-0483-40F5-A881-0C1AD2A0C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screen&#10;&#10;AI-generated content may be incorrect.">
            <a:extLst>
              <a:ext uri="{FF2B5EF4-FFF2-40B4-BE49-F238E27FC236}">
                <a16:creationId xmlns:a16="http://schemas.microsoft.com/office/drawing/2014/main" id="{F8E80EA8-A80F-AD20-A13B-A2954230885E}"/>
              </a:ext>
            </a:extLst>
          </p:cNvPr>
          <p:cNvPicPr>
            <a:picLocks noGrp="1" noChangeAspect="1"/>
          </p:cNvPicPr>
          <p:nvPr>
            <p:ph idx="1"/>
          </p:nvPr>
        </p:nvPicPr>
        <p:blipFill>
          <a:blip r:embed="rId2"/>
          <a:stretch>
            <a:fillRect/>
          </a:stretch>
        </p:blipFill>
        <p:spPr>
          <a:xfrm>
            <a:off x="580468" y="1507031"/>
            <a:ext cx="11134519" cy="3924916"/>
          </a:xfrm>
          <a:prstGeom prst="rect">
            <a:avLst/>
          </a:prstGeom>
        </p:spPr>
      </p:pic>
    </p:spTree>
    <p:extLst>
      <p:ext uri="{BB962C8B-B14F-4D97-AF65-F5344CB8AC3E}">
        <p14:creationId xmlns:p14="http://schemas.microsoft.com/office/powerpoint/2010/main" val="214033432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663</TotalTime>
  <Words>2719</Words>
  <Application>Microsoft Office PowerPoint</Application>
  <PresentationFormat>Widescreen</PresentationFormat>
  <Paragraphs>237</Paragraphs>
  <Slides>29</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Calibri</vt:lpstr>
      <vt:lpstr>Calibri Light</vt:lpstr>
      <vt:lpstr>Wingdings</vt:lpstr>
      <vt:lpstr>Retrospect</vt:lpstr>
      <vt:lpstr>HoneyICS</vt:lpstr>
      <vt:lpstr>Limitations of previous ICS honeypots</vt:lpstr>
      <vt:lpstr>Paper Contribution</vt:lpstr>
      <vt:lpstr>Architecture</vt:lpstr>
      <vt:lpstr>Components</vt:lpstr>
      <vt:lpstr>PLC</vt:lpstr>
      <vt:lpstr>HMIs</vt:lpstr>
      <vt:lpstr>Physical Plant</vt:lpstr>
      <vt:lpstr>Communication Network</vt:lpstr>
      <vt:lpstr>Monitoring System</vt:lpstr>
      <vt:lpstr> Management &amp; Monitoring Dashboard</vt:lpstr>
      <vt:lpstr>Attack Model</vt:lpstr>
      <vt:lpstr>Implementation</vt:lpstr>
      <vt:lpstr>Prototype implementation</vt:lpstr>
      <vt:lpstr>Prototype implementation</vt:lpstr>
      <vt:lpstr>Network Layer</vt:lpstr>
      <vt:lpstr>Implementation Details</vt:lpstr>
      <vt:lpstr>More implementation details</vt:lpstr>
      <vt:lpstr>PLC containers</vt:lpstr>
      <vt:lpstr>HMI containers</vt:lpstr>
      <vt:lpstr>Physical Plant Container</vt:lpstr>
      <vt:lpstr>Supervisory Control Network</vt:lpstr>
      <vt:lpstr>Supervisory Control Network</vt:lpstr>
      <vt:lpstr>Management &amp; Monitoring Dashboard</vt:lpstr>
      <vt:lpstr>Evaluation - Setup</vt:lpstr>
      <vt:lpstr>Evaluation – Fingerprinting experiment</vt:lpstr>
      <vt:lpstr>Evaluation – Attack Simulation Experminet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عبدالعزيز صلاح محمد عبده نعمه الله</dc:creator>
  <cp:lastModifiedBy>عبدالعزيز صلاح محمد عبده نعمه الله</cp:lastModifiedBy>
  <cp:revision>35</cp:revision>
  <dcterms:created xsi:type="dcterms:W3CDTF">2025-06-24T12:48:49Z</dcterms:created>
  <dcterms:modified xsi:type="dcterms:W3CDTF">2025-09-02T14:36:54Z</dcterms:modified>
</cp:coreProperties>
</file>