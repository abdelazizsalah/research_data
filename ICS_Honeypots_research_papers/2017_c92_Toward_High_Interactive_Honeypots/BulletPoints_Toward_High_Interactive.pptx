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2" r:id="rId1"/>
  </p:sldMasterIdLst>
  <p:notesMasterIdLst>
    <p:notesMasterId r:id="rId29"/>
  </p:notesMasterIdLst>
  <p:sldIdLst>
    <p:sldId id="256" r:id="rId2"/>
    <p:sldId id="257" r:id="rId3"/>
    <p:sldId id="258" r:id="rId4"/>
    <p:sldId id="259" r:id="rId5"/>
    <p:sldId id="260" r:id="rId6"/>
    <p:sldId id="261" r:id="rId7"/>
    <p:sldId id="262" r:id="rId8"/>
    <p:sldId id="279" r:id="rId9"/>
    <p:sldId id="270" r:id="rId10"/>
    <p:sldId id="271" r:id="rId11"/>
    <p:sldId id="281" r:id="rId12"/>
    <p:sldId id="282" r:id="rId13"/>
    <p:sldId id="263" r:id="rId14"/>
    <p:sldId id="264" r:id="rId15"/>
    <p:sldId id="265" r:id="rId16"/>
    <p:sldId id="266" r:id="rId17"/>
    <p:sldId id="267" r:id="rId18"/>
    <p:sldId id="280" r:id="rId19"/>
    <p:sldId id="268" r:id="rId20"/>
    <p:sldId id="272" r:id="rId21"/>
    <p:sldId id="273" r:id="rId22"/>
    <p:sldId id="274" r:id="rId23"/>
    <p:sldId id="275" r:id="rId24"/>
    <p:sldId id="276" r:id="rId25"/>
    <p:sldId id="277" r:id="rId26"/>
    <p:sldId id="278" r:id="rId27"/>
    <p:sldId id="26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672"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AF0C64-01BB-4470-805C-9FB571BA6139}"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F8166711-8006-4646-9313-F7605FCBF581}">
      <dgm:prSet/>
      <dgm:spPr/>
      <dgm:t>
        <a:bodyPr/>
        <a:lstStyle/>
        <a:p>
          <a:pPr>
            <a:lnSpc>
              <a:spcPct val="100000"/>
            </a:lnSpc>
          </a:pPr>
          <a:r>
            <a:rPr lang="en-US" b="0" baseline="0"/>
            <a:t>The physical process is not so accurate, and has a limited APIs to link to external physical process</a:t>
          </a:r>
          <a:endParaRPr lang="en-US"/>
        </a:p>
      </dgm:t>
    </dgm:pt>
    <dgm:pt modelId="{24D0904E-FCD9-4B14-BF5F-32F204280EA1}" type="parTrans" cxnId="{F63810A1-49D6-4D25-A385-30E1A40307D3}">
      <dgm:prSet/>
      <dgm:spPr/>
      <dgm:t>
        <a:bodyPr/>
        <a:lstStyle/>
        <a:p>
          <a:endParaRPr lang="en-US"/>
        </a:p>
      </dgm:t>
    </dgm:pt>
    <dgm:pt modelId="{B1464A25-7C4A-40BC-9423-A815A23C60BB}" type="sibTrans" cxnId="{F63810A1-49D6-4D25-A385-30E1A40307D3}">
      <dgm:prSet/>
      <dgm:spPr/>
      <dgm:t>
        <a:bodyPr/>
        <a:lstStyle/>
        <a:p>
          <a:pPr>
            <a:lnSpc>
              <a:spcPct val="100000"/>
            </a:lnSpc>
          </a:pPr>
          <a:endParaRPr lang="en-US"/>
        </a:p>
      </dgm:t>
    </dgm:pt>
    <dgm:pt modelId="{0DF2D06B-D538-4C86-80AF-730218ECB428}">
      <dgm:prSet/>
      <dgm:spPr/>
      <dgm:t>
        <a:bodyPr/>
        <a:lstStyle/>
        <a:p>
          <a:pPr>
            <a:lnSpc>
              <a:spcPct val="100000"/>
            </a:lnSpc>
          </a:pPr>
          <a:r>
            <a:rPr lang="en-US" b="0" baseline="0"/>
            <a:t>It does not support many current ICS protocols like Modbus, it only support one protocol which is Ethernet/IP</a:t>
          </a:r>
          <a:endParaRPr lang="en-US"/>
        </a:p>
      </dgm:t>
    </dgm:pt>
    <dgm:pt modelId="{833D9505-BEDD-4919-910D-A40FF695778C}" type="parTrans" cxnId="{57170BAD-E4E7-4553-87AE-C7324E8F915D}">
      <dgm:prSet/>
      <dgm:spPr/>
      <dgm:t>
        <a:bodyPr/>
        <a:lstStyle/>
        <a:p>
          <a:endParaRPr lang="en-US"/>
        </a:p>
      </dgm:t>
    </dgm:pt>
    <dgm:pt modelId="{62BD5AC6-E018-4041-9FB4-63D8F3A4B15C}" type="sibTrans" cxnId="{57170BAD-E4E7-4553-87AE-C7324E8F915D}">
      <dgm:prSet/>
      <dgm:spPr/>
      <dgm:t>
        <a:bodyPr/>
        <a:lstStyle/>
        <a:p>
          <a:pPr>
            <a:lnSpc>
              <a:spcPct val="100000"/>
            </a:lnSpc>
          </a:pPr>
          <a:endParaRPr lang="en-US"/>
        </a:p>
      </dgm:t>
    </dgm:pt>
    <dgm:pt modelId="{43AF2C04-3A8C-42ED-9E43-0875C0D4FD21}">
      <dgm:prSet/>
      <dgm:spPr/>
      <dgm:t>
        <a:bodyPr/>
        <a:lstStyle/>
        <a:p>
          <a:pPr>
            <a:lnSpc>
              <a:spcPct val="100000"/>
            </a:lnSpc>
          </a:pPr>
          <a:r>
            <a:rPr lang="en-US" b="0" baseline="0"/>
            <a:t>Evaluation scope is narrow and not so clear, the CTF does not show how real world attackers can act on the system</a:t>
          </a:r>
          <a:endParaRPr lang="en-US"/>
        </a:p>
      </dgm:t>
    </dgm:pt>
    <dgm:pt modelId="{4D0E3A72-E7FF-44D3-8133-01924224CEDB}" type="parTrans" cxnId="{2C414A5F-744E-458F-839F-497773C17887}">
      <dgm:prSet/>
      <dgm:spPr/>
      <dgm:t>
        <a:bodyPr/>
        <a:lstStyle/>
        <a:p>
          <a:endParaRPr lang="en-US"/>
        </a:p>
      </dgm:t>
    </dgm:pt>
    <dgm:pt modelId="{F0BC3610-ABDB-4457-92A8-8EF95FCDE3C4}" type="sibTrans" cxnId="{2C414A5F-744E-458F-839F-497773C17887}">
      <dgm:prSet/>
      <dgm:spPr/>
      <dgm:t>
        <a:bodyPr/>
        <a:lstStyle/>
        <a:p>
          <a:pPr>
            <a:lnSpc>
              <a:spcPct val="100000"/>
            </a:lnSpc>
          </a:pPr>
          <a:endParaRPr lang="en-US"/>
        </a:p>
      </dgm:t>
    </dgm:pt>
    <dgm:pt modelId="{C8311AAD-F0D1-42BC-8227-573258FA46FD}">
      <dgm:prSet/>
      <dgm:spPr/>
      <dgm:t>
        <a:bodyPr/>
        <a:lstStyle/>
        <a:p>
          <a:pPr>
            <a:lnSpc>
              <a:spcPct val="100000"/>
            </a:lnSpc>
          </a:pPr>
          <a:r>
            <a:rPr lang="en-US" b="0" baseline="0"/>
            <a:t>Since the physical process is not so accurate, the real attackers will easily detect that this is a honeypot.</a:t>
          </a:r>
          <a:endParaRPr lang="en-US" dirty="0"/>
        </a:p>
      </dgm:t>
    </dgm:pt>
    <dgm:pt modelId="{6A100184-10A3-4A48-B353-1A9E0E410A34}" type="parTrans" cxnId="{5179E37F-C605-459B-AB26-26BEFFE35430}">
      <dgm:prSet/>
      <dgm:spPr/>
      <dgm:t>
        <a:bodyPr/>
        <a:lstStyle/>
        <a:p>
          <a:endParaRPr lang="en-US"/>
        </a:p>
      </dgm:t>
    </dgm:pt>
    <dgm:pt modelId="{674B462E-8C57-48EE-9E47-25831A61060D}" type="sibTrans" cxnId="{5179E37F-C605-459B-AB26-26BEFFE35430}">
      <dgm:prSet/>
      <dgm:spPr/>
      <dgm:t>
        <a:bodyPr/>
        <a:lstStyle/>
        <a:p>
          <a:pPr>
            <a:lnSpc>
              <a:spcPct val="100000"/>
            </a:lnSpc>
          </a:pPr>
          <a:endParaRPr lang="en-US"/>
        </a:p>
      </dgm:t>
    </dgm:pt>
    <dgm:pt modelId="{3310A7BE-B8FF-4D01-B111-FDFE77EC64B5}">
      <dgm:prSet/>
      <dgm:spPr/>
      <dgm:t>
        <a:bodyPr/>
        <a:lstStyle/>
        <a:p>
          <a:pPr>
            <a:lnSpc>
              <a:spcPct val="100000"/>
            </a:lnSpc>
          </a:pPr>
          <a:r>
            <a:rPr lang="en-US" dirty="0"/>
            <a:t>No Fault Tolerance / Resilience ( this is important )</a:t>
          </a:r>
        </a:p>
      </dgm:t>
    </dgm:pt>
    <dgm:pt modelId="{E4D28FD1-D268-49B0-A7FA-510982C270F2}" type="parTrans" cxnId="{1E6A3C5E-2D2F-4C2C-B688-48C93211BCA4}">
      <dgm:prSet/>
      <dgm:spPr/>
      <dgm:t>
        <a:bodyPr/>
        <a:lstStyle/>
        <a:p>
          <a:endParaRPr lang="en-US"/>
        </a:p>
      </dgm:t>
    </dgm:pt>
    <dgm:pt modelId="{EFA87760-1BDF-4992-A519-16C21362937B}" type="sibTrans" cxnId="{1E6A3C5E-2D2F-4C2C-B688-48C93211BCA4}">
      <dgm:prSet/>
      <dgm:spPr/>
      <dgm:t>
        <a:bodyPr/>
        <a:lstStyle/>
        <a:p>
          <a:pPr>
            <a:lnSpc>
              <a:spcPct val="100000"/>
            </a:lnSpc>
          </a:pPr>
          <a:endParaRPr lang="en-US"/>
        </a:p>
      </dgm:t>
    </dgm:pt>
    <dgm:pt modelId="{D137D9C6-42AF-4557-B12F-1A373C675F9A}">
      <dgm:prSet/>
      <dgm:spPr/>
      <dgm:t>
        <a:bodyPr/>
        <a:lstStyle/>
        <a:p>
          <a:pPr>
            <a:lnSpc>
              <a:spcPct val="100000"/>
            </a:lnSpc>
          </a:pPr>
          <a:r>
            <a:rPr lang="en-US"/>
            <a:t>Lack of post processing</a:t>
          </a:r>
          <a:endParaRPr lang="en-US" dirty="0"/>
        </a:p>
      </dgm:t>
    </dgm:pt>
    <dgm:pt modelId="{1F7E218E-0693-40E5-A908-8551F8592FC5}" type="parTrans" cxnId="{669F233A-F1B8-4838-A67A-1017C0C1B77A}">
      <dgm:prSet/>
      <dgm:spPr/>
      <dgm:t>
        <a:bodyPr/>
        <a:lstStyle/>
        <a:p>
          <a:endParaRPr lang="en-US"/>
        </a:p>
      </dgm:t>
    </dgm:pt>
    <dgm:pt modelId="{8E66706F-62C0-42B5-B62B-A745E0ACB028}" type="sibTrans" cxnId="{669F233A-F1B8-4838-A67A-1017C0C1B77A}">
      <dgm:prSet/>
      <dgm:spPr/>
      <dgm:t>
        <a:bodyPr/>
        <a:lstStyle/>
        <a:p>
          <a:pPr>
            <a:lnSpc>
              <a:spcPct val="100000"/>
            </a:lnSpc>
          </a:pPr>
          <a:endParaRPr lang="en-US"/>
        </a:p>
      </dgm:t>
    </dgm:pt>
    <dgm:pt modelId="{7DB795D0-54F0-423F-9240-4F012942C806}">
      <dgm:prSet/>
      <dgm:spPr/>
      <dgm:t>
        <a:bodyPr/>
        <a:lstStyle/>
        <a:p>
          <a:pPr>
            <a:lnSpc>
              <a:spcPct val="100000"/>
            </a:lnSpc>
          </a:pPr>
          <a:r>
            <a:rPr lang="en-US"/>
            <a:t>Fully Virtual, so it limits the realism</a:t>
          </a:r>
          <a:endParaRPr lang="en-US" dirty="0"/>
        </a:p>
      </dgm:t>
    </dgm:pt>
    <dgm:pt modelId="{5DC1166A-DC3D-4DE6-A812-89D8A288E5FD}" type="parTrans" cxnId="{43121A18-D802-4AC3-A6EE-B8224DAFE9AA}">
      <dgm:prSet/>
      <dgm:spPr/>
      <dgm:t>
        <a:bodyPr/>
        <a:lstStyle/>
        <a:p>
          <a:endParaRPr lang="en-US"/>
        </a:p>
      </dgm:t>
    </dgm:pt>
    <dgm:pt modelId="{DDA2A3BC-8BC1-4580-AC07-75CD6A82279E}" type="sibTrans" cxnId="{43121A18-D802-4AC3-A6EE-B8224DAFE9AA}">
      <dgm:prSet/>
      <dgm:spPr/>
      <dgm:t>
        <a:bodyPr/>
        <a:lstStyle/>
        <a:p>
          <a:pPr>
            <a:lnSpc>
              <a:spcPct val="100000"/>
            </a:lnSpc>
          </a:pPr>
          <a:endParaRPr lang="en-US"/>
        </a:p>
      </dgm:t>
    </dgm:pt>
    <dgm:pt modelId="{E0540F84-252B-42F9-99C4-6B2565997B3A}">
      <dgm:prSet/>
      <dgm:spPr/>
      <dgm:t>
        <a:bodyPr/>
        <a:lstStyle/>
        <a:p>
          <a:pPr>
            <a:lnSpc>
              <a:spcPct val="100000"/>
            </a:lnSpc>
          </a:pPr>
          <a:r>
            <a:rPr lang="en-US"/>
            <a:t>They mentioned that there can be side channel attacks on their system</a:t>
          </a:r>
          <a:endParaRPr lang="en-US" dirty="0"/>
        </a:p>
      </dgm:t>
    </dgm:pt>
    <dgm:pt modelId="{4B991C95-D764-4F9F-B292-FC4F486BBDE9}" type="parTrans" cxnId="{1BDC0C12-3D98-44A8-BE4B-7FFF9556393A}">
      <dgm:prSet/>
      <dgm:spPr/>
      <dgm:t>
        <a:bodyPr/>
        <a:lstStyle/>
        <a:p>
          <a:endParaRPr lang="en-US"/>
        </a:p>
      </dgm:t>
    </dgm:pt>
    <dgm:pt modelId="{F4661E93-50C0-44C7-B41D-DD728F87534F}" type="sibTrans" cxnId="{1BDC0C12-3D98-44A8-BE4B-7FFF9556393A}">
      <dgm:prSet/>
      <dgm:spPr/>
      <dgm:t>
        <a:bodyPr/>
        <a:lstStyle/>
        <a:p>
          <a:pPr>
            <a:lnSpc>
              <a:spcPct val="100000"/>
            </a:lnSpc>
          </a:pPr>
          <a:endParaRPr lang="en-US"/>
        </a:p>
      </dgm:t>
    </dgm:pt>
    <dgm:pt modelId="{FBDCAAE3-5AA4-44C4-B131-2F3AEBBD2A6E}">
      <dgm:prSet/>
      <dgm:spPr/>
      <dgm:t>
        <a:bodyPr/>
        <a:lstStyle/>
        <a:p>
          <a:pPr>
            <a:lnSpc>
              <a:spcPct val="100000"/>
            </a:lnSpc>
          </a:pPr>
          <a:r>
            <a:rPr lang="en-US" dirty="0"/>
            <a:t>No integration with detection systems, everything later is done manually.</a:t>
          </a:r>
        </a:p>
      </dgm:t>
    </dgm:pt>
    <dgm:pt modelId="{C19C8125-6296-45D1-8EB5-61D2E20C8ADE}" type="parTrans" cxnId="{16D59B1A-17BC-4750-9E42-4440F6ABF009}">
      <dgm:prSet/>
      <dgm:spPr/>
      <dgm:t>
        <a:bodyPr/>
        <a:lstStyle/>
        <a:p>
          <a:endParaRPr lang="en-US"/>
        </a:p>
      </dgm:t>
    </dgm:pt>
    <dgm:pt modelId="{899C3009-F819-4293-A4C3-085D29A28227}" type="sibTrans" cxnId="{16D59B1A-17BC-4750-9E42-4440F6ABF009}">
      <dgm:prSet/>
      <dgm:spPr/>
      <dgm:t>
        <a:bodyPr/>
        <a:lstStyle/>
        <a:p>
          <a:pPr>
            <a:lnSpc>
              <a:spcPct val="100000"/>
            </a:lnSpc>
          </a:pPr>
          <a:endParaRPr lang="en-US"/>
        </a:p>
      </dgm:t>
    </dgm:pt>
    <dgm:pt modelId="{89B4D923-2266-4CB5-A4CE-82CD8D7B916B}">
      <dgm:prSet/>
      <dgm:spPr/>
      <dgm:t>
        <a:bodyPr/>
        <a:lstStyle/>
        <a:p>
          <a:pPr>
            <a:lnSpc>
              <a:spcPct val="100000"/>
            </a:lnSpc>
          </a:pPr>
          <a:r>
            <a:rPr lang="en-US" dirty="0"/>
            <a:t>They does not consider internal threats like insider attacker or USB Malware (Stuxnet)</a:t>
          </a:r>
        </a:p>
      </dgm:t>
    </dgm:pt>
    <dgm:pt modelId="{89311E07-45E5-47AF-8EC6-5B2CE29E1BAC}" type="parTrans" cxnId="{FF7EE664-1C61-42F3-856C-CE7B2544EE0C}">
      <dgm:prSet/>
      <dgm:spPr/>
      <dgm:t>
        <a:bodyPr/>
        <a:lstStyle/>
        <a:p>
          <a:endParaRPr lang="en-US"/>
        </a:p>
      </dgm:t>
    </dgm:pt>
    <dgm:pt modelId="{EA25A838-A840-4B20-9FD0-64BB55E391C9}" type="sibTrans" cxnId="{FF7EE664-1C61-42F3-856C-CE7B2544EE0C}">
      <dgm:prSet/>
      <dgm:spPr/>
      <dgm:t>
        <a:bodyPr/>
        <a:lstStyle/>
        <a:p>
          <a:endParaRPr lang="en-US"/>
        </a:p>
      </dgm:t>
    </dgm:pt>
    <dgm:pt modelId="{4E52A0D5-DDC2-44D8-8225-572009ADA686}">
      <dgm:prSet/>
      <dgm:spPr/>
      <dgm:t>
        <a:bodyPr/>
        <a:lstStyle/>
        <a:p>
          <a:pPr>
            <a:lnSpc>
              <a:spcPct val="100000"/>
            </a:lnSpc>
          </a:pPr>
          <a:r>
            <a:rPr lang="en-US" dirty="0"/>
            <a:t>Does not Capture Malwares for further analysis</a:t>
          </a:r>
        </a:p>
      </dgm:t>
    </dgm:pt>
    <dgm:pt modelId="{5F46D512-E125-4FF6-B22B-FC8AFE926BD2}" type="parTrans" cxnId="{7CDDEFA1-8056-43C3-A329-72827B209E0D}">
      <dgm:prSet/>
      <dgm:spPr/>
      <dgm:t>
        <a:bodyPr/>
        <a:lstStyle/>
        <a:p>
          <a:endParaRPr lang="en-US"/>
        </a:p>
      </dgm:t>
    </dgm:pt>
    <dgm:pt modelId="{4998EF67-0226-47ED-ADE5-96064E5BB7CC}" type="sibTrans" cxnId="{7CDDEFA1-8056-43C3-A329-72827B209E0D}">
      <dgm:prSet/>
      <dgm:spPr/>
      <dgm:t>
        <a:bodyPr/>
        <a:lstStyle/>
        <a:p>
          <a:endParaRPr lang="en-US"/>
        </a:p>
      </dgm:t>
    </dgm:pt>
    <dgm:pt modelId="{72338027-D82A-4E98-8C15-4C9A3055704E}" type="pres">
      <dgm:prSet presAssocID="{87AF0C64-01BB-4470-805C-9FB571BA6139}" presName="vert0" presStyleCnt="0">
        <dgm:presLayoutVars>
          <dgm:dir/>
          <dgm:animOne val="branch"/>
          <dgm:animLvl val="lvl"/>
        </dgm:presLayoutVars>
      </dgm:prSet>
      <dgm:spPr/>
    </dgm:pt>
    <dgm:pt modelId="{93CC04CA-F433-468F-B7FF-27AE6A63BA5E}" type="pres">
      <dgm:prSet presAssocID="{F8166711-8006-4646-9313-F7605FCBF581}" presName="thickLine" presStyleLbl="alignNode1" presStyleIdx="0" presStyleCnt="11"/>
      <dgm:spPr/>
    </dgm:pt>
    <dgm:pt modelId="{6267F516-E71D-46C5-8848-B38995245DCD}" type="pres">
      <dgm:prSet presAssocID="{F8166711-8006-4646-9313-F7605FCBF581}" presName="horz1" presStyleCnt="0"/>
      <dgm:spPr/>
    </dgm:pt>
    <dgm:pt modelId="{B8CB9C54-2842-4F2B-B2F7-E93C4FE0ACD2}" type="pres">
      <dgm:prSet presAssocID="{F8166711-8006-4646-9313-F7605FCBF581}" presName="tx1" presStyleLbl="revTx" presStyleIdx="0" presStyleCnt="11"/>
      <dgm:spPr/>
    </dgm:pt>
    <dgm:pt modelId="{328E27BF-8562-4214-9D1A-5387620425F7}" type="pres">
      <dgm:prSet presAssocID="{F8166711-8006-4646-9313-F7605FCBF581}" presName="vert1" presStyleCnt="0"/>
      <dgm:spPr/>
    </dgm:pt>
    <dgm:pt modelId="{2CBEFD79-860A-4E45-9508-1251C5003FAB}" type="pres">
      <dgm:prSet presAssocID="{0DF2D06B-D538-4C86-80AF-730218ECB428}" presName="thickLine" presStyleLbl="alignNode1" presStyleIdx="1" presStyleCnt="11"/>
      <dgm:spPr/>
    </dgm:pt>
    <dgm:pt modelId="{24B21D19-19D7-4730-9CA8-2FE6B3BBB256}" type="pres">
      <dgm:prSet presAssocID="{0DF2D06B-D538-4C86-80AF-730218ECB428}" presName="horz1" presStyleCnt="0"/>
      <dgm:spPr/>
    </dgm:pt>
    <dgm:pt modelId="{B7FFF545-2D46-44D2-A47A-10A53498FBAE}" type="pres">
      <dgm:prSet presAssocID="{0DF2D06B-D538-4C86-80AF-730218ECB428}" presName="tx1" presStyleLbl="revTx" presStyleIdx="1" presStyleCnt="11"/>
      <dgm:spPr/>
    </dgm:pt>
    <dgm:pt modelId="{9D82B4CF-58F8-45C3-B3D9-FA9AB36D8A0F}" type="pres">
      <dgm:prSet presAssocID="{0DF2D06B-D538-4C86-80AF-730218ECB428}" presName="vert1" presStyleCnt="0"/>
      <dgm:spPr/>
    </dgm:pt>
    <dgm:pt modelId="{C88B269C-90F4-448E-8453-28424662D00A}" type="pres">
      <dgm:prSet presAssocID="{43AF2C04-3A8C-42ED-9E43-0875C0D4FD21}" presName="thickLine" presStyleLbl="alignNode1" presStyleIdx="2" presStyleCnt="11"/>
      <dgm:spPr/>
    </dgm:pt>
    <dgm:pt modelId="{155CB5CB-B781-4421-B4BF-9633B36BA1A4}" type="pres">
      <dgm:prSet presAssocID="{43AF2C04-3A8C-42ED-9E43-0875C0D4FD21}" presName="horz1" presStyleCnt="0"/>
      <dgm:spPr/>
    </dgm:pt>
    <dgm:pt modelId="{1E9A9742-95D4-4B91-B5AA-4D6068BC2530}" type="pres">
      <dgm:prSet presAssocID="{43AF2C04-3A8C-42ED-9E43-0875C0D4FD21}" presName="tx1" presStyleLbl="revTx" presStyleIdx="2" presStyleCnt="11"/>
      <dgm:spPr/>
    </dgm:pt>
    <dgm:pt modelId="{46BB817C-138B-4C9C-9043-7D47889D733A}" type="pres">
      <dgm:prSet presAssocID="{43AF2C04-3A8C-42ED-9E43-0875C0D4FD21}" presName="vert1" presStyleCnt="0"/>
      <dgm:spPr/>
    </dgm:pt>
    <dgm:pt modelId="{FA35353B-B4BE-4183-BB13-1C3B6FA3176E}" type="pres">
      <dgm:prSet presAssocID="{C8311AAD-F0D1-42BC-8227-573258FA46FD}" presName="thickLine" presStyleLbl="alignNode1" presStyleIdx="3" presStyleCnt="11"/>
      <dgm:spPr/>
    </dgm:pt>
    <dgm:pt modelId="{57226DBF-BBE2-461D-8841-589882376D97}" type="pres">
      <dgm:prSet presAssocID="{C8311AAD-F0D1-42BC-8227-573258FA46FD}" presName="horz1" presStyleCnt="0"/>
      <dgm:spPr/>
    </dgm:pt>
    <dgm:pt modelId="{949F74E5-0CDC-4F47-8E4F-9D5A61619378}" type="pres">
      <dgm:prSet presAssocID="{C8311AAD-F0D1-42BC-8227-573258FA46FD}" presName="tx1" presStyleLbl="revTx" presStyleIdx="3" presStyleCnt="11"/>
      <dgm:spPr/>
    </dgm:pt>
    <dgm:pt modelId="{49538785-76D8-4603-ADC0-56294057EF51}" type="pres">
      <dgm:prSet presAssocID="{C8311AAD-F0D1-42BC-8227-573258FA46FD}" presName="vert1" presStyleCnt="0"/>
      <dgm:spPr/>
    </dgm:pt>
    <dgm:pt modelId="{358387E1-71F1-4D63-9E88-E2E4E88338BC}" type="pres">
      <dgm:prSet presAssocID="{3310A7BE-B8FF-4D01-B111-FDFE77EC64B5}" presName="thickLine" presStyleLbl="alignNode1" presStyleIdx="4" presStyleCnt="11"/>
      <dgm:spPr/>
    </dgm:pt>
    <dgm:pt modelId="{C7E74BE3-5702-4FBD-A649-CC92DDE38E50}" type="pres">
      <dgm:prSet presAssocID="{3310A7BE-B8FF-4D01-B111-FDFE77EC64B5}" presName="horz1" presStyleCnt="0"/>
      <dgm:spPr/>
    </dgm:pt>
    <dgm:pt modelId="{0E9C2FED-994F-490A-905F-DA6F8AFE2E79}" type="pres">
      <dgm:prSet presAssocID="{3310A7BE-B8FF-4D01-B111-FDFE77EC64B5}" presName="tx1" presStyleLbl="revTx" presStyleIdx="4" presStyleCnt="11"/>
      <dgm:spPr/>
    </dgm:pt>
    <dgm:pt modelId="{5BE13033-1F21-4FB2-9757-0550AE269445}" type="pres">
      <dgm:prSet presAssocID="{3310A7BE-B8FF-4D01-B111-FDFE77EC64B5}" presName="vert1" presStyleCnt="0"/>
      <dgm:spPr/>
    </dgm:pt>
    <dgm:pt modelId="{1F452FCF-7C0D-474F-B6DF-2A3ACCAE5C17}" type="pres">
      <dgm:prSet presAssocID="{D137D9C6-42AF-4557-B12F-1A373C675F9A}" presName="thickLine" presStyleLbl="alignNode1" presStyleIdx="5" presStyleCnt="11"/>
      <dgm:spPr/>
    </dgm:pt>
    <dgm:pt modelId="{E56A89CE-DFC1-4968-8EFF-EA2EBAB476ED}" type="pres">
      <dgm:prSet presAssocID="{D137D9C6-42AF-4557-B12F-1A373C675F9A}" presName="horz1" presStyleCnt="0"/>
      <dgm:spPr/>
    </dgm:pt>
    <dgm:pt modelId="{D24C0B2E-285D-4C88-A693-79577B6BDE4A}" type="pres">
      <dgm:prSet presAssocID="{D137D9C6-42AF-4557-B12F-1A373C675F9A}" presName="tx1" presStyleLbl="revTx" presStyleIdx="5" presStyleCnt="11"/>
      <dgm:spPr/>
    </dgm:pt>
    <dgm:pt modelId="{5A600682-D2F0-40F8-8457-9C3D27704580}" type="pres">
      <dgm:prSet presAssocID="{D137D9C6-42AF-4557-B12F-1A373C675F9A}" presName="vert1" presStyleCnt="0"/>
      <dgm:spPr/>
    </dgm:pt>
    <dgm:pt modelId="{E41D33EF-44C7-424B-88B1-FD0D629DA7C5}" type="pres">
      <dgm:prSet presAssocID="{7DB795D0-54F0-423F-9240-4F012942C806}" presName="thickLine" presStyleLbl="alignNode1" presStyleIdx="6" presStyleCnt="11"/>
      <dgm:spPr/>
    </dgm:pt>
    <dgm:pt modelId="{8A6D76C4-A0B5-4DA6-88D2-7A38A666F3AF}" type="pres">
      <dgm:prSet presAssocID="{7DB795D0-54F0-423F-9240-4F012942C806}" presName="horz1" presStyleCnt="0"/>
      <dgm:spPr/>
    </dgm:pt>
    <dgm:pt modelId="{98C267EA-73D0-454C-9E18-D411384A042F}" type="pres">
      <dgm:prSet presAssocID="{7DB795D0-54F0-423F-9240-4F012942C806}" presName="tx1" presStyleLbl="revTx" presStyleIdx="6" presStyleCnt="11"/>
      <dgm:spPr/>
    </dgm:pt>
    <dgm:pt modelId="{CE8BA1D5-EC1A-47EB-9AE7-10D9E93D0C52}" type="pres">
      <dgm:prSet presAssocID="{7DB795D0-54F0-423F-9240-4F012942C806}" presName="vert1" presStyleCnt="0"/>
      <dgm:spPr/>
    </dgm:pt>
    <dgm:pt modelId="{93F96C18-6E85-49E9-8E35-9484DA0AED43}" type="pres">
      <dgm:prSet presAssocID="{E0540F84-252B-42F9-99C4-6B2565997B3A}" presName="thickLine" presStyleLbl="alignNode1" presStyleIdx="7" presStyleCnt="11"/>
      <dgm:spPr/>
    </dgm:pt>
    <dgm:pt modelId="{B2888FD0-B041-42AC-8ED4-C0180AB718AF}" type="pres">
      <dgm:prSet presAssocID="{E0540F84-252B-42F9-99C4-6B2565997B3A}" presName="horz1" presStyleCnt="0"/>
      <dgm:spPr/>
    </dgm:pt>
    <dgm:pt modelId="{698252CC-975E-4BB8-AA47-FCCDE5324284}" type="pres">
      <dgm:prSet presAssocID="{E0540F84-252B-42F9-99C4-6B2565997B3A}" presName="tx1" presStyleLbl="revTx" presStyleIdx="7" presStyleCnt="11"/>
      <dgm:spPr/>
    </dgm:pt>
    <dgm:pt modelId="{DA57102C-62A3-42DB-B204-B3E07204D280}" type="pres">
      <dgm:prSet presAssocID="{E0540F84-252B-42F9-99C4-6B2565997B3A}" presName="vert1" presStyleCnt="0"/>
      <dgm:spPr/>
    </dgm:pt>
    <dgm:pt modelId="{C24D7C0D-1401-4810-9900-189A5AEE3D6A}" type="pres">
      <dgm:prSet presAssocID="{FBDCAAE3-5AA4-44C4-B131-2F3AEBBD2A6E}" presName="thickLine" presStyleLbl="alignNode1" presStyleIdx="8" presStyleCnt="11"/>
      <dgm:spPr/>
    </dgm:pt>
    <dgm:pt modelId="{FB0EAA2C-55C9-4F31-AF25-A1E231C0B27E}" type="pres">
      <dgm:prSet presAssocID="{FBDCAAE3-5AA4-44C4-B131-2F3AEBBD2A6E}" presName="horz1" presStyleCnt="0"/>
      <dgm:spPr/>
    </dgm:pt>
    <dgm:pt modelId="{3106D4AF-B397-4B31-A2B0-3391F6DDF74D}" type="pres">
      <dgm:prSet presAssocID="{FBDCAAE3-5AA4-44C4-B131-2F3AEBBD2A6E}" presName="tx1" presStyleLbl="revTx" presStyleIdx="8" presStyleCnt="11"/>
      <dgm:spPr/>
    </dgm:pt>
    <dgm:pt modelId="{43A8BE67-6304-4886-99E8-50C22172265B}" type="pres">
      <dgm:prSet presAssocID="{FBDCAAE3-5AA4-44C4-B131-2F3AEBBD2A6E}" presName="vert1" presStyleCnt="0"/>
      <dgm:spPr/>
    </dgm:pt>
    <dgm:pt modelId="{583B4C0B-0C34-45FD-B61F-517B8F04B422}" type="pres">
      <dgm:prSet presAssocID="{89B4D923-2266-4CB5-A4CE-82CD8D7B916B}" presName="thickLine" presStyleLbl="alignNode1" presStyleIdx="9" presStyleCnt="11"/>
      <dgm:spPr/>
    </dgm:pt>
    <dgm:pt modelId="{813997AF-3ED3-4496-B171-86A905D316AD}" type="pres">
      <dgm:prSet presAssocID="{89B4D923-2266-4CB5-A4CE-82CD8D7B916B}" presName="horz1" presStyleCnt="0"/>
      <dgm:spPr/>
    </dgm:pt>
    <dgm:pt modelId="{88FBB014-D2C2-41B7-A0A3-2848A53A0CDD}" type="pres">
      <dgm:prSet presAssocID="{89B4D923-2266-4CB5-A4CE-82CD8D7B916B}" presName="tx1" presStyleLbl="revTx" presStyleIdx="9" presStyleCnt="11"/>
      <dgm:spPr/>
    </dgm:pt>
    <dgm:pt modelId="{1D4FE181-5A9A-4996-A9CC-2B525C30557B}" type="pres">
      <dgm:prSet presAssocID="{89B4D923-2266-4CB5-A4CE-82CD8D7B916B}" presName="vert1" presStyleCnt="0"/>
      <dgm:spPr/>
    </dgm:pt>
    <dgm:pt modelId="{FBF48605-2BFB-4FFE-A4EE-54104EF145D1}" type="pres">
      <dgm:prSet presAssocID="{4E52A0D5-DDC2-44D8-8225-572009ADA686}" presName="thickLine" presStyleLbl="alignNode1" presStyleIdx="10" presStyleCnt="11"/>
      <dgm:spPr/>
    </dgm:pt>
    <dgm:pt modelId="{C9D36A69-8D2D-4527-958A-D8C17E669244}" type="pres">
      <dgm:prSet presAssocID="{4E52A0D5-DDC2-44D8-8225-572009ADA686}" presName="horz1" presStyleCnt="0"/>
      <dgm:spPr/>
    </dgm:pt>
    <dgm:pt modelId="{EC9BFD24-C202-4613-B989-7D2837F2471F}" type="pres">
      <dgm:prSet presAssocID="{4E52A0D5-DDC2-44D8-8225-572009ADA686}" presName="tx1" presStyleLbl="revTx" presStyleIdx="10" presStyleCnt="11"/>
      <dgm:spPr/>
    </dgm:pt>
    <dgm:pt modelId="{AC9C6513-740F-4A38-8E9F-CA61B7048F16}" type="pres">
      <dgm:prSet presAssocID="{4E52A0D5-DDC2-44D8-8225-572009ADA686}" presName="vert1" presStyleCnt="0"/>
      <dgm:spPr/>
    </dgm:pt>
  </dgm:ptLst>
  <dgm:cxnLst>
    <dgm:cxn modelId="{1BDC0C12-3D98-44A8-BE4B-7FFF9556393A}" srcId="{87AF0C64-01BB-4470-805C-9FB571BA6139}" destId="{E0540F84-252B-42F9-99C4-6B2565997B3A}" srcOrd="7" destOrd="0" parTransId="{4B991C95-D764-4F9F-B292-FC4F486BBDE9}" sibTransId="{F4661E93-50C0-44C7-B41D-DD728F87534F}"/>
    <dgm:cxn modelId="{43121A18-D802-4AC3-A6EE-B8224DAFE9AA}" srcId="{87AF0C64-01BB-4470-805C-9FB571BA6139}" destId="{7DB795D0-54F0-423F-9240-4F012942C806}" srcOrd="6" destOrd="0" parTransId="{5DC1166A-DC3D-4DE6-A812-89D8A288E5FD}" sibTransId="{DDA2A3BC-8BC1-4580-AC07-75CD6A82279E}"/>
    <dgm:cxn modelId="{16D59B1A-17BC-4750-9E42-4440F6ABF009}" srcId="{87AF0C64-01BB-4470-805C-9FB571BA6139}" destId="{FBDCAAE3-5AA4-44C4-B131-2F3AEBBD2A6E}" srcOrd="8" destOrd="0" parTransId="{C19C8125-6296-45D1-8EB5-61D2E20C8ADE}" sibTransId="{899C3009-F819-4293-A4C3-085D29A28227}"/>
    <dgm:cxn modelId="{C466AD20-222C-4DD5-B358-B6F8518D9535}" type="presOf" srcId="{43AF2C04-3A8C-42ED-9E43-0875C0D4FD21}" destId="{1E9A9742-95D4-4B91-B5AA-4D6068BC2530}" srcOrd="0" destOrd="0" presId="urn:microsoft.com/office/officeart/2008/layout/LinedList"/>
    <dgm:cxn modelId="{C21C3838-16D7-4395-9E58-B60DFCF11CE1}" type="presOf" srcId="{89B4D923-2266-4CB5-A4CE-82CD8D7B916B}" destId="{88FBB014-D2C2-41B7-A0A3-2848A53A0CDD}" srcOrd="0" destOrd="0" presId="urn:microsoft.com/office/officeart/2008/layout/LinedList"/>
    <dgm:cxn modelId="{2D02FA38-0761-4759-8274-5F86AA5D1883}" type="presOf" srcId="{87AF0C64-01BB-4470-805C-9FB571BA6139}" destId="{72338027-D82A-4E98-8C15-4C9A3055704E}" srcOrd="0" destOrd="0" presId="urn:microsoft.com/office/officeart/2008/layout/LinedList"/>
    <dgm:cxn modelId="{669F233A-F1B8-4838-A67A-1017C0C1B77A}" srcId="{87AF0C64-01BB-4470-805C-9FB571BA6139}" destId="{D137D9C6-42AF-4557-B12F-1A373C675F9A}" srcOrd="5" destOrd="0" parTransId="{1F7E218E-0693-40E5-A908-8551F8592FC5}" sibTransId="{8E66706F-62C0-42B5-B62B-A745E0ACB028}"/>
    <dgm:cxn modelId="{1E6A3C5E-2D2F-4C2C-B688-48C93211BCA4}" srcId="{87AF0C64-01BB-4470-805C-9FB571BA6139}" destId="{3310A7BE-B8FF-4D01-B111-FDFE77EC64B5}" srcOrd="4" destOrd="0" parTransId="{E4D28FD1-D268-49B0-A7FA-510982C270F2}" sibTransId="{EFA87760-1BDF-4992-A519-16C21362937B}"/>
    <dgm:cxn modelId="{2C414A5F-744E-458F-839F-497773C17887}" srcId="{87AF0C64-01BB-4470-805C-9FB571BA6139}" destId="{43AF2C04-3A8C-42ED-9E43-0875C0D4FD21}" srcOrd="2" destOrd="0" parTransId="{4D0E3A72-E7FF-44D3-8133-01924224CEDB}" sibTransId="{F0BC3610-ABDB-4457-92A8-8EF95FCDE3C4}"/>
    <dgm:cxn modelId="{7C58C960-D25A-4742-BB24-D08B906AD3D8}" type="presOf" srcId="{E0540F84-252B-42F9-99C4-6B2565997B3A}" destId="{698252CC-975E-4BB8-AA47-FCCDE5324284}" srcOrd="0" destOrd="0" presId="urn:microsoft.com/office/officeart/2008/layout/LinedList"/>
    <dgm:cxn modelId="{FF7EE664-1C61-42F3-856C-CE7B2544EE0C}" srcId="{87AF0C64-01BB-4470-805C-9FB571BA6139}" destId="{89B4D923-2266-4CB5-A4CE-82CD8D7B916B}" srcOrd="9" destOrd="0" parTransId="{89311E07-45E5-47AF-8EC6-5B2CE29E1BAC}" sibTransId="{EA25A838-A840-4B20-9FD0-64BB55E391C9}"/>
    <dgm:cxn modelId="{D4B7D367-37BC-4C5B-8C0F-A154F9FDA808}" type="presOf" srcId="{3310A7BE-B8FF-4D01-B111-FDFE77EC64B5}" destId="{0E9C2FED-994F-490A-905F-DA6F8AFE2E79}" srcOrd="0" destOrd="0" presId="urn:microsoft.com/office/officeart/2008/layout/LinedList"/>
    <dgm:cxn modelId="{5179E37F-C605-459B-AB26-26BEFFE35430}" srcId="{87AF0C64-01BB-4470-805C-9FB571BA6139}" destId="{C8311AAD-F0D1-42BC-8227-573258FA46FD}" srcOrd="3" destOrd="0" parTransId="{6A100184-10A3-4A48-B353-1A9E0E410A34}" sibTransId="{674B462E-8C57-48EE-9E47-25831A61060D}"/>
    <dgm:cxn modelId="{81D8F794-5508-415A-8A6E-088C9F001E39}" type="presOf" srcId="{D137D9C6-42AF-4557-B12F-1A373C675F9A}" destId="{D24C0B2E-285D-4C88-A693-79577B6BDE4A}" srcOrd="0" destOrd="0" presId="urn:microsoft.com/office/officeart/2008/layout/LinedList"/>
    <dgm:cxn modelId="{A2B55497-710E-4B9C-BE50-284A209DF5B4}" type="presOf" srcId="{F8166711-8006-4646-9313-F7605FCBF581}" destId="{B8CB9C54-2842-4F2B-B2F7-E93C4FE0ACD2}" srcOrd="0" destOrd="0" presId="urn:microsoft.com/office/officeart/2008/layout/LinedList"/>
    <dgm:cxn modelId="{F63810A1-49D6-4D25-A385-30E1A40307D3}" srcId="{87AF0C64-01BB-4470-805C-9FB571BA6139}" destId="{F8166711-8006-4646-9313-F7605FCBF581}" srcOrd="0" destOrd="0" parTransId="{24D0904E-FCD9-4B14-BF5F-32F204280EA1}" sibTransId="{B1464A25-7C4A-40BC-9423-A815A23C60BB}"/>
    <dgm:cxn modelId="{7CDDEFA1-8056-43C3-A329-72827B209E0D}" srcId="{87AF0C64-01BB-4470-805C-9FB571BA6139}" destId="{4E52A0D5-DDC2-44D8-8225-572009ADA686}" srcOrd="10" destOrd="0" parTransId="{5F46D512-E125-4FF6-B22B-FC8AFE926BD2}" sibTransId="{4998EF67-0226-47ED-ADE5-96064E5BB7CC}"/>
    <dgm:cxn modelId="{57170BAD-E4E7-4553-87AE-C7324E8F915D}" srcId="{87AF0C64-01BB-4470-805C-9FB571BA6139}" destId="{0DF2D06B-D538-4C86-80AF-730218ECB428}" srcOrd="1" destOrd="0" parTransId="{833D9505-BEDD-4919-910D-A40FF695778C}" sibTransId="{62BD5AC6-E018-4041-9FB4-63D8F3A4B15C}"/>
    <dgm:cxn modelId="{037B10BA-9C55-4F78-A030-8452213DC1DC}" type="presOf" srcId="{C8311AAD-F0D1-42BC-8227-573258FA46FD}" destId="{949F74E5-0CDC-4F47-8E4F-9D5A61619378}" srcOrd="0" destOrd="0" presId="urn:microsoft.com/office/officeart/2008/layout/LinedList"/>
    <dgm:cxn modelId="{379DF3C9-88C5-4A7C-A0F2-4CEAE24CF15F}" type="presOf" srcId="{4E52A0D5-DDC2-44D8-8225-572009ADA686}" destId="{EC9BFD24-C202-4613-B989-7D2837F2471F}" srcOrd="0" destOrd="0" presId="urn:microsoft.com/office/officeart/2008/layout/LinedList"/>
    <dgm:cxn modelId="{7F85D5DD-AB09-45C0-B162-7EB9B7826B7C}" type="presOf" srcId="{0DF2D06B-D538-4C86-80AF-730218ECB428}" destId="{B7FFF545-2D46-44D2-A47A-10A53498FBAE}" srcOrd="0" destOrd="0" presId="urn:microsoft.com/office/officeart/2008/layout/LinedList"/>
    <dgm:cxn modelId="{454F60E5-F38C-4D75-A3C4-FA00A3B5CE46}" type="presOf" srcId="{7DB795D0-54F0-423F-9240-4F012942C806}" destId="{98C267EA-73D0-454C-9E18-D411384A042F}" srcOrd="0" destOrd="0" presId="urn:microsoft.com/office/officeart/2008/layout/LinedList"/>
    <dgm:cxn modelId="{DB053CE6-0CEA-4662-AD0C-9EA1A6295E19}" type="presOf" srcId="{FBDCAAE3-5AA4-44C4-B131-2F3AEBBD2A6E}" destId="{3106D4AF-B397-4B31-A2B0-3391F6DDF74D}" srcOrd="0" destOrd="0" presId="urn:microsoft.com/office/officeart/2008/layout/LinedList"/>
    <dgm:cxn modelId="{0BD28ED5-2CE0-43CF-BF31-6337AEA3C2D4}" type="presParOf" srcId="{72338027-D82A-4E98-8C15-4C9A3055704E}" destId="{93CC04CA-F433-468F-B7FF-27AE6A63BA5E}" srcOrd="0" destOrd="0" presId="urn:microsoft.com/office/officeart/2008/layout/LinedList"/>
    <dgm:cxn modelId="{B0FD8847-8A95-4D90-994A-77DB4A998370}" type="presParOf" srcId="{72338027-D82A-4E98-8C15-4C9A3055704E}" destId="{6267F516-E71D-46C5-8848-B38995245DCD}" srcOrd="1" destOrd="0" presId="urn:microsoft.com/office/officeart/2008/layout/LinedList"/>
    <dgm:cxn modelId="{0C4C2811-26BA-4056-BC70-F4A6E127678E}" type="presParOf" srcId="{6267F516-E71D-46C5-8848-B38995245DCD}" destId="{B8CB9C54-2842-4F2B-B2F7-E93C4FE0ACD2}" srcOrd="0" destOrd="0" presId="urn:microsoft.com/office/officeart/2008/layout/LinedList"/>
    <dgm:cxn modelId="{CC6CE442-E87B-4AE3-ACC3-ED28E453E903}" type="presParOf" srcId="{6267F516-E71D-46C5-8848-B38995245DCD}" destId="{328E27BF-8562-4214-9D1A-5387620425F7}" srcOrd="1" destOrd="0" presId="urn:microsoft.com/office/officeart/2008/layout/LinedList"/>
    <dgm:cxn modelId="{F6DB80C8-2598-41E3-90D1-35C805A824D3}" type="presParOf" srcId="{72338027-D82A-4E98-8C15-4C9A3055704E}" destId="{2CBEFD79-860A-4E45-9508-1251C5003FAB}" srcOrd="2" destOrd="0" presId="urn:microsoft.com/office/officeart/2008/layout/LinedList"/>
    <dgm:cxn modelId="{350F2E4B-F81B-439C-8132-9EEE8F8E79F7}" type="presParOf" srcId="{72338027-D82A-4E98-8C15-4C9A3055704E}" destId="{24B21D19-19D7-4730-9CA8-2FE6B3BBB256}" srcOrd="3" destOrd="0" presId="urn:microsoft.com/office/officeart/2008/layout/LinedList"/>
    <dgm:cxn modelId="{7B94CA4B-F9C8-435C-A779-5BDE13872119}" type="presParOf" srcId="{24B21D19-19D7-4730-9CA8-2FE6B3BBB256}" destId="{B7FFF545-2D46-44D2-A47A-10A53498FBAE}" srcOrd="0" destOrd="0" presId="urn:microsoft.com/office/officeart/2008/layout/LinedList"/>
    <dgm:cxn modelId="{D139C3D7-22AE-4F5B-9CEA-D3BC682AC7A1}" type="presParOf" srcId="{24B21D19-19D7-4730-9CA8-2FE6B3BBB256}" destId="{9D82B4CF-58F8-45C3-B3D9-FA9AB36D8A0F}" srcOrd="1" destOrd="0" presId="urn:microsoft.com/office/officeart/2008/layout/LinedList"/>
    <dgm:cxn modelId="{562F2E23-0936-4730-AA10-757BBA87C235}" type="presParOf" srcId="{72338027-D82A-4E98-8C15-4C9A3055704E}" destId="{C88B269C-90F4-448E-8453-28424662D00A}" srcOrd="4" destOrd="0" presId="urn:microsoft.com/office/officeart/2008/layout/LinedList"/>
    <dgm:cxn modelId="{681A06B5-B8C3-4A72-95F2-C79CDD827E33}" type="presParOf" srcId="{72338027-D82A-4E98-8C15-4C9A3055704E}" destId="{155CB5CB-B781-4421-B4BF-9633B36BA1A4}" srcOrd="5" destOrd="0" presId="urn:microsoft.com/office/officeart/2008/layout/LinedList"/>
    <dgm:cxn modelId="{27947441-4DD6-4535-9A65-538DF7888642}" type="presParOf" srcId="{155CB5CB-B781-4421-B4BF-9633B36BA1A4}" destId="{1E9A9742-95D4-4B91-B5AA-4D6068BC2530}" srcOrd="0" destOrd="0" presId="urn:microsoft.com/office/officeart/2008/layout/LinedList"/>
    <dgm:cxn modelId="{14A75371-8459-4700-903C-CB037176E06F}" type="presParOf" srcId="{155CB5CB-B781-4421-B4BF-9633B36BA1A4}" destId="{46BB817C-138B-4C9C-9043-7D47889D733A}" srcOrd="1" destOrd="0" presId="urn:microsoft.com/office/officeart/2008/layout/LinedList"/>
    <dgm:cxn modelId="{E4A0E6E8-B237-4C7B-8482-8554FEDC52E5}" type="presParOf" srcId="{72338027-D82A-4E98-8C15-4C9A3055704E}" destId="{FA35353B-B4BE-4183-BB13-1C3B6FA3176E}" srcOrd="6" destOrd="0" presId="urn:microsoft.com/office/officeart/2008/layout/LinedList"/>
    <dgm:cxn modelId="{7CD75993-5F5B-45F0-B233-ED6D1E43CE4B}" type="presParOf" srcId="{72338027-D82A-4E98-8C15-4C9A3055704E}" destId="{57226DBF-BBE2-461D-8841-589882376D97}" srcOrd="7" destOrd="0" presId="urn:microsoft.com/office/officeart/2008/layout/LinedList"/>
    <dgm:cxn modelId="{B7806444-719F-4F21-8C1A-650A708E4551}" type="presParOf" srcId="{57226DBF-BBE2-461D-8841-589882376D97}" destId="{949F74E5-0CDC-4F47-8E4F-9D5A61619378}" srcOrd="0" destOrd="0" presId="urn:microsoft.com/office/officeart/2008/layout/LinedList"/>
    <dgm:cxn modelId="{8E641EAF-17A4-4E59-9FFB-2A9DB119A310}" type="presParOf" srcId="{57226DBF-BBE2-461D-8841-589882376D97}" destId="{49538785-76D8-4603-ADC0-56294057EF51}" srcOrd="1" destOrd="0" presId="urn:microsoft.com/office/officeart/2008/layout/LinedList"/>
    <dgm:cxn modelId="{D736972F-8CE7-47C0-A334-76C97F4C332B}" type="presParOf" srcId="{72338027-D82A-4E98-8C15-4C9A3055704E}" destId="{358387E1-71F1-4D63-9E88-E2E4E88338BC}" srcOrd="8" destOrd="0" presId="urn:microsoft.com/office/officeart/2008/layout/LinedList"/>
    <dgm:cxn modelId="{BE3E8B8E-BF75-4555-BD8F-9E5AAFF0AF8E}" type="presParOf" srcId="{72338027-D82A-4E98-8C15-4C9A3055704E}" destId="{C7E74BE3-5702-4FBD-A649-CC92DDE38E50}" srcOrd="9" destOrd="0" presId="urn:microsoft.com/office/officeart/2008/layout/LinedList"/>
    <dgm:cxn modelId="{0115DFAA-AEF9-4173-B3E6-36465AE73748}" type="presParOf" srcId="{C7E74BE3-5702-4FBD-A649-CC92DDE38E50}" destId="{0E9C2FED-994F-490A-905F-DA6F8AFE2E79}" srcOrd="0" destOrd="0" presId="urn:microsoft.com/office/officeart/2008/layout/LinedList"/>
    <dgm:cxn modelId="{025F0D69-5ED9-405B-B533-0D6F7C9C3430}" type="presParOf" srcId="{C7E74BE3-5702-4FBD-A649-CC92DDE38E50}" destId="{5BE13033-1F21-4FB2-9757-0550AE269445}" srcOrd="1" destOrd="0" presId="urn:microsoft.com/office/officeart/2008/layout/LinedList"/>
    <dgm:cxn modelId="{6C3E3E3B-F492-46C7-BBC7-5CF4C72AF088}" type="presParOf" srcId="{72338027-D82A-4E98-8C15-4C9A3055704E}" destId="{1F452FCF-7C0D-474F-B6DF-2A3ACCAE5C17}" srcOrd="10" destOrd="0" presId="urn:microsoft.com/office/officeart/2008/layout/LinedList"/>
    <dgm:cxn modelId="{0F135325-3B4F-4E2E-AFB7-975AF00FF4CB}" type="presParOf" srcId="{72338027-D82A-4E98-8C15-4C9A3055704E}" destId="{E56A89CE-DFC1-4968-8EFF-EA2EBAB476ED}" srcOrd="11" destOrd="0" presId="urn:microsoft.com/office/officeart/2008/layout/LinedList"/>
    <dgm:cxn modelId="{F18EF818-4772-4838-A00D-4FC34D9D3F6D}" type="presParOf" srcId="{E56A89CE-DFC1-4968-8EFF-EA2EBAB476ED}" destId="{D24C0B2E-285D-4C88-A693-79577B6BDE4A}" srcOrd="0" destOrd="0" presId="urn:microsoft.com/office/officeart/2008/layout/LinedList"/>
    <dgm:cxn modelId="{EC9F82C6-898E-4F9E-A2AC-D0FEE1353BD4}" type="presParOf" srcId="{E56A89CE-DFC1-4968-8EFF-EA2EBAB476ED}" destId="{5A600682-D2F0-40F8-8457-9C3D27704580}" srcOrd="1" destOrd="0" presId="urn:microsoft.com/office/officeart/2008/layout/LinedList"/>
    <dgm:cxn modelId="{EC31AB25-F4F6-4BFC-BB40-B19699801F6B}" type="presParOf" srcId="{72338027-D82A-4E98-8C15-4C9A3055704E}" destId="{E41D33EF-44C7-424B-88B1-FD0D629DA7C5}" srcOrd="12" destOrd="0" presId="urn:microsoft.com/office/officeart/2008/layout/LinedList"/>
    <dgm:cxn modelId="{4C01BBA3-B7CC-483B-9B0B-458C47A5065E}" type="presParOf" srcId="{72338027-D82A-4E98-8C15-4C9A3055704E}" destId="{8A6D76C4-A0B5-4DA6-88D2-7A38A666F3AF}" srcOrd="13" destOrd="0" presId="urn:microsoft.com/office/officeart/2008/layout/LinedList"/>
    <dgm:cxn modelId="{F13DC5F1-2A66-40ED-A64C-92F99A3FAA00}" type="presParOf" srcId="{8A6D76C4-A0B5-4DA6-88D2-7A38A666F3AF}" destId="{98C267EA-73D0-454C-9E18-D411384A042F}" srcOrd="0" destOrd="0" presId="urn:microsoft.com/office/officeart/2008/layout/LinedList"/>
    <dgm:cxn modelId="{634FC4AC-30D5-4A8C-BC43-E19BD5B42A46}" type="presParOf" srcId="{8A6D76C4-A0B5-4DA6-88D2-7A38A666F3AF}" destId="{CE8BA1D5-EC1A-47EB-9AE7-10D9E93D0C52}" srcOrd="1" destOrd="0" presId="urn:microsoft.com/office/officeart/2008/layout/LinedList"/>
    <dgm:cxn modelId="{BEA5CEF5-A825-48FE-85AB-1ADB96F484C2}" type="presParOf" srcId="{72338027-D82A-4E98-8C15-4C9A3055704E}" destId="{93F96C18-6E85-49E9-8E35-9484DA0AED43}" srcOrd="14" destOrd="0" presId="urn:microsoft.com/office/officeart/2008/layout/LinedList"/>
    <dgm:cxn modelId="{58BCB578-4528-4507-A26A-7C29C8996440}" type="presParOf" srcId="{72338027-D82A-4E98-8C15-4C9A3055704E}" destId="{B2888FD0-B041-42AC-8ED4-C0180AB718AF}" srcOrd="15" destOrd="0" presId="urn:microsoft.com/office/officeart/2008/layout/LinedList"/>
    <dgm:cxn modelId="{4FCE4333-FC12-4E2C-ACE4-E3503F65C866}" type="presParOf" srcId="{B2888FD0-B041-42AC-8ED4-C0180AB718AF}" destId="{698252CC-975E-4BB8-AA47-FCCDE5324284}" srcOrd="0" destOrd="0" presId="urn:microsoft.com/office/officeart/2008/layout/LinedList"/>
    <dgm:cxn modelId="{BC2F95A0-27AA-4C62-9616-149FB4935C43}" type="presParOf" srcId="{B2888FD0-B041-42AC-8ED4-C0180AB718AF}" destId="{DA57102C-62A3-42DB-B204-B3E07204D280}" srcOrd="1" destOrd="0" presId="urn:microsoft.com/office/officeart/2008/layout/LinedList"/>
    <dgm:cxn modelId="{69D68E8E-4B63-4215-9478-C1EC7CD2C906}" type="presParOf" srcId="{72338027-D82A-4E98-8C15-4C9A3055704E}" destId="{C24D7C0D-1401-4810-9900-189A5AEE3D6A}" srcOrd="16" destOrd="0" presId="urn:microsoft.com/office/officeart/2008/layout/LinedList"/>
    <dgm:cxn modelId="{4FCAD96A-BDDB-4FFA-BD29-ABE9C5C73560}" type="presParOf" srcId="{72338027-D82A-4E98-8C15-4C9A3055704E}" destId="{FB0EAA2C-55C9-4F31-AF25-A1E231C0B27E}" srcOrd="17" destOrd="0" presId="urn:microsoft.com/office/officeart/2008/layout/LinedList"/>
    <dgm:cxn modelId="{5664F1F8-E1AE-46DF-A701-B86FA9C86430}" type="presParOf" srcId="{FB0EAA2C-55C9-4F31-AF25-A1E231C0B27E}" destId="{3106D4AF-B397-4B31-A2B0-3391F6DDF74D}" srcOrd="0" destOrd="0" presId="urn:microsoft.com/office/officeart/2008/layout/LinedList"/>
    <dgm:cxn modelId="{F27F92AC-346E-45C2-B4AB-8A425B358B8A}" type="presParOf" srcId="{FB0EAA2C-55C9-4F31-AF25-A1E231C0B27E}" destId="{43A8BE67-6304-4886-99E8-50C22172265B}" srcOrd="1" destOrd="0" presId="urn:microsoft.com/office/officeart/2008/layout/LinedList"/>
    <dgm:cxn modelId="{EDF475F6-FFF8-4B6D-AC87-142D5699B239}" type="presParOf" srcId="{72338027-D82A-4E98-8C15-4C9A3055704E}" destId="{583B4C0B-0C34-45FD-B61F-517B8F04B422}" srcOrd="18" destOrd="0" presId="urn:microsoft.com/office/officeart/2008/layout/LinedList"/>
    <dgm:cxn modelId="{BAAE44E3-DEFC-4C21-835E-C13C577B5D6F}" type="presParOf" srcId="{72338027-D82A-4E98-8C15-4C9A3055704E}" destId="{813997AF-3ED3-4496-B171-86A905D316AD}" srcOrd="19" destOrd="0" presId="urn:microsoft.com/office/officeart/2008/layout/LinedList"/>
    <dgm:cxn modelId="{74B91550-CF1A-4C71-89A7-6BBD6D2BDEFD}" type="presParOf" srcId="{813997AF-3ED3-4496-B171-86A905D316AD}" destId="{88FBB014-D2C2-41B7-A0A3-2848A53A0CDD}" srcOrd="0" destOrd="0" presId="urn:microsoft.com/office/officeart/2008/layout/LinedList"/>
    <dgm:cxn modelId="{BE36BC34-15C9-4607-A4B6-166212DBDD9A}" type="presParOf" srcId="{813997AF-3ED3-4496-B171-86A905D316AD}" destId="{1D4FE181-5A9A-4996-A9CC-2B525C30557B}" srcOrd="1" destOrd="0" presId="urn:microsoft.com/office/officeart/2008/layout/LinedList"/>
    <dgm:cxn modelId="{771E4A9C-CD67-42CD-8761-6071DFD50B6B}" type="presParOf" srcId="{72338027-D82A-4E98-8C15-4C9A3055704E}" destId="{FBF48605-2BFB-4FFE-A4EE-54104EF145D1}" srcOrd="20" destOrd="0" presId="urn:microsoft.com/office/officeart/2008/layout/LinedList"/>
    <dgm:cxn modelId="{32279C56-18F0-474C-A01F-48C56CA9DD20}" type="presParOf" srcId="{72338027-D82A-4E98-8C15-4C9A3055704E}" destId="{C9D36A69-8D2D-4527-958A-D8C17E669244}" srcOrd="21" destOrd="0" presId="urn:microsoft.com/office/officeart/2008/layout/LinedList"/>
    <dgm:cxn modelId="{EC698258-A560-4B17-8FD5-9E98DE305A90}" type="presParOf" srcId="{C9D36A69-8D2D-4527-958A-D8C17E669244}" destId="{EC9BFD24-C202-4613-B989-7D2837F2471F}" srcOrd="0" destOrd="0" presId="urn:microsoft.com/office/officeart/2008/layout/LinedList"/>
    <dgm:cxn modelId="{A72CA2EB-49B6-4F19-8911-CEAAD71A5AE8}" type="presParOf" srcId="{C9D36A69-8D2D-4527-958A-D8C17E669244}" destId="{AC9C6513-740F-4A38-8E9F-CA61B7048F1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CC04CA-F433-468F-B7FF-27AE6A63BA5E}">
      <dsp:nvSpPr>
        <dsp:cNvPr id="0" name=""/>
        <dsp:cNvSpPr/>
      </dsp:nvSpPr>
      <dsp:spPr>
        <a:xfrm>
          <a:off x="0" y="1782"/>
          <a:ext cx="877057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8CB9C54-2842-4F2B-B2F7-E93C4FE0ACD2}">
      <dsp:nvSpPr>
        <dsp:cNvPr id="0" name=""/>
        <dsp:cNvSpPr/>
      </dsp:nvSpPr>
      <dsp:spPr>
        <a:xfrm>
          <a:off x="0" y="1782"/>
          <a:ext cx="8770571" cy="33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100000"/>
            </a:lnSpc>
            <a:spcBef>
              <a:spcPct val="0"/>
            </a:spcBef>
            <a:spcAft>
              <a:spcPct val="35000"/>
            </a:spcAft>
            <a:buNone/>
          </a:pPr>
          <a:r>
            <a:rPr lang="en-US" sz="1000" b="0" kern="1200" baseline="0"/>
            <a:t>The physical process is not so accurate, and has a limited APIs to link to external physical process</a:t>
          </a:r>
          <a:endParaRPr lang="en-US" sz="1000" kern="1200"/>
        </a:p>
      </dsp:txBody>
      <dsp:txXfrm>
        <a:off x="0" y="1782"/>
        <a:ext cx="8770571" cy="331630"/>
      </dsp:txXfrm>
    </dsp:sp>
    <dsp:sp modelId="{2CBEFD79-860A-4E45-9508-1251C5003FAB}">
      <dsp:nvSpPr>
        <dsp:cNvPr id="0" name=""/>
        <dsp:cNvSpPr/>
      </dsp:nvSpPr>
      <dsp:spPr>
        <a:xfrm>
          <a:off x="0" y="333413"/>
          <a:ext cx="877057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7FFF545-2D46-44D2-A47A-10A53498FBAE}">
      <dsp:nvSpPr>
        <dsp:cNvPr id="0" name=""/>
        <dsp:cNvSpPr/>
      </dsp:nvSpPr>
      <dsp:spPr>
        <a:xfrm>
          <a:off x="0" y="333413"/>
          <a:ext cx="8770571" cy="33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100000"/>
            </a:lnSpc>
            <a:spcBef>
              <a:spcPct val="0"/>
            </a:spcBef>
            <a:spcAft>
              <a:spcPct val="35000"/>
            </a:spcAft>
            <a:buNone/>
          </a:pPr>
          <a:r>
            <a:rPr lang="en-US" sz="1000" b="0" kern="1200" baseline="0"/>
            <a:t>It does not support many current ICS protocols like Modbus, it only support one protocol which is Ethernet/IP</a:t>
          </a:r>
          <a:endParaRPr lang="en-US" sz="1000" kern="1200"/>
        </a:p>
      </dsp:txBody>
      <dsp:txXfrm>
        <a:off x="0" y="333413"/>
        <a:ext cx="8770571" cy="331630"/>
      </dsp:txXfrm>
    </dsp:sp>
    <dsp:sp modelId="{C88B269C-90F4-448E-8453-28424662D00A}">
      <dsp:nvSpPr>
        <dsp:cNvPr id="0" name=""/>
        <dsp:cNvSpPr/>
      </dsp:nvSpPr>
      <dsp:spPr>
        <a:xfrm>
          <a:off x="0" y="665044"/>
          <a:ext cx="877057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9A9742-95D4-4B91-B5AA-4D6068BC2530}">
      <dsp:nvSpPr>
        <dsp:cNvPr id="0" name=""/>
        <dsp:cNvSpPr/>
      </dsp:nvSpPr>
      <dsp:spPr>
        <a:xfrm>
          <a:off x="0" y="665044"/>
          <a:ext cx="8770571" cy="33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100000"/>
            </a:lnSpc>
            <a:spcBef>
              <a:spcPct val="0"/>
            </a:spcBef>
            <a:spcAft>
              <a:spcPct val="35000"/>
            </a:spcAft>
            <a:buNone/>
          </a:pPr>
          <a:r>
            <a:rPr lang="en-US" sz="1000" b="0" kern="1200" baseline="0"/>
            <a:t>Evaluation scope is narrow and not so clear, the CTF does not show how real world attackers can act on the system</a:t>
          </a:r>
          <a:endParaRPr lang="en-US" sz="1000" kern="1200"/>
        </a:p>
      </dsp:txBody>
      <dsp:txXfrm>
        <a:off x="0" y="665044"/>
        <a:ext cx="8770571" cy="331630"/>
      </dsp:txXfrm>
    </dsp:sp>
    <dsp:sp modelId="{FA35353B-B4BE-4183-BB13-1C3B6FA3176E}">
      <dsp:nvSpPr>
        <dsp:cNvPr id="0" name=""/>
        <dsp:cNvSpPr/>
      </dsp:nvSpPr>
      <dsp:spPr>
        <a:xfrm>
          <a:off x="0" y="996675"/>
          <a:ext cx="877057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49F74E5-0CDC-4F47-8E4F-9D5A61619378}">
      <dsp:nvSpPr>
        <dsp:cNvPr id="0" name=""/>
        <dsp:cNvSpPr/>
      </dsp:nvSpPr>
      <dsp:spPr>
        <a:xfrm>
          <a:off x="0" y="996675"/>
          <a:ext cx="8770571" cy="33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100000"/>
            </a:lnSpc>
            <a:spcBef>
              <a:spcPct val="0"/>
            </a:spcBef>
            <a:spcAft>
              <a:spcPct val="35000"/>
            </a:spcAft>
            <a:buNone/>
          </a:pPr>
          <a:r>
            <a:rPr lang="en-US" sz="1000" b="0" kern="1200" baseline="0"/>
            <a:t>Since the physical process is not so accurate, the real attackers will easily detect that this is a honeypot.</a:t>
          </a:r>
          <a:endParaRPr lang="en-US" sz="1000" kern="1200" dirty="0"/>
        </a:p>
      </dsp:txBody>
      <dsp:txXfrm>
        <a:off x="0" y="996675"/>
        <a:ext cx="8770571" cy="331630"/>
      </dsp:txXfrm>
    </dsp:sp>
    <dsp:sp modelId="{358387E1-71F1-4D63-9E88-E2E4E88338BC}">
      <dsp:nvSpPr>
        <dsp:cNvPr id="0" name=""/>
        <dsp:cNvSpPr/>
      </dsp:nvSpPr>
      <dsp:spPr>
        <a:xfrm>
          <a:off x="0" y="1328305"/>
          <a:ext cx="877057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E9C2FED-994F-490A-905F-DA6F8AFE2E79}">
      <dsp:nvSpPr>
        <dsp:cNvPr id="0" name=""/>
        <dsp:cNvSpPr/>
      </dsp:nvSpPr>
      <dsp:spPr>
        <a:xfrm>
          <a:off x="0" y="1328305"/>
          <a:ext cx="8770571" cy="33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100000"/>
            </a:lnSpc>
            <a:spcBef>
              <a:spcPct val="0"/>
            </a:spcBef>
            <a:spcAft>
              <a:spcPct val="35000"/>
            </a:spcAft>
            <a:buNone/>
          </a:pPr>
          <a:r>
            <a:rPr lang="en-US" sz="1000" kern="1200" dirty="0"/>
            <a:t>No Fault Tolerance / Resilience ( this is important )</a:t>
          </a:r>
        </a:p>
      </dsp:txBody>
      <dsp:txXfrm>
        <a:off x="0" y="1328305"/>
        <a:ext cx="8770571" cy="331630"/>
      </dsp:txXfrm>
    </dsp:sp>
    <dsp:sp modelId="{1F452FCF-7C0D-474F-B6DF-2A3ACCAE5C17}">
      <dsp:nvSpPr>
        <dsp:cNvPr id="0" name=""/>
        <dsp:cNvSpPr/>
      </dsp:nvSpPr>
      <dsp:spPr>
        <a:xfrm>
          <a:off x="0" y="1659936"/>
          <a:ext cx="877057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24C0B2E-285D-4C88-A693-79577B6BDE4A}">
      <dsp:nvSpPr>
        <dsp:cNvPr id="0" name=""/>
        <dsp:cNvSpPr/>
      </dsp:nvSpPr>
      <dsp:spPr>
        <a:xfrm>
          <a:off x="0" y="1659936"/>
          <a:ext cx="8770571" cy="33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100000"/>
            </a:lnSpc>
            <a:spcBef>
              <a:spcPct val="0"/>
            </a:spcBef>
            <a:spcAft>
              <a:spcPct val="35000"/>
            </a:spcAft>
            <a:buNone/>
          </a:pPr>
          <a:r>
            <a:rPr lang="en-US" sz="1000" kern="1200"/>
            <a:t>Lack of post processing</a:t>
          </a:r>
          <a:endParaRPr lang="en-US" sz="1000" kern="1200" dirty="0"/>
        </a:p>
      </dsp:txBody>
      <dsp:txXfrm>
        <a:off x="0" y="1659936"/>
        <a:ext cx="8770571" cy="331630"/>
      </dsp:txXfrm>
    </dsp:sp>
    <dsp:sp modelId="{E41D33EF-44C7-424B-88B1-FD0D629DA7C5}">
      <dsp:nvSpPr>
        <dsp:cNvPr id="0" name=""/>
        <dsp:cNvSpPr/>
      </dsp:nvSpPr>
      <dsp:spPr>
        <a:xfrm>
          <a:off x="0" y="1991567"/>
          <a:ext cx="877057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C267EA-73D0-454C-9E18-D411384A042F}">
      <dsp:nvSpPr>
        <dsp:cNvPr id="0" name=""/>
        <dsp:cNvSpPr/>
      </dsp:nvSpPr>
      <dsp:spPr>
        <a:xfrm>
          <a:off x="0" y="1991567"/>
          <a:ext cx="8770571" cy="33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100000"/>
            </a:lnSpc>
            <a:spcBef>
              <a:spcPct val="0"/>
            </a:spcBef>
            <a:spcAft>
              <a:spcPct val="35000"/>
            </a:spcAft>
            <a:buNone/>
          </a:pPr>
          <a:r>
            <a:rPr lang="en-US" sz="1000" kern="1200"/>
            <a:t>Fully Virtual, so it limits the realism</a:t>
          </a:r>
          <a:endParaRPr lang="en-US" sz="1000" kern="1200" dirty="0"/>
        </a:p>
      </dsp:txBody>
      <dsp:txXfrm>
        <a:off x="0" y="1991567"/>
        <a:ext cx="8770571" cy="331630"/>
      </dsp:txXfrm>
    </dsp:sp>
    <dsp:sp modelId="{93F96C18-6E85-49E9-8E35-9484DA0AED43}">
      <dsp:nvSpPr>
        <dsp:cNvPr id="0" name=""/>
        <dsp:cNvSpPr/>
      </dsp:nvSpPr>
      <dsp:spPr>
        <a:xfrm>
          <a:off x="0" y="2323198"/>
          <a:ext cx="877057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98252CC-975E-4BB8-AA47-FCCDE5324284}">
      <dsp:nvSpPr>
        <dsp:cNvPr id="0" name=""/>
        <dsp:cNvSpPr/>
      </dsp:nvSpPr>
      <dsp:spPr>
        <a:xfrm>
          <a:off x="0" y="2323198"/>
          <a:ext cx="8770571" cy="33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100000"/>
            </a:lnSpc>
            <a:spcBef>
              <a:spcPct val="0"/>
            </a:spcBef>
            <a:spcAft>
              <a:spcPct val="35000"/>
            </a:spcAft>
            <a:buNone/>
          </a:pPr>
          <a:r>
            <a:rPr lang="en-US" sz="1000" kern="1200"/>
            <a:t>They mentioned that there can be side channel attacks on their system</a:t>
          </a:r>
          <a:endParaRPr lang="en-US" sz="1000" kern="1200" dirty="0"/>
        </a:p>
      </dsp:txBody>
      <dsp:txXfrm>
        <a:off x="0" y="2323198"/>
        <a:ext cx="8770571" cy="331630"/>
      </dsp:txXfrm>
    </dsp:sp>
    <dsp:sp modelId="{C24D7C0D-1401-4810-9900-189A5AEE3D6A}">
      <dsp:nvSpPr>
        <dsp:cNvPr id="0" name=""/>
        <dsp:cNvSpPr/>
      </dsp:nvSpPr>
      <dsp:spPr>
        <a:xfrm>
          <a:off x="0" y="2654828"/>
          <a:ext cx="877057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06D4AF-B397-4B31-A2B0-3391F6DDF74D}">
      <dsp:nvSpPr>
        <dsp:cNvPr id="0" name=""/>
        <dsp:cNvSpPr/>
      </dsp:nvSpPr>
      <dsp:spPr>
        <a:xfrm>
          <a:off x="0" y="2654828"/>
          <a:ext cx="8770571" cy="33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100000"/>
            </a:lnSpc>
            <a:spcBef>
              <a:spcPct val="0"/>
            </a:spcBef>
            <a:spcAft>
              <a:spcPct val="35000"/>
            </a:spcAft>
            <a:buNone/>
          </a:pPr>
          <a:r>
            <a:rPr lang="en-US" sz="1000" kern="1200" dirty="0"/>
            <a:t>No integration with detection systems, everything later is done manually.</a:t>
          </a:r>
        </a:p>
      </dsp:txBody>
      <dsp:txXfrm>
        <a:off x="0" y="2654828"/>
        <a:ext cx="8770571" cy="331630"/>
      </dsp:txXfrm>
    </dsp:sp>
    <dsp:sp modelId="{583B4C0B-0C34-45FD-B61F-517B8F04B422}">
      <dsp:nvSpPr>
        <dsp:cNvPr id="0" name=""/>
        <dsp:cNvSpPr/>
      </dsp:nvSpPr>
      <dsp:spPr>
        <a:xfrm>
          <a:off x="0" y="2986459"/>
          <a:ext cx="877057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8FBB014-D2C2-41B7-A0A3-2848A53A0CDD}">
      <dsp:nvSpPr>
        <dsp:cNvPr id="0" name=""/>
        <dsp:cNvSpPr/>
      </dsp:nvSpPr>
      <dsp:spPr>
        <a:xfrm>
          <a:off x="0" y="2986459"/>
          <a:ext cx="8770571" cy="33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100000"/>
            </a:lnSpc>
            <a:spcBef>
              <a:spcPct val="0"/>
            </a:spcBef>
            <a:spcAft>
              <a:spcPct val="35000"/>
            </a:spcAft>
            <a:buNone/>
          </a:pPr>
          <a:r>
            <a:rPr lang="en-US" sz="1000" kern="1200" dirty="0"/>
            <a:t>They does not consider internal threats like insider attacker or USB Malware (Stuxnet)</a:t>
          </a:r>
        </a:p>
      </dsp:txBody>
      <dsp:txXfrm>
        <a:off x="0" y="2986459"/>
        <a:ext cx="8770571" cy="331630"/>
      </dsp:txXfrm>
    </dsp:sp>
    <dsp:sp modelId="{FBF48605-2BFB-4FFE-A4EE-54104EF145D1}">
      <dsp:nvSpPr>
        <dsp:cNvPr id="0" name=""/>
        <dsp:cNvSpPr/>
      </dsp:nvSpPr>
      <dsp:spPr>
        <a:xfrm>
          <a:off x="0" y="3318090"/>
          <a:ext cx="8770571"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C9BFD24-C202-4613-B989-7D2837F2471F}">
      <dsp:nvSpPr>
        <dsp:cNvPr id="0" name=""/>
        <dsp:cNvSpPr/>
      </dsp:nvSpPr>
      <dsp:spPr>
        <a:xfrm>
          <a:off x="0" y="3318090"/>
          <a:ext cx="8770571" cy="33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100000"/>
            </a:lnSpc>
            <a:spcBef>
              <a:spcPct val="0"/>
            </a:spcBef>
            <a:spcAft>
              <a:spcPct val="35000"/>
            </a:spcAft>
            <a:buNone/>
          </a:pPr>
          <a:r>
            <a:rPr lang="en-US" sz="1000" kern="1200" dirty="0"/>
            <a:t>Does not Capture Malwares for further analysis</a:t>
          </a:r>
        </a:p>
      </dsp:txBody>
      <dsp:txXfrm>
        <a:off x="0" y="3318090"/>
        <a:ext cx="8770571" cy="33163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3D1FE1-B5CD-491E-93A7-B0F2CC7D21E0}" type="datetimeFigureOut">
              <a:rPr lang="en-US" smtClean="0"/>
              <a:t>8/8/2025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18827D-5C4C-4A4B-BCE2-B58CA252407C}" type="slidenum">
              <a:rPr lang="en-US" smtClean="0"/>
              <a:t>‹#›</a:t>
            </a:fld>
            <a:endParaRPr lang="en-US"/>
          </a:p>
        </p:txBody>
      </p:sp>
    </p:spTree>
    <p:extLst>
      <p:ext uri="{BB962C8B-B14F-4D97-AF65-F5344CB8AC3E}">
        <p14:creationId xmlns:p14="http://schemas.microsoft.com/office/powerpoint/2010/main" val="988432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constant</a:t>
            </a:r>
            <a:endParaRPr lang="en-US" dirty="0"/>
          </a:p>
        </p:txBody>
      </p:sp>
      <p:sp>
        <p:nvSpPr>
          <p:cNvPr id="4" name="Slide Number Placeholder 3"/>
          <p:cNvSpPr>
            <a:spLocks noGrp="1"/>
          </p:cNvSpPr>
          <p:nvPr>
            <p:ph type="sldNum" sz="quarter" idx="5"/>
          </p:nvPr>
        </p:nvSpPr>
        <p:spPr/>
        <p:txBody>
          <a:bodyPr/>
          <a:lstStyle/>
          <a:p>
            <a:fld id="{1818827D-5C4C-4A4B-BCE2-B58CA252407C}" type="slidenum">
              <a:rPr lang="en-US" smtClean="0"/>
              <a:t>6</a:t>
            </a:fld>
            <a:endParaRPr lang="en-US"/>
          </a:p>
        </p:txBody>
      </p:sp>
    </p:spTree>
    <p:extLst>
      <p:ext uri="{BB962C8B-B14F-4D97-AF65-F5344CB8AC3E}">
        <p14:creationId xmlns:p14="http://schemas.microsoft.com/office/powerpoint/2010/main" val="3803792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something missing, refer to the excel sheet, it is </a:t>
            </a:r>
            <a:r>
              <a:rPr lang="en-US"/>
              <a:t>more detailed. </a:t>
            </a:r>
          </a:p>
        </p:txBody>
      </p:sp>
      <p:sp>
        <p:nvSpPr>
          <p:cNvPr id="4" name="Slide Number Placeholder 3"/>
          <p:cNvSpPr>
            <a:spLocks noGrp="1"/>
          </p:cNvSpPr>
          <p:nvPr>
            <p:ph type="sldNum" sz="quarter" idx="5"/>
          </p:nvPr>
        </p:nvSpPr>
        <p:spPr/>
        <p:txBody>
          <a:bodyPr/>
          <a:lstStyle/>
          <a:p>
            <a:fld id="{1818827D-5C4C-4A4B-BCE2-B58CA252407C}" type="slidenum">
              <a:rPr lang="en-US" smtClean="0"/>
              <a:t>7</a:t>
            </a:fld>
            <a:endParaRPr lang="en-US"/>
          </a:p>
        </p:txBody>
      </p:sp>
    </p:spTree>
    <p:extLst>
      <p:ext uri="{BB962C8B-B14F-4D97-AF65-F5344CB8AC3E}">
        <p14:creationId xmlns:p14="http://schemas.microsoft.com/office/powerpoint/2010/main" val="3567915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6, directly before section 5) =&gt; privilege escalation issue ( marked in blue )</a:t>
            </a:r>
          </a:p>
        </p:txBody>
      </p:sp>
      <p:sp>
        <p:nvSpPr>
          <p:cNvPr id="4" name="Slide Number Placeholder 3"/>
          <p:cNvSpPr>
            <a:spLocks noGrp="1"/>
          </p:cNvSpPr>
          <p:nvPr>
            <p:ph type="sldNum" sz="quarter" idx="5"/>
          </p:nvPr>
        </p:nvSpPr>
        <p:spPr/>
        <p:txBody>
          <a:bodyPr/>
          <a:lstStyle/>
          <a:p>
            <a:fld id="{1818827D-5C4C-4A4B-BCE2-B58CA252407C}" type="slidenum">
              <a:rPr lang="en-US" smtClean="0"/>
              <a:t>11</a:t>
            </a:fld>
            <a:endParaRPr lang="en-US"/>
          </a:p>
        </p:txBody>
      </p:sp>
    </p:spTree>
    <p:extLst>
      <p:ext uri="{BB962C8B-B14F-4D97-AF65-F5344CB8AC3E}">
        <p14:creationId xmlns:p14="http://schemas.microsoft.com/office/powerpoint/2010/main" val="2366314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Chroot Jails (Change Root)</a:t>
            </a:r>
          </a:p>
          <a:p>
            <a:r>
              <a:rPr lang="en-US" dirty="0"/>
              <a:t>Limits the attacker to a </a:t>
            </a:r>
            <a:r>
              <a:rPr lang="en-US" i="1" dirty="0"/>
              <a:t>fake</a:t>
            </a:r>
            <a:r>
              <a:rPr lang="en-US" dirty="0"/>
              <a:t> root directory.</a:t>
            </a:r>
          </a:p>
          <a:p>
            <a:r>
              <a:rPr lang="en-US" dirty="0"/>
              <a:t>Even if they gain "root", it's inside a </a:t>
            </a:r>
            <a:r>
              <a:rPr lang="en-US" b="1" dirty="0"/>
              <a:t>confined fake file system</a:t>
            </a:r>
            <a:r>
              <a:rPr lang="en-US" dirty="0"/>
              <a:t>.</a:t>
            </a:r>
          </a:p>
          <a:p>
            <a:r>
              <a:rPr lang="en-US" dirty="0"/>
              <a:t>Prevents access to system binaries like /bin/bash, /</a:t>
            </a:r>
            <a:r>
              <a:rPr lang="en-US" dirty="0" err="1"/>
              <a:t>etc</a:t>
            </a:r>
            <a:r>
              <a:rPr lang="en-US" dirty="0"/>
              <a:t>/passwd, etc., from the real OS.</a:t>
            </a:r>
          </a:p>
          <a:p>
            <a:endParaRPr lang="en-US" b="0" dirty="0"/>
          </a:p>
          <a:p>
            <a:endParaRPr lang="en-US" b="0" dirty="0"/>
          </a:p>
          <a:p>
            <a:r>
              <a:rPr lang="en-US" b="0" dirty="0"/>
              <a:t>Containers or Virtual Machines (VM Isolation)</a:t>
            </a:r>
          </a:p>
          <a:p>
            <a:r>
              <a:rPr lang="en-US" dirty="0"/>
              <a:t>The honeypot runs in a </a:t>
            </a:r>
            <a:r>
              <a:rPr lang="en-US" b="1" dirty="0"/>
              <a:t>Docker container</a:t>
            </a:r>
            <a:r>
              <a:rPr lang="en-US" dirty="0"/>
              <a:t>, </a:t>
            </a:r>
            <a:r>
              <a:rPr lang="en-US" b="1" dirty="0"/>
              <a:t>QEMU VM</a:t>
            </a:r>
            <a:r>
              <a:rPr lang="en-US" dirty="0"/>
              <a:t>, or </a:t>
            </a:r>
            <a:r>
              <a:rPr lang="en-US" b="1" dirty="0"/>
              <a:t>KVM-based guest</a:t>
            </a:r>
            <a:r>
              <a:rPr lang="en-US" dirty="0"/>
              <a:t>.</a:t>
            </a:r>
          </a:p>
          <a:p>
            <a:r>
              <a:rPr lang="en-US" dirty="0"/>
              <a:t>Even if the attacker escapes chroot or escalates privileges, </a:t>
            </a:r>
            <a:r>
              <a:rPr lang="en-US" b="1" dirty="0"/>
              <a:t>they’re still in a sandboxed environment</a:t>
            </a:r>
            <a:r>
              <a:rPr lang="en-US" dirty="0"/>
              <a:t>.</a:t>
            </a:r>
          </a:p>
          <a:p>
            <a:r>
              <a:rPr lang="en-US" dirty="0"/>
              <a:t>If a breach happens, the damage is isolated.</a:t>
            </a:r>
          </a:p>
          <a:p>
            <a:endParaRPr lang="en-US" b="0" dirty="0"/>
          </a:p>
          <a:p>
            <a:r>
              <a:rPr lang="en-US" b="0" dirty="0"/>
              <a:t>Alerting &amp; Auto-Shutdown</a:t>
            </a:r>
          </a:p>
          <a:p>
            <a:r>
              <a:rPr lang="en-US" dirty="0"/>
              <a:t>Some honeypots trigger alerts or </a:t>
            </a:r>
            <a:r>
              <a:rPr lang="en-US" b="1" dirty="0"/>
              <a:t>auto-shutdown</a:t>
            </a:r>
            <a:r>
              <a:rPr lang="en-US" dirty="0"/>
              <a:t> if suspicious behavior is detected (e.g., privilege escalation attempts).</a:t>
            </a:r>
          </a:p>
          <a:p>
            <a:pPr rtl="0"/>
            <a:endParaRPr lang="en-US" dirty="0"/>
          </a:p>
        </p:txBody>
      </p:sp>
      <p:sp>
        <p:nvSpPr>
          <p:cNvPr id="4" name="Slide Number Placeholder 3"/>
          <p:cNvSpPr>
            <a:spLocks noGrp="1"/>
          </p:cNvSpPr>
          <p:nvPr>
            <p:ph type="sldNum" sz="quarter" idx="5"/>
          </p:nvPr>
        </p:nvSpPr>
        <p:spPr/>
        <p:txBody>
          <a:bodyPr/>
          <a:lstStyle/>
          <a:p>
            <a:fld id="{1818827D-5C4C-4A4B-BCE2-B58CA252407C}" type="slidenum">
              <a:rPr lang="en-US" smtClean="0"/>
              <a:t>12</a:t>
            </a:fld>
            <a:endParaRPr lang="en-US"/>
          </a:p>
        </p:txBody>
      </p:sp>
    </p:spTree>
    <p:extLst>
      <p:ext uri="{BB962C8B-B14F-4D97-AF65-F5344CB8AC3E}">
        <p14:creationId xmlns:p14="http://schemas.microsoft.com/office/powerpoint/2010/main" val="11633840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dirty="0"/>
              <a:t>Double check, what do thez mean by simulating Moxa OnCell IP</a:t>
            </a:r>
          </a:p>
          <a:p>
            <a:r>
              <a:rPr lang="de-DE" dirty="0"/>
              <a:t>And how does the ssh looks when they connect to it.</a:t>
            </a:r>
            <a:endParaRPr lang="en-US" dirty="0"/>
          </a:p>
        </p:txBody>
      </p:sp>
      <p:sp>
        <p:nvSpPr>
          <p:cNvPr id="4" name="Slide Number Placeholder 3"/>
          <p:cNvSpPr>
            <a:spLocks noGrp="1"/>
          </p:cNvSpPr>
          <p:nvPr>
            <p:ph type="sldNum" sz="quarter" idx="5"/>
          </p:nvPr>
        </p:nvSpPr>
        <p:spPr/>
        <p:txBody>
          <a:bodyPr/>
          <a:lstStyle/>
          <a:p>
            <a:fld id="{1818827D-5C4C-4A4B-BCE2-B58CA252407C}" type="slidenum">
              <a:rPr lang="en-US" smtClean="0"/>
              <a:t>15</a:t>
            </a:fld>
            <a:endParaRPr lang="en-US"/>
          </a:p>
        </p:txBody>
      </p:sp>
    </p:spTree>
    <p:extLst>
      <p:ext uri="{BB962C8B-B14F-4D97-AF65-F5344CB8AC3E}">
        <p14:creationId xmlns:p14="http://schemas.microsoft.com/office/powerpoint/2010/main" val="20520634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more in details what are the benefits of using </a:t>
            </a:r>
            <a:r>
              <a:rPr lang="en-US" dirty="0" err="1"/>
              <a:t>cpppo</a:t>
            </a:r>
            <a:r>
              <a:rPr lang="en-US" dirty="0"/>
              <a:t> and what are the </a:t>
            </a:r>
            <a:r>
              <a:rPr lang="en-US" dirty="0" err="1"/>
              <a:t>implecation</a:t>
            </a:r>
            <a:r>
              <a:rPr lang="en-US" dirty="0"/>
              <a:t>, and why it is possible to use </a:t>
            </a:r>
            <a:r>
              <a:rPr lang="en-US" dirty="0" err="1"/>
              <a:t>cpppo</a:t>
            </a:r>
            <a:r>
              <a:rPr lang="en-US" dirty="0"/>
              <a:t> than </a:t>
            </a:r>
            <a:r>
              <a:rPr lang="en-US" dirty="0" err="1"/>
              <a:t>scapy</a:t>
            </a:r>
            <a:r>
              <a:rPr lang="en-US" dirty="0"/>
              <a:t>.</a:t>
            </a:r>
          </a:p>
        </p:txBody>
      </p:sp>
      <p:sp>
        <p:nvSpPr>
          <p:cNvPr id="4" name="Slide Number Placeholder 3"/>
          <p:cNvSpPr>
            <a:spLocks noGrp="1"/>
          </p:cNvSpPr>
          <p:nvPr>
            <p:ph type="sldNum" sz="quarter" idx="5"/>
          </p:nvPr>
        </p:nvSpPr>
        <p:spPr/>
        <p:txBody>
          <a:bodyPr/>
          <a:lstStyle/>
          <a:p>
            <a:fld id="{1818827D-5C4C-4A4B-BCE2-B58CA252407C}" type="slidenum">
              <a:rPr lang="en-US" smtClean="0"/>
              <a:t>22</a:t>
            </a:fld>
            <a:endParaRPr lang="en-US"/>
          </a:p>
        </p:txBody>
      </p:sp>
    </p:spTree>
    <p:extLst>
      <p:ext uri="{BB962C8B-B14F-4D97-AF65-F5344CB8AC3E}">
        <p14:creationId xmlns:p14="http://schemas.microsoft.com/office/powerpoint/2010/main" val="20230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 fault tolerance -&gt; During CTF the system crashed, and they spent 3 hours to get it back to work</a:t>
            </a:r>
          </a:p>
          <a:p>
            <a:endParaRPr lang="en-US" dirty="0"/>
          </a:p>
        </p:txBody>
      </p:sp>
      <p:sp>
        <p:nvSpPr>
          <p:cNvPr id="4" name="Slide Number Placeholder 3"/>
          <p:cNvSpPr>
            <a:spLocks noGrp="1"/>
          </p:cNvSpPr>
          <p:nvPr>
            <p:ph type="sldNum" sz="quarter" idx="5"/>
          </p:nvPr>
        </p:nvSpPr>
        <p:spPr/>
        <p:txBody>
          <a:bodyPr/>
          <a:lstStyle/>
          <a:p>
            <a:fld id="{1818827D-5C4C-4A4B-BCE2-B58CA252407C}" type="slidenum">
              <a:rPr lang="en-US" smtClean="0"/>
              <a:t>27</a:t>
            </a:fld>
            <a:endParaRPr lang="en-US"/>
          </a:p>
        </p:txBody>
      </p:sp>
    </p:spTree>
    <p:extLst>
      <p:ext uri="{BB962C8B-B14F-4D97-AF65-F5344CB8AC3E}">
        <p14:creationId xmlns:p14="http://schemas.microsoft.com/office/powerpoint/2010/main" val="3593118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9B0F7D69-D93C-4C38-A23D-76E000D691CD}"/>
              </a:ext>
            </a:extLst>
          </p:cNvPr>
          <p:cNvSpPr/>
          <p:nvPr/>
        </p:nvSpPr>
        <p:spPr>
          <a:xfrm>
            <a:off x="0" y="0"/>
            <a:ext cx="3496422" cy="6858000"/>
          </a:xfrm>
          <a:custGeom>
            <a:avLst/>
            <a:gdLst>
              <a:gd name="connsiteX0" fmla="*/ 0 w 3496422"/>
              <a:gd name="connsiteY0" fmla="*/ 0 h 6858000"/>
              <a:gd name="connsiteX1" fmla="*/ 1873399 w 3496422"/>
              <a:gd name="connsiteY1" fmla="*/ 0 h 6858000"/>
              <a:gd name="connsiteX2" fmla="*/ 1895523 w 3496422"/>
              <a:gd name="connsiteY2" fmla="*/ 14997 h 6858000"/>
              <a:gd name="connsiteX3" fmla="*/ 3496422 w 3496422"/>
              <a:gd name="connsiteY3" fmla="*/ 3621656 h 6858000"/>
              <a:gd name="connsiteX4" fmla="*/ 1622072 w 3496422"/>
              <a:gd name="connsiteY4" fmla="*/ 6374814 h 6858000"/>
              <a:gd name="connsiteX5" fmla="*/ 1105424 w 3496422"/>
              <a:gd name="connsiteY5" fmla="*/ 6780599 h 6858000"/>
              <a:gd name="connsiteX6" fmla="*/ 993668 w 3496422"/>
              <a:gd name="connsiteY6" fmla="*/ 6858000 h 6858000"/>
              <a:gd name="connsiteX7" fmla="*/ 0 w 349642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p:cNvSpPr>
            <a:spLocks noGrp="1"/>
          </p:cNvSpPr>
          <p:nvPr>
            <p:ph type="ctrTitle"/>
          </p:nvPr>
        </p:nvSpPr>
        <p:spPr>
          <a:xfrm>
            <a:off x="4654295" y="1346268"/>
            <a:ext cx="7060135" cy="3285207"/>
          </a:xfrm>
        </p:spPr>
        <p:txBody>
          <a:bodyPr anchor="b">
            <a:noAutofit/>
          </a:bodyPr>
          <a:lstStyle>
            <a:lvl1pPr algn="l">
              <a:lnSpc>
                <a:spcPct val="120000"/>
              </a:lnSpc>
              <a:defRPr sz="540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662312" y="4631475"/>
            <a:ext cx="7052117" cy="1150200"/>
          </a:xfrm>
        </p:spPr>
        <p:txBody>
          <a:bodyPr lIns="109728" tIns="109728" rIns="109728" bIns="91440" anchor="t">
            <a:normAutofit/>
          </a:bodyPr>
          <a:lstStyle>
            <a:lvl1pPr marL="0" indent="0" algn="l">
              <a:lnSpc>
                <a:spcPct val="130000"/>
              </a:lnSpc>
              <a:buNone/>
              <a:defRPr sz="2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0" name="Date Placeholder 9">
            <a:extLst>
              <a:ext uri="{FF2B5EF4-FFF2-40B4-BE49-F238E27FC236}">
                <a16:creationId xmlns:a16="http://schemas.microsoft.com/office/drawing/2014/main" id="{123E5C65-E22A-4865-9449-10140D62B655}"/>
              </a:ext>
            </a:extLst>
          </p:cNvPr>
          <p:cNvSpPr>
            <a:spLocks noGrp="1"/>
          </p:cNvSpPr>
          <p:nvPr>
            <p:ph type="dt" sz="half" idx="10"/>
          </p:nvPr>
        </p:nvSpPr>
        <p:spPr>
          <a:xfrm>
            <a:off x="4654295" y="617415"/>
            <a:ext cx="7123723" cy="457200"/>
          </a:xfrm>
        </p:spPr>
        <p:txBody>
          <a:bodyPr/>
          <a:lstStyle>
            <a:lvl1pPr algn="l">
              <a:defRPr/>
            </a:lvl1pPr>
          </a:lstStyle>
          <a:p>
            <a:fld id="{12241623-A064-4BED-B073-BA4D61433402}" type="datetime1">
              <a:rPr lang="en-US" smtClean="0"/>
              <a:t>8/8/2025</a:t>
            </a:fld>
            <a:endParaRPr lang="en-US" dirty="0"/>
          </a:p>
        </p:txBody>
      </p:sp>
      <p:sp>
        <p:nvSpPr>
          <p:cNvPr id="24" name="Footer Placeholder 23">
            <a:extLst>
              <a:ext uri="{FF2B5EF4-FFF2-40B4-BE49-F238E27FC236}">
                <a16:creationId xmlns:a16="http://schemas.microsoft.com/office/drawing/2014/main" id="{EF9C3DE0-E7F5-4B4D-B5AF-CDE724CE79A3}"/>
              </a:ext>
            </a:extLst>
          </p:cNvPr>
          <p:cNvSpPr>
            <a:spLocks noGrp="1"/>
          </p:cNvSpPr>
          <p:nvPr>
            <p:ph type="ftr" sz="quarter" idx="11"/>
          </p:nvPr>
        </p:nvSpPr>
        <p:spPr>
          <a:xfrm>
            <a:off x="4654295" y="6170490"/>
            <a:ext cx="5588349" cy="457200"/>
          </a:xfrm>
        </p:spPr>
        <p:txBody>
          <a:bodyPr/>
          <a:lstStyle/>
          <a:p>
            <a:endParaRPr lang="en-US" dirty="0"/>
          </a:p>
        </p:txBody>
      </p:sp>
      <p:sp>
        <p:nvSpPr>
          <p:cNvPr id="25" name="Slide Number Placeholder 24">
            <a:extLst>
              <a:ext uri="{FF2B5EF4-FFF2-40B4-BE49-F238E27FC236}">
                <a16:creationId xmlns:a16="http://schemas.microsoft.com/office/drawing/2014/main" id="{48C1E146-840A-4217-B63E-62E5CF8909C2}"/>
              </a:ext>
            </a:extLst>
          </p:cNvPr>
          <p:cNvSpPr>
            <a:spLocks noGrp="1"/>
          </p:cNvSpPr>
          <p:nvPr>
            <p:ph type="sldNum" sz="quarter" idx="12"/>
          </p:nvPr>
        </p:nvSpPr>
        <p:spPr>
          <a:xfrm>
            <a:off x="10515600" y="6170490"/>
            <a:ext cx="1198829" cy="457200"/>
          </a:xfrm>
        </p:spPr>
        <p:txBody>
          <a:bodyPr/>
          <a:lstStyle>
            <a:lvl1pPr algn="r">
              <a:defRPr/>
            </a:lvl1pPr>
          </a:lstStyle>
          <a:p>
            <a:fld id="{FAEF9944-A4F6-4C59-AEBD-678D6480B8EA}" type="slidenum">
              <a:rPr lang="en-US" smtClean="0"/>
              <a:pPr/>
              <a:t>‹#›</a:t>
            </a:fld>
            <a:endParaRPr lang="en-US" dirty="0"/>
          </a:p>
        </p:txBody>
      </p:sp>
      <p:sp>
        <p:nvSpPr>
          <p:cNvPr id="4" name="Freeform: Shape 3">
            <a:extLst>
              <a:ext uri="{FF2B5EF4-FFF2-40B4-BE49-F238E27FC236}">
                <a16:creationId xmlns:a16="http://schemas.microsoft.com/office/drawing/2014/main" id="{8CD419D4-EA9D-42D9-BF62-B07F0B7B672B}"/>
              </a:ext>
            </a:extLst>
          </p:cNvPr>
          <p:cNvSpPr/>
          <p:nvPr/>
        </p:nvSpPr>
        <p:spPr>
          <a:xfrm>
            <a:off x="1375409"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 name="Freeform: Shape 4">
            <a:extLst>
              <a:ext uri="{FF2B5EF4-FFF2-40B4-BE49-F238E27FC236}">
                <a16:creationId xmlns:a16="http://schemas.microsoft.com/office/drawing/2014/main" id="{1C6FEC9B-9608-4181-A9E5-A1B80E72021C}"/>
              </a:ext>
            </a:extLst>
          </p:cNvPr>
          <p:cNvSpPr/>
          <p:nvPr/>
        </p:nvSpPr>
        <p:spPr>
          <a:xfrm>
            <a:off x="115540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 name="Freeform: Shape 5">
            <a:extLst>
              <a:ext uri="{FF2B5EF4-FFF2-40B4-BE49-F238E27FC236}">
                <a16:creationId xmlns:a16="http://schemas.microsoft.com/office/drawing/2014/main" id="{AB1564ED-F26F-451D-97D6-A6EC3E83FD55}"/>
              </a:ext>
            </a:extLst>
          </p:cNvPr>
          <p:cNvSpPr/>
          <p:nvPr/>
        </p:nvSpPr>
        <p:spPr>
          <a:xfrm>
            <a:off x="924161"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2014258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6923EF53-7767-4C94-BEF6-D452927945DA}"/>
              </a:ext>
            </a:extLst>
          </p:cNvPr>
          <p:cNvSpPr>
            <a:spLocks noGrp="1"/>
          </p:cNvSpPr>
          <p:nvPr>
            <p:ph type="dt" sz="half" idx="10"/>
          </p:nvPr>
        </p:nvSpPr>
        <p:spPr/>
        <p:txBody>
          <a:bodyPr/>
          <a:lstStyle/>
          <a:p>
            <a:fld id="{22F3E5F3-28EE-488F-BD53-B744C06C3DEC}" type="datetime1">
              <a:rPr lang="en-US" smtClean="0"/>
              <a:t>8/8/2025</a:t>
            </a:fld>
            <a:endParaRPr lang="en-US" dirty="0"/>
          </a:p>
        </p:txBody>
      </p:sp>
      <p:sp>
        <p:nvSpPr>
          <p:cNvPr id="11" name="Footer Placeholder 10">
            <a:extLst>
              <a:ext uri="{FF2B5EF4-FFF2-40B4-BE49-F238E27FC236}">
                <a16:creationId xmlns:a16="http://schemas.microsoft.com/office/drawing/2014/main" id="{ACF12700-F905-4CFA-970C-C81E05A64D5B}"/>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DA1B1EE2-BCA3-432B-A32D-B04C7F1DD93F}"/>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576861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4A89F5-6982-40AE-8108-88B93E85C8FF}"/>
              </a:ext>
            </a:extLst>
          </p:cNvPr>
          <p:cNvGrpSpPr/>
          <p:nvPr/>
        </p:nvGrpSpPr>
        <p:grpSpPr>
          <a:xfrm>
            <a:off x="3124577" y="0"/>
            <a:ext cx="4389519" cy="2916937"/>
            <a:chOff x="3124577" y="0"/>
            <a:chExt cx="4389519" cy="2916937"/>
          </a:xfrm>
        </p:grpSpPr>
        <p:sp>
          <p:nvSpPr>
            <p:cNvPr id="49" name="Freeform: Shape 48">
              <a:extLst>
                <a:ext uri="{FF2B5EF4-FFF2-40B4-BE49-F238E27FC236}">
                  <a16:creationId xmlns:a16="http://schemas.microsoft.com/office/drawing/2014/main" id="{B80BED93-E30B-4492-A268-84C33CA4F067}"/>
                </a:ext>
              </a:extLst>
            </p:cNvPr>
            <p:cNvSpPr/>
            <p:nvPr/>
          </p:nvSpPr>
          <p:spPr>
            <a:xfrm>
              <a:off x="3320637" y="0"/>
              <a:ext cx="4013331" cy="2742133"/>
            </a:xfrm>
            <a:custGeom>
              <a:avLst/>
              <a:gdLst>
                <a:gd name="connsiteX0" fmla="*/ 294151 w 4013331"/>
                <a:gd name="connsiteY0" fmla="*/ 0 h 2742133"/>
                <a:gd name="connsiteX1" fmla="*/ 3844057 w 4013331"/>
                <a:gd name="connsiteY1" fmla="*/ 0 h 2742133"/>
                <a:gd name="connsiteX2" fmla="*/ 3892490 w 4013331"/>
                <a:gd name="connsiteY2" fmla="*/ 131440 h 2742133"/>
                <a:gd name="connsiteX3" fmla="*/ 4013331 w 4013331"/>
                <a:gd name="connsiteY3" fmla="*/ 941251 h 2742133"/>
                <a:gd name="connsiteX4" fmla="*/ 3804827 w 4013331"/>
                <a:gd name="connsiteY4" fmla="*/ 1540292 h 2742133"/>
                <a:gd name="connsiteX5" fmla="*/ 3187498 w 4013331"/>
                <a:gd name="connsiteY5" fmla="*/ 2098087 h 2742133"/>
                <a:gd name="connsiteX6" fmla="*/ 3051769 w 4013331"/>
                <a:gd name="connsiteY6" fmla="*/ 2204787 h 2742133"/>
                <a:gd name="connsiteX7" fmla="*/ 1936476 w 4013331"/>
                <a:gd name="connsiteY7" fmla="*/ 2742133 h 2742133"/>
                <a:gd name="connsiteX8" fmla="*/ 467303 w 4013331"/>
                <a:gd name="connsiteY8" fmla="*/ 1868695 h 2742133"/>
                <a:gd name="connsiteX9" fmla="*/ 310732 w 4013331"/>
                <a:gd name="connsiteY9" fmla="*/ 1645244 h 2742133"/>
                <a:gd name="connsiteX10" fmla="*/ 0 w 4013331"/>
                <a:gd name="connsiteY10" fmla="*/ 941251 h 2742133"/>
                <a:gd name="connsiteX11" fmla="*/ 187749 w 4013331"/>
                <a:gd name="connsiteY11" fmla="*/ 183076 h 2742133"/>
                <a:gd name="connsiteX12" fmla="*/ 288888 w 4013331"/>
                <a:gd name="connsiteY12" fmla="*/ 7329 h 274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965F60C1-CD8B-4326-9B24-3D197CF382A6}"/>
                </a:ext>
              </a:extLst>
            </p:cNvPr>
            <p:cNvSpPr/>
            <p:nvPr/>
          </p:nvSpPr>
          <p:spPr>
            <a:xfrm>
              <a:off x="3566319" y="0"/>
              <a:ext cx="3401415" cy="2440484"/>
            </a:xfrm>
            <a:custGeom>
              <a:avLst/>
              <a:gdLst>
                <a:gd name="connsiteX0" fmla="*/ 332917 w 3401415"/>
                <a:gd name="connsiteY0" fmla="*/ 0 h 2440484"/>
                <a:gd name="connsiteX1" fmla="*/ 3207137 w 3401415"/>
                <a:gd name="connsiteY1" fmla="*/ 0 h 2440484"/>
                <a:gd name="connsiteX2" fmla="*/ 3242654 w 3401415"/>
                <a:gd name="connsiteY2" fmla="*/ 74937 h 2440484"/>
                <a:gd name="connsiteX3" fmla="*/ 3401415 w 3401415"/>
                <a:gd name="connsiteY3" fmla="*/ 914184 h 2440484"/>
                <a:gd name="connsiteX4" fmla="*/ 3224702 w 3401415"/>
                <a:gd name="connsiteY4" fmla="*/ 1421888 h 2440484"/>
                <a:gd name="connsiteX5" fmla="*/ 2701498 w 3401415"/>
                <a:gd name="connsiteY5" fmla="*/ 1894635 h 2440484"/>
                <a:gd name="connsiteX6" fmla="*/ 2586463 w 3401415"/>
                <a:gd name="connsiteY6" fmla="*/ 1985068 h 2440484"/>
                <a:gd name="connsiteX7" fmla="*/ 1641219 w 3401415"/>
                <a:gd name="connsiteY7" fmla="*/ 2440484 h 2440484"/>
                <a:gd name="connsiteX8" fmla="*/ 396053 w 3401415"/>
                <a:gd name="connsiteY8" fmla="*/ 1700219 h 2440484"/>
                <a:gd name="connsiteX9" fmla="*/ 263354 w 3401415"/>
                <a:gd name="connsiteY9" fmla="*/ 1510839 h 2440484"/>
                <a:gd name="connsiteX10" fmla="*/ 0 w 3401415"/>
                <a:gd name="connsiteY10" fmla="*/ 914184 h 2440484"/>
                <a:gd name="connsiteX11" fmla="*/ 159122 w 3401415"/>
                <a:gd name="connsiteY11" fmla="*/ 271610 h 2440484"/>
                <a:gd name="connsiteX12" fmla="*/ 244841 w 3401415"/>
                <a:gd name="connsiteY12" fmla="*/ 122658 h 244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1" name="Freeform: Shape 50">
              <a:extLst>
                <a:ext uri="{FF2B5EF4-FFF2-40B4-BE49-F238E27FC236}">
                  <a16:creationId xmlns:a16="http://schemas.microsoft.com/office/drawing/2014/main" id="{69511D06-104E-440E-8049-4CDCE4B87E96}"/>
                </a:ext>
              </a:extLst>
            </p:cNvPr>
            <p:cNvSpPr/>
            <p:nvPr/>
          </p:nvSpPr>
          <p:spPr>
            <a:xfrm>
              <a:off x="3232490" y="0"/>
              <a:ext cx="4164597" cy="2817185"/>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164F6B39-7B0A-4839-9F52-1FFA2044F248}"/>
                </a:ext>
              </a:extLst>
            </p:cNvPr>
            <p:cNvSpPr/>
            <p:nvPr/>
          </p:nvSpPr>
          <p:spPr>
            <a:xfrm>
              <a:off x="3124577" y="0"/>
              <a:ext cx="4389519" cy="2916937"/>
            </a:xfrm>
            <a:custGeom>
              <a:avLst/>
              <a:gdLst>
                <a:gd name="connsiteX0" fmla="*/ 208215 w 4389519"/>
                <a:gd name="connsiteY0" fmla="*/ 0 h 2916937"/>
                <a:gd name="connsiteX1" fmla="*/ 4284014 w 4389519"/>
                <a:gd name="connsiteY1" fmla="*/ 0 h 2916937"/>
                <a:gd name="connsiteX2" fmla="*/ 4335794 w 4389519"/>
                <a:gd name="connsiteY2" fmla="*/ 207911 h 2916937"/>
                <a:gd name="connsiteX3" fmla="*/ 4376420 w 4389519"/>
                <a:gd name="connsiteY3" fmla="*/ 1078865 h 2916937"/>
                <a:gd name="connsiteX4" fmla="*/ 4090147 w 4389519"/>
                <a:gd name="connsiteY4" fmla="*/ 1734728 h 2916937"/>
                <a:gd name="connsiteX5" fmla="*/ 3362552 w 4389519"/>
                <a:gd name="connsiteY5" fmla="*/ 2305097 h 2916937"/>
                <a:gd name="connsiteX6" fmla="*/ 3204152 w 4389519"/>
                <a:gd name="connsiteY6" fmla="*/ 2412521 h 2916937"/>
                <a:gd name="connsiteX7" fmla="*/ 1936072 w 4389519"/>
                <a:gd name="connsiteY7" fmla="*/ 2912360 h 2916937"/>
                <a:gd name="connsiteX8" fmla="*/ 421690 w 4389519"/>
                <a:gd name="connsiteY8" fmla="*/ 1787063 h 2916937"/>
                <a:gd name="connsiteX9" fmla="*/ 273167 w 4389519"/>
                <a:gd name="connsiteY9" fmla="*/ 1520080 h 2916937"/>
                <a:gd name="connsiteX10" fmla="*/ 4118 w 4389519"/>
                <a:gd name="connsiteY10" fmla="*/ 696338 h 2916937"/>
                <a:gd name="connsiteX11" fmla="*/ 175984 w 4389519"/>
                <a:gd name="connsiteY11" fmla="*/ 60381 h 291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8" name="Group 7">
            <a:extLst>
              <a:ext uri="{FF2B5EF4-FFF2-40B4-BE49-F238E27FC236}">
                <a16:creationId xmlns:a16="http://schemas.microsoft.com/office/drawing/2014/main" id="{03099122-D80B-4389-A1CF-52C635217F4B}"/>
              </a:ext>
            </a:extLst>
          </p:cNvPr>
          <p:cNvGrpSpPr/>
          <p:nvPr/>
        </p:nvGrpSpPr>
        <p:grpSpPr>
          <a:xfrm>
            <a:off x="8122942" y="0"/>
            <a:ext cx="4069058" cy="3547008"/>
            <a:chOff x="8122942" y="0"/>
            <a:chExt cx="4069058" cy="3547008"/>
          </a:xfrm>
        </p:grpSpPr>
        <p:sp>
          <p:nvSpPr>
            <p:cNvPr id="54" name="Freeform: Shape 53">
              <a:extLst>
                <a:ext uri="{FF2B5EF4-FFF2-40B4-BE49-F238E27FC236}">
                  <a16:creationId xmlns:a16="http://schemas.microsoft.com/office/drawing/2014/main" id="{CA535D59-CDAA-4AA9-84AC-A6142E857FE2}"/>
                </a:ext>
              </a:extLst>
            </p:cNvPr>
            <p:cNvSpPr/>
            <p:nvPr/>
          </p:nvSpPr>
          <p:spPr>
            <a:xfrm>
              <a:off x="8122942" y="0"/>
              <a:ext cx="4069058" cy="3547008"/>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CD6948CC-6D51-4092-887C-B0664DC102C7}"/>
                </a:ext>
              </a:extLst>
            </p:cNvPr>
            <p:cNvSpPr/>
            <p:nvPr/>
          </p:nvSpPr>
          <p:spPr>
            <a:xfrm flipH="1">
              <a:off x="8319994" y="0"/>
              <a:ext cx="3872006" cy="3321595"/>
            </a:xfrm>
            <a:custGeom>
              <a:avLst/>
              <a:gdLst>
                <a:gd name="connsiteX0" fmla="*/ 3466434 w 3872006"/>
                <a:gd name="connsiteY0" fmla="*/ 0 h 3321595"/>
                <a:gd name="connsiteX1" fmla="*/ 65800 w 3872006"/>
                <a:gd name="connsiteY1" fmla="*/ 0 h 3321595"/>
                <a:gd name="connsiteX2" fmla="*/ 0 w 3872006"/>
                <a:gd name="connsiteY2" fmla="*/ 59511 h 3321595"/>
                <a:gd name="connsiteX3" fmla="*/ 0 w 3872006"/>
                <a:gd name="connsiteY3" fmla="*/ 2518435 h 3321595"/>
                <a:gd name="connsiteX4" fmla="*/ 80122 w 3872006"/>
                <a:gd name="connsiteY4" fmla="*/ 2618704 h 3321595"/>
                <a:gd name="connsiteX5" fmla="*/ 1549501 w 3872006"/>
                <a:gd name="connsiteY5" fmla="*/ 3321595 h 3321595"/>
                <a:gd name="connsiteX6" fmla="*/ 2796711 w 3872006"/>
                <a:gd name="connsiteY6" fmla="*/ 2749441 h 3321595"/>
                <a:gd name="connsiteX7" fmla="*/ 2948494 w 3872006"/>
                <a:gd name="connsiteY7" fmla="*/ 2635829 h 3321595"/>
                <a:gd name="connsiteX8" fmla="*/ 3638840 w 3872006"/>
                <a:gd name="connsiteY8" fmla="*/ 2041901 h 3321595"/>
                <a:gd name="connsiteX9" fmla="*/ 3872006 w 3872006"/>
                <a:gd name="connsiteY9" fmla="*/ 1404055 h 3321595"/>
                <a:gd name="connsiteX10" fmla="*/ 3467973 w 3872006"/>
                <a:gd name="connsiteY10"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6" name="Freeform: Shape 55">
              <a:extLst>
                <a:ext uri="{FF2B5EF4-FFF2-40B4-BE49-F238E27FC236}">
                  <a16:creationId xmlns:a16="http://schemas.microsoft.com/office/drawing/2014/main" id="{F5F9FD94-99CC-42AD-8E66-CF99E8FD5A94}"/>
                </a:ext>
              </a:extLst>
            </p:cNvPr>
            <p:cNvSpPr/>
            <p:nvPr/>
          </p:nvSpPr>
          <p:spPr>
            <a:xfrm flipH="1">
              <a:off x="8729240" y="9274"/>
              <a:ext cx="3462454" cy="3010961"/>
            </a:xfrm>
            <a:custGeom>
              <a:avLst/>
              <a:gdLst>
                <a:gd name="connsiteX0" fmla="*/ 2953507 w 3462454"/>
                <a:gd name="connsiteY0" fmla="*/ 0 h 3010961"/>
                <a:gd name="connsiteX1" fmla="*/ 477652 w 3462454"/>
                <a:gd name="connsiteY1" fmla="*/ 0 h 3010961"/>
                <a:gd name="connsiteX2" fmla="*/ 327396 w 3462454"/>
                <a:gd name="connsiteY2" fmla="*/ 113681 h 3010961"/>
                <a:gd name="connsiteX3" fmla="*/ 46554 w 3462454"/>
                <a:gd name="connsiteY3" fmla="*/ 391785 h 3010961"/>
                <a:gd name="connsiteX4" fmla="*/ 0 w 3462454"/>
                <a:gd name="connsiteY4" fmla="*/ 453516 h 3010961"/>
                <a:gd name="connsiteX5" fmla="*/ 0 w 3462454"/>
                <a:gd name="connsiteY5" fmla="*/ 2083461 h 3010961"/>
                <a:gd name="connsiteX6" fmla="*/ 26382 w 3462454"/>
                <a:gd name="connsiteY6" fmla="*/ 2118637 h 3010961"/>
                <a:gd name="connsiteX7" fmla="*/ 101620 w 3462454"/>
                <a:gd name="connsiteY7" fmla="*/ 2222744 h 3010961"/>
                <a:gd name="connsiteX8" fmla="*/ 1494064 w 3462454"/>
                <a:gd name="connsiteY8" fmla="*/ 3010961 h 3010961"/>
                <a:gd name="connsiteX9" fmla="*/ 2551110 w 3462454"/>
                <a:gd name="connsiteY9" fmla="*/ 2526044 h 3010961"/>
                <a:gd name="connsiteX10" fmla="*/ 2679751 w 3462454"/>
                <a:gd name="connsiteY10" fmla="*/ 2429754 h 3010961"/>
                <a:gd name="connsiteX11" fmla="*/ 3264840 w 3462454"/>
                <a:gd name="connsiteY11" fmla="*/ 1926383 h 3010961"/>
                <a:gd name="connsiteX12" fmla="*/ 3462454 w 3462454"/>
                <a:gd name="connsiteY12" fmla="*/ 1385790 h 3010961"/>
                <a:gd name="connsiteX13" fmla="*/ 3018820 w 3462454"/>
                <a:gd name="connsiteY13" fmla="*/ 67626 h 30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7" name="Freeform: Shape 56">
              <a:extLst>
                <a:ext uri="{FF2B5EF4-FFF2-40B4-BE49-F238E27FC236}">
                  <a16:creationId xmlns:a16="http://schemas.microsoft.com/office/drawing/2014/main" id="{F47D3E70-A759-410D-B5DB-855218E138C3}"/>
                </a:ext>
              </a:extLst>
            </p:cNvPr>
            <p:cNvSpPr/>
            <p:nvPr/>
          </p:nvSpPr>
          <p:spPr>
            <a:xfrm flipH="1">
              <a:off x="8243247" y="9274"/>
              <a:ext cx="3948447" cy="3411460"/>
            </a:xfrm>
            <a:custGeom>
              <a:avLst/>
              <a:gdLst>
                <a:gd name="connsiteX0" fmla="*/ 3564894 w 3904481"/>
                <a:gd name="connsiteY0" fmla="*/ 0 h 3411460"/>
                <a:gd name="connsiteX1" fmla="*/ 0 w 3904481"/>
                <a:gd name="connsiteY1" fmla="*/ 0 h 3411460"/>
                <a:gd name="connsiteX2" fmla="*/ 0 w 3904481"/>
                <a:gd name="connsiteY2" fmla="*/ 2659993 h 3411460"/>
                <a:gd name="connsiteX3" fmla="*/ 1876 w 3904481"/>
                <a:gd name="connsiteY3" fmla="*/ 2662425 h 3411460"/>
                <a:gd name="connsiteX4" fmla="*/ 1514161 w 3904481"/>
                <a:gd name="connsiteY4" fmla="*/ 3411460 h 3411460"/>
                <a:gd name="connsiteX5" fmla="*/ 2797788 w 3904481"/>
                <a:gd name="connsiteY5" fmla="*/ 2801744 h 3411460"/>
                <a:gd name="connsiteX6" fmla="*/ 2954004 w 3904481"/>
                <a:gd name="connsiteY6" fmla="*/ 2680673 h 3411460"/>
                <a:gd name="connsiteX7" fmla="*/ 3664508 w 3904481"/>
                <a:gd name="connsiteY7" fmla="*/ 2047754 h 3411460"/>
                <a:gd name="connsiteX8" fmla="*/ 3904481 w 3904481"/>
                <a:gd name="connsiteY8" fmla="*/ 1368033 h 3411460"/>
                <a:gd name="connsiteX9" fmla="*/ 3596499 w 3904481"/>
                <a:gd name="connsiteY9" fmla="*/ 52268 h 341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9" name="Group 8">
            <a:extLst>
              <a:ext uri="{FF2B5EF4-FFF2-40B4-BE49-F238E27FC236}">
                <a16:creationId xmlns:a16="http://schemas.microsoft.com/office/drawing/2014/main" id="{90302A25-2D4F-4AD5-B0E9-C12184C3599E}"/>
              </a:ext>
            </a:extLst>
          </p:cNvPr>
          <p:cNvGrpSpPr/>
          <p:nvPr/>
        </p:nvGrpSpPr>
        <p:grpSpPr>
          <a:xfrm>
            <a:off x="-1" y="1355238"/>
            <a:ext cx="4381339" cy="5510713"/>
            <a:chOff x="0" y="1347287"/>
            <a:chExt cx="4259808" cy="5510713"/>
          </a:xfrm>
        </p:grpSpPr>
        <p:sp>
          <p:nvSpPr>
            <p:cNvPr id="59" name="Freeform: Shape 58">
              <a:extLst>
                <a:ext uri="{FF2B5EF4-FFF2-40B4-BE49-F238E27FC236}">
                  <a16:creationId xmlns:a16="http://schemas.microsoft.com/office/drawing/2014/main" id="{E227AF03-773A-4B1E-8FED-67198038E60D}"/>
                </a:ext>
              </a:extLst>
            </p:cNvPr>
            <p:cNvSpPr/>
            <p:nvPr/>
          </p:nvSpPr>
          <p:spPr>
            <a:xfrm>
              <a:off x="0" y="1676545"/>
              <a:ext cx="4174269" cy="5181455"/>
            </a:xfrm>
            <a:custGeom>
              <a:avLst/>
              <a:gdLst>
                <a:gd name="connsiteX0" fmla="*/ 1155130 w 4174269"/>
                <a:gd name="connsiteY0" fmla="*/ 990 h 5181455"/>
                <a:gd name="connsiteX1" fmla="*/ 2396955 w 4174269"/>
                <a:gd name="connsiteY1" fmla="*/ 367328 h 5181455"/>
                <a:gd name="connsiteX2" fmla="*/ 3827960 w 4174269"/>
                <a:gd name="connsiteY2" fmla="*/ 4749328 h 5181455"/>
                <a:gd name="connsiteX3" fmla="*/ 3561502 w 4174269"/>
                <a:gd name="connsiteY3" fmla="*/ 5090948 h 5181455"/>
                <a:gd name="connsiteX4" fmla="*/ 3452726 w 4174269"/>
                <a:gd name="connsiteY4" fmla="*/ 5181455 h 5181455"/>
                <a:gd name="connsiteX5" fmla="*/ 0 w 4174269"/>
                <a:gd name="connsiteY5" fmla="*/ 5181455 h 5181455"/>
                <a:gd name="connsiteX6" fmla="*/ 0 w 4174269"/>
                <a:gd name="connsiteY6" fmla="*/ 251605 h 5181455"/>
                <a:gd name="connsiteX7" fmla="*/ 157396 w 4174269"/>
                <a:gd name="connsiteY7" fmla="*/ 182600 h 5181455"/>
                <a:gd name="connsiteX8" fmla="*/ 1155130 w 4174269"/>
                <a:gd name="connsiteY8" fmla="*/ 990 h 518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0" name="Freeform: Shape 59">
              <a:extLst>
                <a:ext uri="{FF2B5EF4-FFF2-40B4-BE49-F238E27FC236}">
                  <a16:creationId xmlns:a16="http://schemas.microsoft.com/office/drawing/2014/main" id="{D6FE8FAD-8A4A-49E1-AFAF-A074482295A9}"/>
                </a:ext>
              </a:extLst>
            </p:cNvPr>
            <p:cNvSpPr/>
            <p:nvPr/>
          </p:nvSpPr>
          <p:spPr>
            <a:xfrm>
              <a:off x="0" y="1347287"/>
              <a:ext cx="4259808" cy="5510713"/>
            </a:xfrm>
            <a:custGeom>
              <a:avLst/>
              <a:gdLst>
                <a:gd name="connsiteX0" fmla="*/ 948905 w 4259808"/>
                <a:gd name="connsiteY0" fmla="*/ 1556 h 5510713"/>
                <a:gd name="connsiteX1" fmla="*/ 2304106 w 4259808"/>
                <a:gd name="connsiteY1" fmla="*/ 405867 h 5510713"/>
                <a:gd name="connsiteX2" fmla="*/ 3890982 w 4259808"/>
                <a:gd name="connsiteY2" fmla="*/ 5156588 h 5510713"/>
                <a:gd name="connsiteX3" fmla="*/ 3680329 w 4259808"/>
                <a:gd name="connsiteY3" fmla="*/ 5445948 h 5510713"/>
                <a:gd name="connsiteX4" fmla="*/ 3616504 w 4259808"/>
                <a:gd name="connsiteY4" fmla="*/ 5510713 h 5510713"/>
                <a:gd name="connsiteX5" fmla="*/ 0 w 4259808"/>
                <a:gd name="connsiteY5" fmla="*/ 5510713 h 5510713"/>
                <a:gd name="connsiteX6" fmla="*/ 0 w 4259808"/>
                <a:gd name="connsiteY6" fmla="*/ 144797 h 5510713"/>
                <a:gd name="connsiteX7" fmla="*/ 164164 w 4259808"/>
                <a:gd name="connsiteY7" fmla="*/ 92266 h 5510713"/>
                <a:gd name="connsiteX8" fmla="*/ 948905 w 4259808"/>
                <a:gd name="connsiteY8" fmla="*/ 1556 h 55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0A7C4DFB-FDFD-4F28-8B00-287EB75C79EB}"/>
                </a:ext>
              </a:extLst>
            </p:cNvPr>
            <p:cNvSpPr/>
            <p:nvPr/>
          </p:nvSpPr>
          <p:spPr>
            <a:xfrm>
              <a:off x="0" y="1592806"/>
              <a:ext cx="4029221" cy="5265194"/>
            </a:xfrm>
            <a:custGeom>
              <a:avLst/>
              <a:gdLst>
                <a:gd name="connsiteX0" fmla="*/ 812878 w 4029221"/>
                <a:gd name="connsiteY0" fmla="*/ 840 h 5265194"/>
                <a:gd name="connsiteX1" fmla="*/ 960980 w 4029221"/>
                <a:gd name="connsiteY1" fmla="*/ 1442 h 5265194"/>
                <a:gd name="connsiteX2" fmla="*/ 2216856 w 4029221"/>
                <a:gd name="connsiteY2" fmla="*/ 376120 h 5265194"/>
                <a:gd name="connsiteX3" fmla="*/ 3687427 w 4029221"/>
                <a:gd name="connsiteY3" fmla="*/ 4778650 h 5265194"/>
                <a:gd name="connsiteX4" fmla="*/ 3267677 w 4029221"/>
                <a:gd name="connsiteY4" fmla="*/ 5245601 h 5265194"/>
                <a:gd name="connsiteX5" fmla="*/ 3237167 w 4029221"/>
                <a:gd name="connsiteY5" fmla="*/ 5265194 h 5265194"/>
                <a:gd name="connsiteX6" fmla="*/ 0 w 4029221"/>
                <a:gd name="connsiteY6" fmla="*/ 5265194 h 5265194"/>
                <a:gd name="connsiteX7" fmla="*/ 0 w 4029221"/>
                <a:gd name="connsiteY7" fmla="*/ 162790 h 5265194"/>
                <a:gd name="connsiteX8" fmla="*/ 58408 w 4029221"/>
                <a:gd name="connsiteY8" fmla="*/ 139352 h 5265194"/>
                <a:gd name="connsiteX9" fmla="*/ 812878 w 4029221"/>
                <a:gd name="connsiteY9" fmla="*/ 840 h 52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62" name="Freeform: Shape 61">
              <a:extLst>
                <a:ext uri="{FF2B5EF4-FFF2-40B4-BE49-F238E27FC236}">
                  <a16:creationId xmlns:a16="http://schemas.microsoft.com/office/drawing/2014/main" id="{B6E867DF-0B62-429A-A554-CBE585048439}"/>
                </a:ext>
              </a:extLst>
            </p:cNvPr>
            <p:cNvSpPr/>
            <p:nvPr/>
          </p:nvSpPr>
          <p:spPr>
            <a:xfrm>
              <a:off x="0" y="2147333"/>
              <a:ext cx="3702048" cy="4710667"/>
            </a:xfrm>
            <a:custGeom>
              <a:avLst/>
              <a:gdLst>
                <a:gd name="connsiteX0" fmla="*/ 1057511 w 3702048"/>
                <a:gd name="connsiteY0" fmla="*/ 1243 h 4710667"/>
                <a:gd name="connsiteX1" fmla="*/ 2139959 w 3702048"/>
                <a:gd name="connsiteY1" fmla="*/ 324180 h 4710667"/>
                <a:gd name="connsiteX2" fmla="*/ 3407455 w 3702048"/>
                <a:gd name="connsiteY2" fmla="*/ 4118750 h 4710667"/>
                <a:gd name="connsiteX3" fmla="*/ 2754080 w 3702048"/>
                <a:gd name="connsiteY3" fmla="*/ 4690965 h 4710667"/>
                <a:gd name="connsiteX4" fmla="*/ 2711405 w 3702048"/>
                <a:gd name="connsiteY4" fmla="*/ 4710667 h 4710667"/>
                <a:gd name="connsiteX5" fmla="*/ 0 w 3702048"/>
                <a:gd name="connsiteY5" fmla="*/ 4710667 h 4710667"/>
                <a:gd name="connsiteX6" fmla="*/ 0 w 3702048"/>
                <a:gd name="connsiteY6" fmla="*/ 239601 h 4710667"/>
                <a:gd name="connsiteX7" fmla="*/ 72857 w 3702048"/>
                <a:gd name="connsiteY7" fmla="*/ 203063 h 4710667"/>
                <a:gd name="connsiteX8" fmla="*/ 1057511 w 3702048"/>
                <a:gd name="connsiteY8" fmla="*/ 1243 h 471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2" name="Title 1"/>
          <p:cNvSpPr>
            <a:spLocks noGrp="1"/>
          </p:cNvSpPr>
          <p:nvPr>
            <p:ph type="title"/>
          </p:nvPr>
        </p:nvSpPr>
        <p:spPr>
          <a:xfrm>
            <a:off x="4654296" y="3420734"/>
            <a:ext cx="6665976" cy="2129674"/>
          </a:xfrm>
        </p:spPr>
        <p:txBody>
          <a:bodyPr anchor="b">
            <a:noAutofit/>
          </a:bodyPr>
          <a:lstStyle>
            <a:lvl1pPr algn="l">
              <a:lnSpc>
                <a:spcPct val="110000"/>
              </a:lnSpc>
              <a:defRPr sz="4800" cap="none" baseline="0">
                <a:solidFill>
                  <a:schemeClr val="tx1">
                    <a:lumMod val="75000"/>
                    <a:lumOff val="25000"/>
                  </a:schemeClr>
                </a:solidFill>
              </a:defRPr>
            </a:lvl1pPr>
          </a:lstStyle>
          <a:p>
            <a:r>
              <a:rPr lang="en-US"/>
              <a:t>Click to edit Master title style</a:t>
            </a:r>
            <a:endParaRPr lang="en-US" dirty="0"/>
          </a:p>
        </p:txBody>
      </p:sp>
      <p:sp>
        <p:nvSpPr>
          <p:cNvPr id="23" name="Footer Placeholder 22">
            <a:extLst>
              <a:ext uri="{FF2B5EF4-FFF2-40B4-BE49-F238E27FC236}">
                <a16:creationId xmlns:a16="http://schemas.microsoft.com/office/drawing/2014/main" id="{E197B67B-BA44-4D2A-B31D-35A89323C4B1}"/>
              </a:ext>
            </a:extLst>
          </p:cNvPr>
          <p:cNvSpPr>
            <a:spLocks noGrp="1"/>
          </p:cNvSpPr>
          <p:nvPr>
            <p:ph type="ftr" sz="quarter" idx="11"/>
          </p:nvPr>
        </p:nvSpPr>
        <p:spPr>
          <a:xfrm>
            <a:off x="4654296" y="6170490"/>
            <a:ext cx="5713314" cy="457200"/>
          </a:xfrm>
        </p:spPr>
        <p:txBody>
          <a:bodyPr/>
          <a:lstStyle/>
          <a:p>
            <a:endParaRPr lang="en-US" dirty="0"/>
          </a:p>
        </p:txBody>
      </p:sp>
      <p:sp>
        <p:nvSpPr>
          <p:cNvPr id="27" name="Slide Number Placeholder 26">
            <a:extLst>
              <a:ext uri="{FF2B5EF4-FFF2-40B4-BE49-F238E27FC236}">
                <a16:creationId xmlns:a16="http://schemas.microsoft.com/office/drawing/2014/main" id="{1D718595-24D3-4517-A62E-C1F493407AA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3" name="Text Placeholder 2"/>
          <p:cNvSpPr>
            <a:spLocks noGrp="1"/>
          </p:cNvSpPr>
          <p:nvPr>
            <p:ph type="body" idx="1"/>
          </p:nvPr>
        </p:nvSpPr>
        <p:spPr>
          <a:xfrm>
            <a:off x="4654295" y="5550408"/>
            <a:ext cx="6665975" cy="512064"/>
          </a:xfrm>
        </p:spPr>
        <p:txBody>
          <a:bodyPr>
            <a:normAutofit/>
          </a:bodyPr>
          <a:lstStyle>
            <a:lvl1pPr marL="0" indent="0" algn="l">
              <a:lnSpc>
                <a:spcPct val="130000"/>
              </a:lnSpc>
              <a:spcBef>
                <a:spcPts val="0"/>
              </a:spcBef>
              <a:buNone/>
              <a:defRPr sz="200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Date Placeholder 17">
            <a:extLst>
              <a:ext uri="{FF2B5EF4-FFF2-40B4-BE49-F238E27FC236}">
                <a16:creationId xmlns:a16="http://schemas.microsoft.com/office/drawing/2014/main" id="{3C6217BB-A228-414D-92D9-E1D1EFEB8BE6}"/>
              </a:ext>
            </a:extLst>
          </p:cNvPr>
          <p:cNvSpPr>
            <a:spLocks noGrp="1"/>
          </p:cNvSpPr>
          <p:nvPr>
            <p:ph type="dt" sz="half" idx="10"/>
          </p:nvPr>
        </p:nvSpPr>
        <p:spPr>
          <a:xfrm>
            <a:off x="640080" y="6170491"/>
            <a:ext cx="2840083" cy="457200"/>
          </a:xfrm>
        </p:spPr>
        <p:txBody>
          <a:bodyPr/>
          <a:lstStyle>
            <a:lvl1pPr algn="l">
              <a:defRPr/>
            </a:lvl1pPr>
          </a:lstStyle>
          <a:p>
            <a:fld id="{E72EB70D-CD01-44DA-83B3-8FEB3383D307}" type="datetime1">
              <a:rPr lang="en-US" smtClean="0"/>
              <a:t>8/8/2025</a:t>
            </a:fld>
            <a:endParaRPr lang="en-US" dirty="0"/>
          </a:p>
        </p:txBody>
      </p:sp>
    </p:spTree>
    <p:extLst>
      <p:ext uri="{BB962C8B-B14F-4D97-AF65-F5344CB8AC3E}">
        <p14:creationId xmlns:p14="http://schemas.microsoft.com/office/powerpoint/2010/main" val="2123741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2024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3029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C1D6427-F07F-4D50-B151-455100AF70FF}"/>
              </a:ext>
            </a:extLst>
          </p:cNvPr>
          <p:cNvSpPr>
            <a:spLocks noGrp="1"/>
          </p:cNvSpPr>
          <p:nvPr>
            <p:ph type="dt" sz="half" idx="10"/>
          </p:nvPr>
        </p:nvSpPr>
        <p:spPr/>
        <p:txBody>
          <a:bodyPr/>
          <a:lstStyle/>
          <a:p>
            <a:fld id="{D0158CFD-9357-46BE-A189-D637A67C8730}" type="datetime1">
              <a:rPr lang="en-US" smtClean="0"/>
              <a:t>8/8/2025</a:t>
            </a:fld>
            <a:endParaRPr lang="en-US" dirty="0"/>
          </a:p>
        </p:txBody>
      </p:sp>
      <p:sp>
        <p:nvSpPr>
          <p:cNvPr id="9" name="Footer Placeholder 8">
            <a:extLst>
              <a:ext uri="{FF2B5EF4-FFF2-40B4-BE49-F238E27FC236}">
                <a16:creationId xmlns:a16="http://schemas.microsoft.com/office/drawing/2014/main" id="{479EFBB2-C5E0-4D57-AB1D-3AA907ECFD72}"/>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7AE6B7E1-F60B-4D08-9052-423D6FBFAD6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850746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2456408"/>
            <a:ext cx="4160520" cy="823912"/>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30290" y="2456408"/>
            <a:ext cx="4160520" cy="823912"/>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6530290"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Date Placeholder 9">
            <a:extLst>
              <a:ext uri="{FF2B5EF4-FFF2-40B4-BE49-F238E27FC236}">
                <a16:creationId xmlns:a16="http://schemas.microsoft.com/office/drawing/2014/main" id="{3771BF97-4D2A-43A4-8CDC-2250017EB045}"/>
              </a:ext>
            </a:extLst>
          </p:cNvPr>
          <p:cNvSpPr>
            <a:spLocks noGrp="1"/>
          </p:cNvSpPr>
          <p:nvPr>
            <p:ph type="dt" sz="half" idx="10"/>
          </p:nvPr>
        </p:nvSpPr>
        <p:spPr/>
        <p:txBody>
          <a:bodyPr/>
          <a:lstStyle/>
          <a:p>
            <a:fld id="{7B4742EE-B331-4632-BD10-A82FED6B6FC0}" type="datetime1">
              <a:rPr lang="en-US" smtClean="0"/>
              <a:t>8/8/2025</a:t>
            </a:fld>
            <a:endParaRPr lang="en-US" dirty="0"/>
          </a:p>
        </p:txBody>
      </p:sp>
      <p:sp>
        <p:nvSpPr>
          <p:cNvPr id="11" name="Footer Placeholder 10">
            <a:extLst>
              <a:ext uri="{FF2B5EF4-FFF2-40B4-BE49-F238E27FC236}">
                <a16:creationId xmlns:a16="http://schemas.microsoft.com/office/drawing/2014/main" id="{6020661A-DA07-4679-9226-945B5DD2480C}"/>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EEFCE38B-E087-4988-BC3A-FE3B55E70D7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
        <p:nvSpPr>
          <p:cNvPr id="13" name="Title 12">
            <a:extLst>
              <a:ext uri="{FF2B5EF4-FFF2-40B4-BE49-F238E27FC236}">
                <a16:creationId xmlns:a16="http://schemas.microsoft.com/office/drawing/2014/main" id="{D3BC439C-E995-4E1F-8DE9-75C32785E00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0576081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F30096C-3491-4EF2-ABB2-D57F3F4B5BD5}"/>
              </a:ext>
            </a:extLst>
          </p:cNvPr>
          <p:cNvSpPr>
            <a:spLocks noGrp="1"/>
          </p:cNvSpPr>
          <p:nvPr>
            <p:ph type="dt" sz="half" idx="10"/>
          </p:nvPr>
        </p:nvSpPr>
        <p:spPr/>
        <p:txBody>
          <a:bodyPr/>
          <a:lstStyle/>
          <a:p>
            <a:fld id="{451BA835-D13F-49F4-8F11-5D576AC65FAD}" type="datetime1">
              <a:rPr lang="en-US" smtClean="0"/>
              <a:t>8/8/2025</a:t>
            </a:fld>
            <a:endParaRPr lang="en-US" dirty="0"/>
          </a:p>
        </p:txBody>
      </p:sp>
      <p:sp>
        <p:nvSpPr>
          <p:cNvPr id="7" name="Footer Placeholder 6">
            <a:extLst>
              <a:ext uri="{FF2B5EF4-FFF2-40B4-BE49-F238E27FC236}">
                <a16:creationId xmlns:a16="http://schemas.microsoft.com/office/drawing/2014/main" id="{79DA3A85-7147-4F32-944A-B079AF5147E2}"/>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EEDDF50D-95C0-4DA2-BBC6-41774FAC1404}"/>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1981925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09BEFCA-6D6F-4F26-823F-C86CA694B830}"/>
              </a:ext>
            </a:extLst>
          </p:cNvPr>
          <p:cNvSpPr>
            <a:spLocks noGrp="1"/>
          </p:cNvSpPr>
          <p:nvPr>
            <p:ph type="dt" sz="half" idx="10"/>
          </p:nvPr>
        </p:nvSpPr>
        <p:spPr/>
        <p:txBody>
          <a:bodyPr/>
          <a:lstStyle/>
          <a:p>
            <a:fld id="{ADBD1799-ACB5-4CB2-86A2-5C574F1C8706}" type="datetime1">
              <a:rPr lang="en-US" smtClean="0"/>
              <a:t>8/8/2025</a:t>
            </a:fld>
            <a:endParaRPr lang="en-US" dirty="0"/>
          </a:p>
        </p:txBody>
      </p:sp>
      <p:sp>
        <p:nvSpPr>
          <p:cNvPr id="6" name="Footer Placeholder 5">
            <a:extLst>
              <a:ext uri="{FF2B5EF4-FFF2-40B4-BE49-F238E27FC236}">
                <a16:creationId xmlns:a16="http://schemas.microsoft.com/office/drawing/2014/main" id="{BC2EE2C9-E87D-4495-9EDA-6BC0EDC2709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4E5557A9-903F-4B36-8B06-D9EADF230508}"/>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427676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76488" y="640080"/>
            <a:ext cx="3227715" cy="2551751"/>
          </a:xfrm>
        </p:spPr>
        <p:txBody>
          <a:bodyPr anchor="b">
            <a:normAutofit/>
          </a:bodyPr>
          <a:lstStyle>
            <a:lvl1pPr>
              <a:lnSpc>
                <a:spcPct val="104000"/>
              </a:lnSpc>
              <a:defRPr sz="3400"/>
            </a:lvl1pPr>
          </a:lstStyle>
          <a:p>
            <a:r>
              <a:rPr lang="en-US"/>
              <a:t>Click to edit Master title style</a:t>
            </a:r>
            <a:endParaRPr lang="en-US" dirty="0"/>
          </a:p>
        </p:txBody>
      </p:sp>
      <p:sp>
        <p:nvSpPr>
          <p:cNvPr id="3" name="Content Placeholder 2"/>
          <p:cNvSpPr>
            <a:spLocks noGrp="1"/>
          </p:cNvSpPr>
          <p:nvPr>
            <p:ph idx="1"/>
          </p:nvPr>
        </p:nvSpPr>
        <p:spPr>
          <a:xfrm>
            <a:off x="1280160" y="640080"/>
            <a:ext cx="6949440" cy="54559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B904BE8-2080-4FFA-9239-A8929E28FAD9}"/>
              </a:ext>
            </a:extLst>
          </p:cNvPr>
          <p:cNvSpPr>
            <a:spLocks noGrp="1"/>
          </p:cNvSpPr>
          <p:nvPr>
            <p:ph type="dt" sz="half" idx="10"/>
          </p:nvPr>
        </p:nvSpPr>
        <p:spPr>
          <a:xfrm>
            <a:off x="8476488" y="6170491"/>
            <a:ext cx="2214322" cy="457200"/>
          </a:xfrm>
        </p:spPr>
        <p:txBody>
          <a:bodyPr/>
          <a:lstStyle/>
          <a:p>
            <a:fld id="{ED5DD0D6-7A82-473E-879B-C6ECD6CCCFEC}" type="datetime1">
              <a:rPr lang="en-US" smtClean="0"/>
              <a:t>8/8/2025</a:t>
            </a:fld>
            <a:endParaRPr lang="en-US" dirty="0"/>
          </a:p>
        </p:txBody>
      </p:sp>
      <p:sp>
        <p:nvSpPr>
          <p:cNvPr id="9" name="Footer Placeholder 8">
            <a:extLst>
              <a:ext uri="{FF2B5EF4-FFF2-40B4-BE49-F238E27FC236}">
                <a16:creationId xmlns:a16="http://schemas.microsoft.com/office/drawing/2014/main" id="{ED5580C6-5CD7-4CDD-977D-0533C84F2F45}"/>
              </a:ext>
            </a:extLst>
          </p:cNvPr>
          <p:cNvSpPr>
            <a:spLocks noGrp="1"/>
          </p:cNvSpPr>
          <p:nvPr>
            <p:ph type="ftr" sz="quarter" idx="11"/>
          </p:nvPr>
        </p:nvSpPr>
        <p:spPr>
          <a:xfrm>
            <a:off x="1280160" y="6170490"/>
            <a:ext cx="6949440" cy="457200"/>
          </a:xfrm>
        </p:spPr>
        <p:txBody>
          <a:bodyPr/>
          <a:lstStyle/>
          <a:p>
            <a:endParaRPr lang="en-US" dirty="0"/>
          </a:p>
        </p:txBody>
      </p:sp>
      <p:sp>
        <p:nvSpPr>
          <p:cNvPr id="10" name="Slide Number Placeholder 9">
            <a:extLst>
              <a:ext uri="{FF2B5EF4-FFF2-40B4-BE49-F238E27FC236}">
                <a16:creationId xmlns:a16="http://schemas.microsoft.com/office/drawing/2014/main" id="{518D0320-9B66-443F-8E28-8BCF07E082BD}"/>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246218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0"/>
            <a:ext cx="8102651"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endParaRPr lang="en-US" dirty="0"/>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Date Placeholder 10">
            <a:extLst>
              <a:ext uri="{FF2B5EF4-FFF2-40B4-BE49-F238E27FC236}">
                <a16:creationId xmlns:a16="http://schemas.microsoft.com/office/drawing/2014/main" id="{41C2A9DB-B176-4069-8734-5B4ED352BA2B}"/>
              </a:ext>
            </a:extLst>
          </p:cNvPr>
          <p:cNvSpPr>
            <a:spLocks noGrp="1"/>
          </p:cNvSpPr>
          <p:nvPr>
            <p:ph type="dt" sz="half" idx="10"/>
          </p:nvPr>
        </p:nvSpPr>
        <p:spPr>
          <a:xfrm>
            <a:off x="8476488" y="6170491"/>
            <a:ext cx="2214322" cy="457200"/>
          </a:xfrm>
        </p:spPr>
        <p:txBody>
          <a:bodyPr/>
          <a:lstStyle/>
          <a:p>
            <a:fld id="{D4605E03-BC17-41A7-854C-DFAB672737DC}" type="datetime1">
              <a:rPr lang="en-US" smtClean="0"/>
              <a:t>8/8/2025</a:t>
            </a:fld>
            <a:endParaRPr lang="en-US" dirty="0"/>
          </a:p>
        </p:txBody>
      </p:sp>
      <p:sp>
        <p:nvSpPr>
          <p:cNvPr id="12" name="Footer Placeholder 11">
            <a:extLst>
              <a:ext uri="{FF2B5EF4-FFF2-40B4-BE49-F238E27FC236}">
                <a16:creationId xmlns:a16="http://schemas.microsoft.com/office/drawing/2014/main" id="{430F9A2F-C2C4-4E1C-B4B3-07ED84F28CE8}"/>
              </a:ext>
            </a:extLst>
          </p:cNvPr>
          <p:cNvSpPr>
            <a:spLocks noGrp="1"/>
          </p:cNvSpPr>
          <p:nvPr>
            <p:ph type="ftr" sz="quarter" idx="11"/>
          </p:nvPr>
        </p:nvSpPr>
        <p:spPr>
          <a:xfrm>
            <a:off x="1280160" y="6170490"/>
            <a:ext cx="6464410" cy="457200"/>
          </a:xfrm>
        </p:spPr>
        <p:txBody>
          <a:bodyPr/>
          <a:lstStyle>
            <a:lvl1pPr>
              <a:defRPr b="1">
                <a:solidFill>
                  <a:srgbClr val="FFFFFF"/>
                </a:solidFill>
                <a:effectLst>
                  <a:outerShdw blurRad="50800" dist="38100" dir="2700000" algn="tl" rotWithShape="0">
                    <a:prstClr val="black">
                      <a:alpha val="43000"/>
                    </a:prstClr>
                  </a:outerShdw>
                </a:effectLst>
              </a:defRPr>
            </a:lvl1pPr>
          </a:lstStyle>
          <a:p>
            <a:endParaRPr lang="en-US" dirty="0"/>
          </a:p>
        </p:txBody>
      </p:sp>
      <p:sp>
        <p:nvSpPr>
          <p:cNvPr id="13" name="Slide Number Placeholder 12">
            <a:extLst>
              <a:ext uri="{FF2B5EF4-FFF2-40B4-BE49-F238E27FC236}">
                <a16:creationId xmlns:a16="http://schemas.microsoft.com/office/drawing/2014/main" id="{F9BFA0A0-2117-4A10-9DAA-080C21559CF3}"/>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2485444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6397E4A-EB6A-4FA6-AA4F-69EA0C70FDC9}"/>
              </a:ext>
            </a:extLst>
          </p:cNvPr>
          <p:cNvSpPr>
            <a:spLocks noGrp="1"/>
          </p:cNvSpPr>
          <p:nvPr>
            <p:ph type="dt" sz="half" idx="10"/>
          </p:nvPr>
        </p:nvSpPr>
        <p:spPr/>
        <p:txBody>
          <a:bodyPr/>
          <a:lstStyle/>
          <a:p>
            <a:fld id="{6F86ED0C-1DA7-41F0-94CF-6218B1FEDFF1}" type="datetime1">
              <a:rPr lang="en-US" smtClean="0"/>
              <a:t>8/8/2025</a:t>
            </a:fld>
            <a:endParaRPr lang="en-US" dirty="0"/>
          </a:p>
        </p:txBody>
      </p:sp>
      <p:sp>
        <p:nvSpPr>
          <p:cNvPr id="8" name="Footer Placeholder 7">
            <a:extLst>
              <a:ext uri="{FF2B5EF4-FFF2-40B4-BE49-F238E27FC236}">
                <a16:creationId xmlns:a16="http://schemas.microsoft.com/office/drawing/2014/main" id="{051A2F5D-7AC4-4F91-965A-7B6A45D6F414}"/>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26E8B86-CDB8-482F-9D9F-1BFDA3638B3E}"/>
              </a:ext>
            </a:extLst>
          </p:cNvPr>
          <p:cNvSpPr>
            <a:spLocks noGrp="1"/>
          </p:cNvSpPr>
          <p:nvPr>
            <p:ph type="sldNum" sz="quarter" idx="12"/>
          </p:nvPr>
        </p:nvSpPr>
        <p:spPr/>
        <p:txBody>
          <a:bodyPr/>
          <a:lstStyle/>
          <a:p>
            <a:pPr algn="l"/>
            <a:fld id="{FAEF9944-A4F6-4C59-AEBD-678D6480B8EA}" type="slidenum">
              <a:rPr lang="en-US" smtClean="0"/>
              <a:pPr algn="l"/>
              <a:t>‹#›</a:t>
            </a:fld>
            <a:endParaRPr lang="en-US" dirty="0"/>
          </a:p>
        </p:txBody>
      </p:sp>
    </p:spTree>
    <p:extLst>
      <p:ext uri="{BB962C8B-B14F-4D97-AF65-F5344CB8AC3E}">
        <p14:creationId xmlns:p14="http://schemas.microsoft.com/office/powerpoint/2010/main" val="3973772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fld id="{EECF02AB-6034-4B88-BC5A-7C17CB0EF809}" type="datetime1">
              <a:rPr lang="en-US" smtClean="0"/>
              <a:t>8/8/2025</a:t>
            </a:fld>
            <a:endParaRPr lang="en-US" dirty="0"/>
          </a:p>
        </p:txBody>
      </p:sp>
      <p:sp>
        <p:nvSpPr>
          <p:cNvPr id="5" name="Footer Placeholder 4"/>
          <p:cNvSpPr>
            <a:spLocks noGrp="1"/>
          </p:cNvSpPr>
          <p:nvPr>
            <p:ph type="ftr" sz="quarter" idx="11"/>
          </p:nvPr>
        </p:nvSpPr>
        <p:spPr>
          <a:xfrm>
            <a:off x="2933699" y="6296615"/>
            <a:ext cx="5959577" cy="365125"/>
          </a:xfrm>
        </p:spPr>
        <p:txBody>
          <a:bodyPr/>
          <a:lstStyle/>
          <a:p>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751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442220"/>
            <a:ext cx="8770571" cy="1345269"/>
          </a:xfrm>
          <a:prstGeom prst="rect">
            <a:avLst/>
          </a:prstGeom>
        </p:spPr>
        <p:txBody>
          <a:bodyPr vert="horz" lIns="109728" tIns="109728" rIns="109728" bIns="9144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920240" y="2312276"/>
            <a:ext cx="8770571" cy="3651504"/>
          </a:xfrm>
          <a:prstGeom prst="rect">
            <a:avLst/>
          </a:prstGeom>
        </p:spPr>
        <p:txBody>
          <a:bodyPr vert="horz" lIns="109728" tIns="109728" rIns="109728"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50727" y="6170491"/>
            <a:ext cx="2840083" cy="457200"/>
          </a:xfrm>
          <a:prstGeom prst="rect">
            <a:avLst/>
          </a:prstGeom>
        </p:spPr>
        <p:txBody>
          <a:bodyPr vert="horz" lIns="109728" tIns="109728" rIns="109728" bIns="91440" rtlCol="0" anchor="ctr"/>
          <a:lstStyle>
            <a:lvl1pPr algn="r">
              <a:defRPr sz="1100" spc="150" baseline="0">
                <a:solidFill>
                  <a:schemeClr val="tx1">
                    <a:lumMod val="75000"/>
                    <a:lumOff val="25000"/>
                  </a:schemeClr>
                </a:solidFill>
                <a:latin typeface="+mj-lt"/>
              </a:defRPr>
            </a:lvl1pPr>
          </a:lstStyle>
          <a:p>
            <a:fld id="{C4408324-A84C-4A45-93B6-78D079CCE772}" type="datetime1">
              <a:rPr lang="en-US" smtClean="0"/>
              <a:t>8/8/2025</a:t>
            </a:fld>
            <a:endParaRPr lang="en-US" dirty="0"/>
          </a:p>
        </p:txBody>
      </p:sp>
      <p:sp>
        <p:nvSpPr>
          <p:cNvPr id="5" name="Footer Placeholder 4"/>
          <p:cNvSpPr>
            <a:spLocks noGrp="1"/>
          </p:cNvSpPr>
          <p:nvPr>
            <p:ph type="ftr" sz="quarter" idx="3"/>
          </p:nvPr>
        </p:nvSpPr>
        <p:spPr>
          <a:xfrm>
            <a:off x="1920240" y="6170490"/>
            <a:ext cx="5667375" cy="457200"/>
          </a:xfrm>
          <a:prstGeom prst="rect">
            <a:avLst/>
          </a:prstGeom>
        </p:spPr>
        <p:txBody>
          <a:bodyPr vert="horz" lIns="109728" tIns="109728" rIns="109728" bIns="91440" rtlCol="0" anchor="ctr"/>
          <a:lstStyle>
            <a:lvl1pPr algn="l">
              <a:defRPr sz="1100" spc="150" baseline="0">
                <a:solidFill>
                  <a:schemeClr val="tx1">
                    <a:lumMod val="75000"/>
                    <a:lumOff val="25000"/>
                  </a:schemeClr>
                </a:solidFill>
                <a:latin typeface="+mj-lt"/>
              </a:defRPr>
            </a:lvl1pPr>
          </a:lstStyle>
          <a:p>
            <a:endParaRPr lang="en-US" dirty="0"/>
          </a:p>
        </p:txBody>
      </p:sp>
      <p:sp>
        <p:nvSpPr>
          <p:cNvPr id="6" name="Slide Number Placeholder 5"/>
          <p:cNvSpPr>
            <a:spLocks noGrp="1"/>
          </p:cNvSpPr>
          <p:nvPr>
            <p:ph type="sldNum" sz="quarter" idx="4"/>
          </p:nvPr>
        </p:nvSpPr>
        <p:spPr>
          <a:xfrm>
            <a:off x="10853744" y="6170490"/>
            <a:ext cx="1188720" cy="457200"/>
          </a:xfrm>
          <a:prstGeom prst="rect">
            <a:avLst/>
          </a:prstGeom>
        </p:spPr>
        <p:txBody>
          <a:bodyPr vert="horz" lIns="109728" tIns="109728" rIns="109728" bIns="91440" rtlCol="0" anchor="b"/>
          <a:lstStyle>
            <a:lvl1pPr algn="r">
              <a:defRPr sz="1600" b="1" baseline="0">
                <a:solidFill>
                  <a:schemeClr val="tx1">
                    <a:lumMod val="75000"/>
                    <a:lumOff val="25000"/>
                  </a:schemeClr>
                </a:solidFill>
                <a:latin typeface="+mj-lt"/>
              </a:defRPr>
            </a:lvl1pPr>
          </a:lstStyle>
          <a:p>
            <a:pPr algn="l"/>
            <a:fld id="{FAEF9944-A4F6-4C59-AEBD-678D6480B8EA}" type="slidenum">
              <a:rPr lang="en-US" smtClean="0"/>
              <a:pPr algn="l"/>
              <a:t>‹#›</a:t>
            </a:fld>
            <a:endParaRPr lang="en-US" dirty="0"/>
          </a:p>
        </p:txBody>
      </p:sp>
      <p:cxnSp>
        <p:nvCxnSpPr>
          <p:cNvPr id="9" name="Straight Connector 8" title="Rule Line">
            <a:extLst>
              <a:ext uri="{FF2B5EF4-FFF2-40B4-BE49-F238E27FC236}">
                <a16:creationId xmlns:a16="http://schemas.microsoft.com/office/drawing/2014/main" id="{430127AE-B29E-4FDF-99D2-A2F1E7003F74}"/>
              </a:ext>
            </a:extLst>
          </p:cNvPr>
          <p:cNvCxnSpPr/>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0636791"/>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01" r:id="rId5"/>
    <p:sldLayoutId id="2147483706" r:id="rId6"/>
    <p:sldLayoutId id="2147483702" r:id="rId7"/>
    <p:sldLayoutId id="2147483703" r:id="rId8"/>
    <p:sldLayoutId id="2147483704" r:id="rId9"/>
    <p:sldLayoutId id="2147483705" r:id="rId10"/>
    <p:sldLayoutId id="2147483707" r:id="rId11"/>
  </p:sldLayoutIdLst>
  <p:hf sldNum="0" hdr="0" ftr="0" dt="0"/>
  <p:txStyles>
    <p:title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pjkundert/cpppo"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7FBC39E9-2615-B6C2-FF87-90D831767E07}"/>
              </a:ext>
            </a:extLst>
          </p:cNvPr>
          <p:cNvSpPr>
            <a:spLocks noGrp="1"/>
          </p:cNvSpPr>
          <p:nvPr>
            <p:ph type="ctrTitle"/>
          </p:nvPr>
        </p:nvSpPr>
        <p:spPr>
          <a:xfrm>
            <a:off x="6090045" y="1346200"/>
            <a:ext cx="5624118" cy="3284538"/>
          </a:xfrm>
        </p:spPr>
        <p:txBody>
          <a:bodyPr anchor="b">
            <a:normAutofit/>
          </a:bodyPr>
          <a:lstStyle/>
          <a:p>
            <a:r>
              <a:rPr lang="en-US" dirty="0"/>
              <a:t>Toward-High-interactive Honeypots</a:t>
            </a:r>
          </a:p>
        </p:txBody>
      </p:sp>
      <p:sp>
        <p:nvSpPr>
          <p:cNvPr id="3" name="Subtitle 2">
            <a:extLst>
              <a:ext uri="{FF2B5EF4-FFF2-40B4-BE49-F238E27FC236}">
                <a16:creationId xmlns:a16="http://schemas.microsoft.com/office/drawing/2014/main" id="{318940F6-183B-C463-B054-5EABB82FB2EE}"/>
              </a:ext>
            </a:extLst>
          </p:cNvPr>
          <p:cNvSpPr>
            <a:spLocks noGrp="1"/>
          </p:cNvSpPr>
          <p:nvPr>
            <p:ph type="subTitle" idx="1"/>
          </p:nvPr>
        </p:nvSpPr>
        <p:spPr>
          <a:xfrm>
            <a:off x="6096369" y="4630738"/>
            <a:ext cx="5617794" cy="1150937"/>
          </a:xfrm>
        </p:spPr>
        <p:txBody>
          <a:bodyPr anchor="t">
            <a:normAutofit/>
          </a:bodyPr>
          <a:lstStyle/>
          <a:p>
            <a:r>
              <a:rPr lang="en-US" dirty="0"/>
              <a:t>Bullet points</a:t>
            </a:r>
          </a:p>
        </p:txBody>
      </p:sp>
      <p:sp>
        <p:nvSpPr>
          <p:cNvPr id="11" name="Freeform: Shape 10">
            <a:extLst>
              <a:ext uri="{FF2B5EF4-FFF2-40B4-BE49-F238E27FC236}">
                <a16:creationId xmlns:a16="http://schemas.microsoft.com/office/drawing/2014/main" id="{96CB0275-66F1-4491-93B8-121D0C7176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14"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18D32C3D-8F76-4E99-BE56-0836CC38C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84938"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4" name="Picture 3">
            <a:extLst>
              <a:ext uri="{FF2B5EF4-FFF2-40B4-BE49-F238E27FC236}">
                <a16:creationId xmlns:a16="http://schemas.microsoft.com/office/drawing/2014/main" id="{00E7911D-C4F9-A55A-8793-80AB89D2BD3F}"/>
              </a:ext>
            </a:extLst>
          </p:cNvPr>
          <p:cNvPicPr>
            <a:picLocks noChangeAspect="1"/>
          </p:cNvPicPr>
          <p:nvPr/>
        </p:nvPicPr>
        <p:blipFill>
          <a:blip r:embed="rId2"/>
          <a:srcRect l="6927" r="19684"/>
          <a:stretch>
            <a:fillRect/>
          </a:stretch>
        </p:blipFill>
        <p:spPr>
          <a:xfrm>
            <a:off x="153" y="10"/>
            <a:ext cx="5033023" cy="6857990"/>
          </a:xfrm>
          <a:custGeom>
            <a:avLst/>
            <a:gdLst/>
            <a:ahLst/>
            <a:cxnLst/>
            <a:rect l="l" t="t" r="r" b="b"/>
            <a:pathLst>
              <a:path w="4710787" h="6858000">
                <a:moveTo>
                  <a:pt x="0" y="0"/>
                </a:moveTo>
                <a:lnTo>
                  <a:pt x="1214365" y="0"/>
                </a:lnTo>
                <a:lnTo>
                  <a:pt x="1994531" y="0"/>
                </a:lnTo>
                <a:lnTo>
                  <a:pt x="3087764" y="0"/>
                </a:lnTo>
                <a:lnTo>
                  <a:pt x="3109888" y="14997"/>
                </a:lnTo>
                <a:cubicBezTo>
                  <a:pt x="4137051" y="754641"/>
                  <a:pt x="4710787" y="2093192"/>
                  <a:pt x="4710787" y="3621656"/>
                </a:cubicBezTo>
                <a:cubicBezTo>
                  <a:pt x="4710787" y="4969131"/>
                  <a:pt x="3782062" y="5602839"/>
                  <a:pt x="2836437" y="6374814"/>
                </a:cubicBezTo>
                <a:cubicBezTo>
                  <a:pt x="2664234" y="6515397"/>
                  <a:pt x="2493607" y="6653108"/>
                  <a:pt x="2319789" y="6780599"/>
                </a:cubicBezTo>
                <a:lnTo>
                  <a:pt x="2208033" y="6858000"/>
                </a:lnTo>
                <a:lnTo>
                  <a:pt x="1994531" y="6858000"/>
                </a:lnTo>
                <a:lnTo>
                  <a:pt x="1214365" y="6858000"/>
                </a:lnTo>
                <a:lnTo>
                  <a:pt x="0" y="6858000"/>
                </a:lnTo>
                <a:close/>
              </a:path>
            </a:pathLst>
          </a:custGeom>
        </p:spPr>
      </p:pic>
      <p:sp>
        <p:nvSpPr>
          <p:cNvPr id="15" name="Freeform: Shape 14">
            <a:extLst>
              <a:ext uri="{FF2B5EF4-FFF2-40B4-BE49-F238E27FC236}">
                <a16:creationId xmlns:a16="http://schemas.microsoft.com/office/drawing/2014/main" id="{70766076-46F5-42D5-A773-2B3BEF2B8B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25575" y="0"/>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1101579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D3F7BEA7-CFA1-44D8-77C2-8EEC1E04AF2F}"/>
              </a:ext>
            </a:extLst>
          </p:cNvPr>
          <p:cNvSpPr>
            <a:spLocks noGrp="1"/>
          </p:cNvSpPr>
          <p:nvPr>
            <p:ph type="title"/>
          </p:nvPr>
        </p:nvSpPr>
        <p:spPr>
          <a:xfrm>
            <a:off x="992518" y="442913"/>
            <a:ext cx="5271804" cy="1639888"/>
          </a:xfrm>
        </p:spPr>
        <p:txBody>
          <a:bodyPr anchor="b">
            <a:normAutofit/>
          </a:bodyPr>
          <a:lstStyle/>
          <a:p>
            <a:r>
              <a:rPr lang="en-US" dirty="0"/>
              <a:t>Main purpose</a:t>
            </a:r>
          </a:p>
        </p:txBody>
      </p:sp>
      <p:sp>
        <p:nvSpPr>
          <p:cNvPr id="3" name="Content Placeholder 2">
            <a:extLst>
              <a:ext uri="{FF2B5EF4-FFF2-40B4-BE49-F238E27FC236}">
                <a16:creationId xmlns:a16="http://schemas.microsoft.com/office/drawing/2014/main" id="{C0CB7327-6F9A-3D38-7CCC-43876B7C0F8E}"/>
              </a:ext>
            </a:extLst>
          </p:cNvPr>
          <p:cNvSpPr>
            <a:spLocks noGrp="1"/>
          </p:cNvSpPr>
          <p:nvPr>
            <p:ph idx="1"/>
          </p:nvPr>
        </p:nvSpPr>
        <p:spPr>
          <a:xfrm>
            <a:off x="992519" y="2312988"/>
            <a:ext cx="5271804" cy="3651250"/>
          </a:xfrm>
        </p:spPr>
        <p:txBody>
          <a:bodyPr>
            <a:normAutofit/>
          </a:bodyPr>
          <a:lstStyle/>
          <a:p>
            <a:pPr marL="285750" indent="-285750">
              <a:buFont typeface="Arial" panose="020B0604020202020204" pitchFamily="34" charset="0"/>
              <a:buChar char="•"/>
            </a:pPr>
            <a:r>
              <a:rPr lang="en-US" sz="1700"/>
              <a:t>They purpose a design of a virtual, high-interactive, and server-based ICS to satisfy these properties:</a:t>
            </a:r>
          </a:p>
          <a:p>
            <a:pPr marL="342900" lvl="4" indent="-342900">
              <a:buFont typeface="+mj-lt"/>
              <a:buAutoNum type="arabicPeriod"/>
            </a:pPr>
            <a:r>
              <a:rPr lang="en-US" sz="1700"/>
              <a:t>Cost-Effective</a:t>
            </a:r>
          </a:p>
          <a:p>
            <a:pPr marL="342900" lvl="4" indent="-342900">
              <a:buFont typeface="+mj-lt"/>
              <a:buAutoNum type="arabicPeriod"/>
            </a:pPr>
            <a:r>
              <a:rPr lang="en-US" sz="1700"/>
              <a:t>Realistic</a:t>
            </a:r>
          </a:p>
          <a:p>
            <a:pPr marL="342900" lvl="4" indent="-342900">
              <a:buFont typeface="+mj-lt"/>
              <a:buAutoNum type="arabicPeriod"/>
            </a:pPr>
            <a:r>
              <a:rPr lang="en-US" sz="1700"/>
              <a:t>Maintainable</a:t>
            </a:r>
          </a:p>
          <a:p>
            <a:pPr marL="342900" indent="-342900">
              <a:buFont typeface="Arial" panose="020B0604020202020204" pitchFamily="34" charset="0"/>
              <a:buChar char="•"/>
            </a:pPr>
            <a:r>
              <a:rPr lang="en-US" sz="1700"/>
              <a:t>They mimic water treatment testbed</a:t>
            </a:r>
          </a:p>
          <a:p>
            <a:pPr marL="342900" indent="-342900">
              <a:buFont typeface="Arial" panose="020B0604020202020204" pitchFamily="34" charset="0"/>
              <a:buChar char="•"/>
            </a:pPr>
            <a:r>
              <a:rPr lang="en-US" sz="1700"/>
              <a:t>They target Ethernet/IP protocol</a:t>
            </a:r>
          </a:p>
        </p:txBody>
      </p:sp>
      <p:sp>
        <p:nvSpPr>
          <p:cNvPr id="11" name="Freeform: Shape 1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descr="A 3D pattern of ring shapes connected by lines">
            <a:extLst>
              <a:ext uri="{FF2B5EF4-FFF2-40B4-BE49-F238E27FC236}">
                <a16:creationId xmlns:a16="http://schemas.microsoft.com/office/drawing/2014/main" id="{A0B36563-13D8-A22F-65E0-76309F10FE29}"/>
              </a:ext>
            </a:extLst>
          </p:cNvPr>
          <p:cNvPicPr>
            <a:picLocks noChangeAspect="1"/>
          </p:cNvPicPr>
          <p:nvPr/>
        </p:nvPicPr>
        <p:blipFill>
          <a:blip r:embed="rId2"/>
          <a:srcRect l="13182" r="45905"/>
          <a:stretch>
            <a:fillRect/>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3375464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49BB7E9A-6937-4BF0-9F51-A20F197B55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2" name="Freeform: Shape 21">
            <a:extLst>
              <a:ext uri="{FF2B5EF4-FFF2-40B4-BE49-F238E27FC236}">
                <a16:creationId xmlns:a16="http://schemas.microsoft.com/office/drawing/2014/main" id="{E0939753-89D7-48A8-8441-B9FF25CE8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04167" y="0"/>
            <a:ext cx="5687681" cy="5708856"/>
          </a:xfrm>
          <a:custGeom>
            <a:avLst/>
            <a:gdLst>
              <a:gd name="connsiteX0" fmla="*/ 2787282 w 5687681"/>
              <a:gd name="connsiteY0" fmla="*/ 0 h 5708856"/>
              <a:gd name="connsiteX1" fmla="*/ 3988996 w 5687681"/>
              <a:gd name="connsiteY1" fmla="*/ 0 h 5708856"/>
              <a:gd name="connsiteX2" fmla="*/ 4236253 w 5687681"/>
              <a:gd name="connsiteY2" fmla="*/ 68070 h 5708856"/>
              <a:gd name="connsiteX3" fmla="*/ 4483543 w 5687681"/>
              <a:gd name="connsiteY3" fmla="*/ 168573 h 5708856"/>
              <a:gd name="connsiteX4" fmla="*/ 5265611 w 5687681"/>
              <a:gd name="connsiteY4" fmla="*/ 790441 h 5708856"/>
              <a:gd name="connsiteX5" fmla="*/ 5682608 w 5687681"/>
              <a:gd name="connsiteY5" fmla="*/ 1499885 h 5708856"/>
              <a:gd name="connsiteX6" fmla="*/ 5687681 w 5687681"/>
              <a:gd name="connsiteY6" fmla="*/ 1513862 h 5708856"/>
              <a:gd name="connsiteX7" fmla="*/ 5687681 w 5687681"/>
              <a:gd name="connsiteY7" fmla="*/ 3841322 h 5708856"/>
              <a:gd name="connsiteX8" fmla="*/ 5651147 w 5687681"/>
              <a:gd name="connsiteY8" fmla="*/ 3896489 h 5708856"/>
              <a:gd name="connsiteX9" fmla="*/ 4734255 w 5687681"/>
              <a:gd name="connsiteY9" fmla="*/ 4737639 h 5708856"/>
              <a:gd name="connsiteX10" fmla="*/ 4532663 w 5687681"/>
              <a:gd name="connsiteY10" fmla="*/ 4898543 h 5708856"/>
              <a:gd name="connsiteX11" fmla="*/ 2876165 w 5687681"/>
              <a:gd name="connsiteY11" fmla="*/ 5708856 h 5708856"/>
              <a:gd name="connsiteX12" fmla="*/ 694066 w 5687681"/>
              <a:gd name="connsiteY12" fmla="*/ 4391717 h 5708856"/>
              <a:gd name="connsiteX13" fmla="*/ 461517 w 5687681"/>
              <a:gd name="connsiteY13" fmla="*/ 4054756 h 5708856"/>
              <a:gd name="connsiteX14" fmla="*/ 0 w 5687681"/>
              <a:gd name="connsiteY14" fmla="*/ 2993139 h 5708856"/>
              <a:gd name="connsiteX15" fmla="*/ 278855 w 5687681"/>
              <a:gd name="connsiteY15" fmla="*/ 1849819 h 5708856"/>
              <a:gd name="connsiteX16" fmla="*/ 1047879 w 5687681"/>
              <a:gd name="connsiteY16" fmla="*/ 867400 h 5708856"/>
              <a:gd name="connsiteX17" fmla="*/ 2159714 w 5687681"/>
              <a:gd name="connsiteY17" fmla="*/ 186098 h 5708856"/>
              <a:gd name="connsiteX18" fmla="*/ 2785137 w 5687681"/>
              <a:gd name="connsiteY18" fmla="*/ 372 h 570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687681" h="5708856">
                <a:moveTo>
                  <a:pt x="2787282" y="0"/>
                </a:moveTo>
                <a:lnTo>
                  <a:pt x="3988996" y="0"/>
                </a:lnTo>
                <a:lnTo>
                  <a:pt x="4236253" y="68070"/>
                </a:lnTo>
                <a:cubicBezTo>
                  <a:pt x="4321147" y="96843"/>
                  <a:pt x="4403628" y="130356"/>
                  <a:pt x="4483543" y="168573"/>
                </a:cubicBezTo>
                <a:cubicBezTo>
                  <a:pt x="4783119" y="311949"/>
                  <a:pt x="5046239" y="521215"/>
                  <a:pt x="5265611" y="790441"/>
                </a:cubicBezTo>
                <a:cubicBezTo>
                  <a:pt x="5433740" y="996857"/>
                  <a:pt x="5573537" y="1235870"/>
                  <a:pt x="5682608" y="1499885"/>
                </a:cubicBezTo>
                <a:lnTo>
                  <a:pt x="5687681" y="1513862"/>
                </a:lnTo>
                <a:lnTo>
                  <a:pt x="5687681" y="3841322"/>
                </a:lnTo>
                <a:lnTo>
                  <a:pt x="5651147" y="3896489"/>
                </a:lnTo>
                <a:cubicBezTo>
                  <a:pt x="5427171" y="4186934"/>
                  <a:pt x="5090625" y="4454446"/>
                  <a:pt x="4734255" y="4737639"/>
                </a:cubicBezTo>
                <a:cubicBezTo>
                  <a:pt x="4668506" y="4789825"/>
                  <a:pt x="4600584" y="4843856"/>
                  <a:pt x="4532663" y="4898543"/>
                </a:cubicBezTo>
                <a:cubicBezTo>
                  <a:pt x="3924681" y="5387974"/>
                  <a:pt x="3480945" y="5708856"/>
                  <a:pt x="2876165" y="5708856"/>
                </a:cubicBezTo>
                <a:cubicBezTo>
                  <a:pt x="1954665" y="5708856"/>
                  <a:pt x="1302047" y="5314966"/>
                  <a:pt x="694066" y="4391717"/>
                </a:cubicBezTo>
                <a:cubicBezTo>
                  <a:pt x="614503" y="4270875"/>
                  <a:pt x="536731" y="4160972"/>
                  <a:pt x="461517" y="4054756"/>
                </a:cubicBezTo>
                <a:cubicBezTo>
                  <a:pt x="149788" y="3614348"/>
                  <a:pt x="0" y="3385316"/>
                  <a:pt x="0" y="2993139"/>
                </a:cubicBezTo>
                <a:cubicBezTo>
                  <a:pt x="0" y="2603731"/>
                  <a:pt x="93889" y="2219065"/>
                  <a:pt x="278855" y="1849819"/>
                </a:cubicBezTo>
                <a:cubicBezTo>
                  <a:pt x="459854" y="1488610"/>
                  <a:pt x="718625" y="1157977"/>
                  <a:pt x="1047879" y="867400"/>
                </a:cubicBezTo>
                <a:cubicBezTo>
                  <a:pt x="1371504" y="581701"/>
                  <a:pt x="1755887" y="346080"/>
                  <a:pt x="2159714" y="186098"/>
                </a:cubicBezTo>
                <a:cubicBezTo>
                  <a:pt x="2367064" y="103803"/>
                  <a:pt x="2576044" y="41801"/>
                  <a:pt x="2785137" y="372"/>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4" name="Freeform: Shape 23">
            <a:extLst>
              <a:ext uri="{FF2B5EF4-FFF2-40B4-BE49-F238E27FC236}">
                <a16:creationId xmlns:a16="http://schemas.microsoft.com/office/drawing/2014/main" id="{9F5CCFC5-858F-4B45-9B10-D49DD0280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25450" y="0"/>
            <a:ext cx="5866550" cy="5788550"/>
          </a:xfrm>
          <a:custGeom>
            <a:avLst/>
            <a:gdLst>
              <a:gd name="connsiteX0" fmla="*/ 2331396 w 5798121"/>
              <a:gd name="connsiteY0" fmla="*/ 0 h 5788550"/>
              <a:gd name="connsiteX1" fmla="*/ 4658651 w 5798121"/>
              <a:gd name="connsiteY1" fmla="*/ 0 h 5788550"/>
              <a:gd name="connsiteX2" fmla="*/ 4682835 w 5798121"/>
              <a:gd name="connsiteY2" fmla="*/ 9816 h 5788550"/>
              <a:gd name="connsiteX3" fmla="*/ 5499667 w 5798121"/>
              <a:gd name="connsiteY3" fmla="*/ 658449 h 5788550"/>
              <a:gd name="connsiteX4" fmla="*/ 5665313 w 5798121"/>
              <a:gd name="connsiteY4" fmla="*/ 884789 h 5788550"/>
              <a:gd name="connsiteX5" fmla="*/ 5798121 w 5798121"/>
              <a:gd name="connsiteY5" fmla="*/ 1110681 h 5788550"/>
              <a:gd name="connsiteX6" fmla="*/ 5798121 w 5798121"/>
              <a:gd name="connsiteY6" fmla="*/ 4016954 h 5788550"/>
              <a:gd name="connsiteX7" fmla="*/ 5706359 w 5798121"/>
              <a:gd name="connsiteY7" fmla="*/ 4121532 h 5788550"/>
              <a:gd name="connsiteX8" fmla="*/ 4944692 w 5798121"/>
              <a:gd name="connsiteY8" fmla="*/ 4775532 h 5788550"/>
              <a:gd name="connsiteX9" fmla="*/ 4734137 w 5798121"/>
              <a:gd name="connsiteY9" fmla="*/ 4943362 h 5788550"/>
              <a:gd name="connsiteX10" fmla="*/ 3004009 w 5798121"/>
              <a:gd name="connsiteY10" fmla="*/ 5788550 h 5788550"/>
              <a:gd name="connsiteX11" fmla="*/ 724917 w 5798121"/>
              <a:gd name="connsiteY11" fmla="*/ 4414722 h 5788550"/>
              <a:gd name="connsiteX12" fmla="*/ 482031 w 5798121"/>
              <a:gd name="connsiteY12" fmla="*/ 4063258 h 5788550"/>
              <a:gd name="connsiteX13" fmla="*/ 0 w 5798121"/>
              <a:gd name="connsiteY13" fmla="*/ 2955950 h 5788550"/>
              <a:gd name="connsiteX14" fmla="*/ 291250 w 5798121"/>
              <a:gd name="connsiteY14" fmla="*/ 1763422 h 5788550"/>
              <a:gd name="connsiteX15" fmla="*/ 1094457 w 5798121"/>
              <a:gd name="connsiteY15" fmla="*/ 738720 h 5788550"/>
              <a:gd name="connsiteX16" fmla="*/ 2255713 w 5798121"/>
              <a:gd name="connsiteY16" fmla="*/ 28095 h 5788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798121" h="5788550">
                <a:moveTo>
                  <a:pt x="2331396" y="0"/>
                </a:moveTo>
                <a:lnTo>
                  <a:pt x="4658651" y="0"/>
                </a:lnTo>
                <a:lnTo>
                  <a:pt x="4682835" y="9816"/>
                </a:lnTo>
                <a:cubicBezTo>
                  <a:pt x="4995727" y="159362"/>
                  <a:pt x="5270543" y="377635"/>
                  <a:pt x="5499667" y="658449"/>
                </a:cubicBezTo>
                <a:cubicBezTo>
                  <a:pt x="5558201" y="730215"/>
                  <a:pt x="5613447" y="805760"/>
                  <a:pt x="5665313" y="884789"/>
                </a:cubicBezTo>
                <a:lnTo>
                  <a:pt x="5798121" y="1110681"/>
                </a:lnTo>
                <a:lnTo>
                  <a:pt x="5798121" y="4016954"/>
                </a:lnTo>
                <a:lnTo>
                  <a:pt x="5706359" y="4121532"/>
                </a:lnTo>
                <a:cubicBezTo>
                  <a:pt x="5491360" y="4341659"/>
                  <a:pt x="5223849" y="4553996"/>
                  <a:pt x="4944692" y="4775532"/>
                </a:cubicBezTo>
                <a:cubicBezTo>
                  <a:pt x="4876021" y="4829964"/>
                  <a:pt x="4805079" y="4886320"/>
                  <a:pt x="4734137" y="4943362"/>
                </a:cubicBezTo>
                <a:cubicBezTo>
                  <a:pt x="4099133" y="5453857"/>
                  <a:pt x="3635672" y="5788550"/>
                  <a:pt x="3004009" y="5788550"/>
                </a:cubicBezTo>
                <a:cubicBezTo>
                  <a:pt x="2041550" y="5788550"/>
                  <a:pt x="1359922" y="5377707"/>
                  <a:pt x="724917" y="4414722"/>
                </a:cubicBezTo>
                <a:cubicBezTo>
                  <a:pt x="641818" y="4288679"/>
                  <a:pt x="560588" y="4174046"/>
                  <a:pt x="482031" y="4063258"/>
                </a:cubicBezTo>
                <a:cubicBezTo>
                  <a:pt x="156446" y="3603895"/>
                  <a:pt x="0" y="3365006"/>
                  <a:pt x="0" y="2955950"/>
                </a:cubicBezTo>
                <a:cubicBezTo>
                  <a:pt x="0" y="2549782"/>
                  <a:pt x="98062" y="2148559"/>
                  <a:pt x="291250" y="1763422"/>
                </a:cubicBezTo>
                <a:cubicBezTo>
                  <a:pt x="480295" y="1386666"/>
                  <a:pt x="750568" y="1041802"/>
                  <a:pt x="1094457" y="738720"/>
                </a:cubicBezTo>
                <a:cubicBezTo>
                  <a:pt x="1432467" y="440725"/>
                  <a:pt x="1833935" y="194963"/>
                  <a:pt x="2255713" y="28095"/>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A1B01DC9-5F02-AB81-CFBF-8E8F43D28ABB}"/>
              </a:ext>
            </a:extLst>
          </p:cNvPr>
          <p:cNvSpPr>
            <a:spLocks noGrp="1"/>
          </p:cNvSpPr>
          <p:nvPr>
            <p:ph type="title"/>
          </p:nvPr>
        </p:nvSpPr>
        <p:spPr>
          <a:xfrm>
            <a:off x="914400" y="442912"/>
            <a:ext cx="5411050" cy="1822123"/>
          </a:xfrm>
        </p:spPr>
        <p:txBody>
          <a:bodyPr anchor="b">
            <a:normAutofit/>
          </a:bodyPr>
          <a:lstStyle/>
          <a:p>
            <a:r>
              <a:rPr lang="en-US"/>
              <a:t>Main components</a:t>
            </a:r>
            <a:endParaRPr lang="en-US" dirty="0"/>
          </a:p>
        </p:txBody>
      </p:sp>
      <p:sp>
        <p:nvSpPr>
          <p:cNvPr id="3" name="Content Placeholder 2">
            <a:extLst>
              <a:ext uri="{FF2B5EF4-FFF2-40B4-BE49-F238E27FC236}">
                <a16:creationId xmlns:a16="http://schemas.microsoft.com/office/drawing/2014/main" id="{BA918D54-ED2F-6DE3-034A-0FC4E500C065}"/>
              </a:ext>
            </a:extLst>
          </p:cNvPr>
          <p:cNvSpPr>
            <a:spLocks noGrp="1"/>
          </p:cNvSpPr>
          <p:nvPr>
            <p:ph idx="1"/>
          </p:nvPr>
        </p:nvSpPr>
        <p:spPr>
          <a:xfrm>
            <a:off x="914400" y="2496720"/>
            <a:ext cx="5181599" cy="3467518"/>
          </a:xfrm>
        </p:spPr>
        <p:txBody>
          <a:bodyPr anchor="t">
            <a:normAutofit/>
          </a:bodyPr>
          <a:lstStyle/>
          <a:p>
            <a:pPr marL="285750" indent="-285750">
              <a:lnSpc>
                <a:spcPct val="130000"/>
              </a:lnSpc>
              <a:buFont typeface="Arial" panose="020B0604020202020204" pitchFamily="34" charset="0"/>
              <a:buChar char="•"/>
            </a:pPr>
            <a:r>
              <a:rPr lang="en-US" sz="1500" dirty="0"/>
              <a:t>Their honeypot can be managed with Software defined network controller:	</a:t>
            </a:r>
          </a:p>
          <a:p>
            <a:pPr>
              <a:lnSpc>
                <a:spcPct val="130000"/>
              </a:lnSpc>
            </a:pPr>
            <a:r>
              <a:rPr lang="en-US" sz="1500" dirty="0"/>
              <a:t>	- it is a component which dynamically manage the network </a:t>
            </a:r>
            <a:r>
              <a:rPr lang="en-US" sz="1500" dirty="0" err="1"/>
              <a:t>behaviour</a:t>
            </a:r>
            <a:r>
              <a:rPr lang="en-US" sz="1500" dirty="0"/>
              <a:t> by directly controlling network devices such as switches and routers</a:t>
            </a:r>
          </a:p>
          <a:p>
            <a:pPr marL="285750" indent="-285750">
              <a:lnSpc>
                <a:spcPct val="130000"/>
              </a:lnSpc>
              <a:buFont typeface="Arial" panose="020B0604020202020204" pitchFamily="34" charset="0"/>
              <a:buChar char="•"/>
            </a:pPr>
            <a:r>
              <a:rPr lang="en-US" sz="1500" dirty="0"/>
              <a:t>They are using </a:t>
            </a:r>
            <a:r>
              <a:rPr lang="en-US" sz="1500" dirty="0" err="1"/>
              <a:t>MiniCPS</a:t>
            </a:r>
            <a:r>
              <a:rPr lang="en-US" sz="1500" dirty="0"/>
              <a:t> framework to </a:t>
            </a:r>
            <a:r>
              <a:rPr lang="en-US" sz="1500" b="1" dirty="0"/>
              <a:t>emulate </a:t>
            </a:r>
            <a:r>
              <a:rPr lang="en-US" sz="1500" dirty="0"/>
              <a:t>network topology and </a:t>
            </a:r>
            <a:r>
              <a:rPr lang="en-US" sz="1500" b="1" dirty="0"/>
              <a:t>simulate </a:t>
            </a:r>
            <a:r>
              <a:rPr lang="en-US" sz="1500" dirty="0"/>
              <a:t>the physical processes </a:t>
            </a:r>
          </a:p>
        </p:txBody>
      </p:sp>
      <p:sp>
        <p:nvSpPr>
          <p:cNvPr id="26" name="Freeform: Shape 25">
            <a:extLst>
              <a:ext uri="{FF2B5EF4-FFF2-40B4-BE49-F238E27FC236}">
                <a16:creationId xmlns:a16="http://schemas.microsoft.com/office/drawing/2014/main" id="{2348ECDC-D455-4B71-90F6-2ECC12B79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23734" y="0"/>
            <a:ext cx="5568114" cy="5577748"/>
          </a:xfrm>
          <a:custGeom>
            <a:avLst/>
            <a:gdLst>
              <a:gd name="connsiteX0" fmla="*/ 2959946 w 5568114"/>
              <a:gd name="connsiteY0" fmla="*/ 0 h 5577748"/>
              <a:gd name="connsiteX1" fmla="*/ 3614224 w 5568114"/>
              <a:gd name="connsiteY1" fmla="*/ 0 h 5577748"/>
              <a:gd name="connsiteX2" fmla="*/ 3844432 w 5568114"/>
              <a:gd name="connsiteY2" fmla="*/ 36392 h 5577748"/>
              <a:gd name="connsiteX3" fmla="*/ 4336826 w 5568114"/>
              <a:gd name="connsiteY3" fmla="*/ 203778 h 5577748"/>
              <a:gd name="connsiteX4" fmla="*/ 5093304 w 5568114"/>
              <a:gd name="connsiteY4" fmla="*/ 806978 h 5577748"/>
              <a:gd name="connsiteX5" fmla="*/ 5496656 w 5568114"/>
              <a:gd name="connsiteY5" fmla="*/ 1495125 h 5577748"/>
              <a:gd name="connsiteX6" fmla="*/ 5568114 w 5568114"/>
              <a:gd name="connsiteY6" fmla="*/ 1692569 h 5577748"/>
              <a:gd name="connsiteX7" fmla="*/ 5568114 w 5568114"/>
              <a:gd name="connsiteY7" fmla="*/ 3665503 h 5577748"/>
              <a:gd name="connsiteX8" fmla="*/ 5466225 w 5568114"/>
              <a:gd name="connsiteY8" fmla="*/ 3819786 h 5577748"/>
              <a:gd name="connsiteX9" fmla="*/ 4579336 w 5568114"/>
              <a:gd name="connsiteY9" fmla="*/ 4635686 h 5577748"/>
              <a:gd name="connsiteX10" fmla="*/ 4384340 w 5568114"/>
              <a:gd name="connsiteY10" fmla="*/ 4791760 h 5577748"/>
              <a:gd name="connsiteX11" fmla="*/ 2782048 w 5568114"/>
              <a:gd name="connsiteY11" fmla="*/ 5577748 h 5577748"/>
              <a:gd name="connsiteX12" fmla="*/ 671354 w 5568114"/>
              <a:gd name="connsiteY12" fmla="*/ 4300148 h 5577748"/>
              <a:gd name="connsiteX13" fmla="*/ 446415 w 5568114"/>
              <a:gd name="connsiteY13" fmla="*/ 3973302 h 5577748"/>
              <a:gd name="connsiteX14" fmla="*/ 0 w 5568114"/>
              <a:gd name="connsiteY14" fmla="*/ 2943554 h 5577748"/>
              <a:gd name="connsiteX15" fmla="*/ 269730 w 5568114"/>
              <a:gd name="connsiteY15" fmla="*/ 1834555 h 5577748"/>
              <a:gd name="connsiteX16" fmla="*/ 1013589 w 5568114"/>
              <a:gd name="connsiteY16" fmla="*/ 881627 h 5577748"/>
              <a:gd name="connsiteX17" fmla="*/ 2089042 w 5568114"/>
              <a:gd name="connsiteY17" fmla="*/ 220777 h 5577748"/>
              <a:gd name="connsiteX18" fmla="*/ 2845684 w 5568114"/>
              <a:gd name="connsiteY18" fmla="*/ 14234 h 5577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568114" h="5577748">
                <a:moveTo>
                  <a:pt x="2959946" y="0"/>
                </a:moveTo>
                <a:lnTo>
                  <a:pt x="3614224" y="0"/>
                </a:lnTo>
                <a:lnTo>
                  <a:pt x="3844432" y="36392"/>
                </a:lnTo>
                <a:cubicBezTo>
                  <a:pt x="4017699" y="73748"/>
                  <a:pt x="4182227" y="129639"/>
                  <a:pt x="4336826" y="203778"/>
                </a:cubicBezTo>
                <a:cubicBezTo>
                  <a:pt x="4626600" y="342850"/>
                  <a:pt x="4881111" y="545834"/>
                  <a:pt x="5093304" y="806978"/>
                </a:cubicBezTo>
                <a:cubicBezTo>
                  <a:pt x="5255931" y="1007198"/>
                  <a:pt x="5391154" y="1239036"/>
                  <a:pt x="5496656" y="1495125"/>
                </a:cubicBezTo>
                <a:lnTo>
                  <a:pt x="5568114" y="1692569"/>
                </a:lnTo>
                <a:lnTo>
                  <a:pt x="5568114" y="3665503"/>
                </a:lnTo>
                <a:lnTo>
                  <a:pt x="5466225" y="3819786"/>
                </a:lnTo>
                <a:cubicBezTo>
                  <a:pt x="5249576" y="4101511"/>
                  <a:pt x="4924044" y="4360994"/>
                  <a:pt x="4579336" y="4635686"/>
                </a:cubicBezTo>
                <a:cubicBezTo>
                  <a:pt x="4515738" y="4686305"/>
                  <a:pt x="4450038" y="4738713"/>
                  <a:pt x="4384340" y="4791760"/>
                </a:cubicBezTo>
                <a:cubicBezTo>
                  <a:pt x="3796254" y="5266498"/>
                  <a:pt x="3367038" y="5577748"/>
                  <a:pt x="2782048" y="5577748"/>
                </a:cubicBezTo>
                <a:cubicBezTo>
                  <a:pt x="1890703" y="5577748"/>
                  <a:pt x="1259439" y="5195682"/>
                  <a:pt x="671354" y="4300148"/>
                </a:cubicBezTo>
                <a:cubicBezTo>
                  <a:pt x="594395" y="4182934"/>
                  <a:pt x="519167" y="4076330"/>
                  <a:pt x="446415" y="3973302"/>
                </a:cubicBezTo>
                <a:cubicBezTo>
                  <a:pt x="144886" y="3546115"/>
                  <a:pt x="0" y="3323958"/>
                  <a:pt x="0" y="2943554"/>
                </a:cubicBezTo>
                <a:cubicBezTo>
                  <a:pt x="0" y="2565835"/>
                  <a:pt x="90816" y="2192716"/>
                  <a:pt x="269730" y="1834555"/>
                </a:cubicBezTo>
                <a:cubicBezTo>
                  <a:pt x="444806" y="1484188"/>
                  <a:pt x="695109" y="1163480"/>
                  <a:pt x="1013589" y="881627"/>
                </a:cubicBezTo>
                <a:cubicBezTo>
                  <a:pt x="1326624" y="604505"/>
                  <a:pt x="1698428" y="375956"/>
                  <a:pt x="2089042" y="220777"/>
                </a:cubicBezTo>
                <a:cubicBezTo>
                  <a:pt x="2339747" y="120996"/>
                  <a:pt x="2592918" y="51971"/>
                  <a:pt x="2845684" y="1423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7" name="Picture 6" descr="A 3D pattern of ring shapes connected by lines">
            <a:extLst>
              <a:ext uri="{FF2B5EF4-FFF2-40B4-BE49-F238E27FC236}">
                <a16:creationId xmlns:a16="http://schemas.microsoft.com/office/drawing/2014/main" id="{7B74B7B0-5CC2-21D8-E146-6A34DF43467E}"/>
              </a:ext>
            </a:extLst>
          </p:cNvPr>
          <p:cNvPicPr>
            <a:picLocks noChangeAspect="1"/>
          </p:cNvPicPr>
          <p:nvPr/>
        </p:nvPicPr>
        <p:blipFill>
          <a:blip r:embed="rId2"/>
          <a:srcRect l="3343" r="38726" b="-1"/>
          <a:stretch>
            <a:fillRect/>
          </a:stretch>
        </p:blipFill>
        <p:spPr>
          <a:xfrm>
            <a:off x="6877878" y="294199"/>
            <a:ext cx="5150794" cy="5001370"/>
          </a:xfrm>
          <a:custGeom>
            <a:avLst/>
            <a:gdLst/>
            <a:ahLst/>
            <a:cxnLst/>
            <a:rect l="l" t="t" r="r" b="b"/>
            <a:pathLst>
              <a:path w="5044104" h="4896924">
                <a:moveTo>
                  <a:pt x="2886613" y="0"/>
                </a:moveTo>
                <a:cubicBezTo>
                  <a:pt x="3218269" y="0"/>
                  <a:pt x="3523512" y="65865"/>
                  <a:pt x="3794011" y="195584"/>
                </a:cubicBezTo>
                <a:cubicBezTo>
                  <a:pt x="4047516" y="317247"/>
                  <a:pt x="4270172" y="494825"/>
                  <a:pt x="4455804" y="723284"/>
                </a:cubicBezTo>
                <a:cubicBezTo>
                  <a:pt x="4835198" y="1190375"/>
                  <a:pt x="5044104" y="1854168"/>
                  <a:pt x="5044104" y="2592438"/>
                </a:cubicBezTo>
                <a:cubicBezTo>
                  <a:pt x="5044104" y="2886985"/>
                  <a:pt x="4963247" y="3123382"/>
                  <a:pt x="4782050" y="3358996"/>
                </a:cubicBezTo>
                <a:cubicBezTo>
                  <a:pt x="4592516" y="3605460"/>
                  <a:pt x="4307730" y="3832465"/>
                  <a:pt x="4006167" y="4072775"/>
                </a:cubicBezTo>
                <a:cubicBezTo>
                  <a:pt x="3950530" y="4117058"/>
                  <a:pt x="3893052" y="4162907"/>
                  <a:pt x="3835576" y="4209314"/>
                </a:cubicBezTo>
                <a:cubicBezTo>
                  <a:pt x="3321099" y="4624632"/>
                  <a:pt x="2945605" y="4896924"/>
                  <a:pt x="2433835" y="4896924"/>
                </a:cubicBezTo>
                <a:cubicBezTo>
                  <a:pt x="1654054" y="4896924"/>
                  <a:pt x="1101803" y="4562680"/>
                  <a:pt x="587325" y="3779234"/>
                </a:cubicBezTo>
                <a:cubicBezTo>
                  <a:pt x="519999" y="3676690"/>
                  <a:pt x="454187" y="3583430"/>
                  <a:pt x="390540" y="3493298"/>
                </a:cubicBezTo>
                <a:cubicBezTo>
                  <a:pt x="126752" y="3119579"/>
                  <a:pt x="0" y="2925228"/>
                  <a:pt x="0" y="2592438"/>
                </a:cubicBezTo>
                <a:cubicBezTo>
                  <a:pt x="0" y="2261996"/>
                  <a:pt x="79450" y="1935577"/>
                  <a:pt x="235969" y="1622244"/>
                </a:cubicBezTo>
                <a:cubicBezTo>
                  <a:pt x="389133" y="1315731"/>
                  <a:pt x="608107" y="1035165"/>
                  <a:pt x="886724" y="788590"/>
                </a:cubicBezTo>
                <a:cubicBezTo>
                  <a:pt x="1160578" y="546153"/>
                  <a:pt x="1485846" y="346211"/>
                  <a:pt x="1827568" y="210454"/>
                </a:cubicBezTo>
                <a:cubicBezTo>
                  <a:pt x="2178491" y="70787"/>
                  <a:pt x="2534934" y="0"/>
                  <a:pt x="2886613" y="0"/>
                </a:cubicBezTo>
                <a:close/>
              </a:path>
            </a:pathLst>
          </a:custGeom>
        </p:spPr>
      </p:pic>
    </p:spTree>
    <p:extLst>
      <p:ext uri="{BB962C8B-B14F-4D97-AF65-F5344CB8AC3E}">
        <p14:creationId xmlns:p14="http://schemas.microsoft.com/office/powerpoint/2010/main" val="35575993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7DCCC939-1A47-0650-5C63-AAD844D6BB23}"/>
              </a:ext>
            </a:extLst>
          </p:cNvPr>
          <p:cNvSpPr>
            <a:spLocks noGrp="1"/>
          </p:cNvSpPr>
          <p:nvPr>
            <p:ph type="title"/>
          </p:nvPr>
        </p:nvSpPr>
        <p:spPr>
          <a:xfrm>
            <a:off x="992518" y="442913"/>
            <a:ext cx="5271804" cy="1639888"/>
          </a:xfrm>
        </p:spPr>
        <p:txBody>
          <a:bodyPr anchor="b">
            <a:normAutofit/>
          </a:bodyPr>
          <a:lstStyle/>
          <a:p>
            <a:r>
              <a:rPr lang="en-US"/>
              <a:t>MiniCPS</a:t>
            </a:r>
            <a:endParaRPr lang="en-US" dirty="0"/>
          </a:p>
        </p:txBody>
      </p:sp>
      <p:sp>
        <p:nvSpPr>
          <p:cNvPr id="3" name="Content Placeholder 2">
            <a:extLst>
              <a:ext uri="{FF2B5EF4-FFF2-40B4-BE49-F238E27FC236}">
                <a16:creationId xmlns:a16="http://schemas.microsoft.com/office/drawing/2014/main" id="{AE37AF16-FACC-CEE5-05E4-B9E8AAE862B7}"/>
              </a:ext>
            </a:extLst>
          </p:cNvPr>
          <p:cNvSpPr>
            <a:spLocks noGrp="1"/>
          </p:cNvSpPr>
          <p:nvPr>
            <p:ph idx="1"/>
          </p:nvPr>
        </p:nvSpPr>
        <p:spPr>
          <a:xfrm>
            <a:off x="992519" y="2312988"/>
            <a:ext cx="5271804" cy="3651250"/>
          </a:xfrm>
        </p:spPr>
        <p:txBody>
          <a:bodyPr>
            <a:normAutofit/>
          </a:bodyPr>
          <a:lstStyle/>
          <a:p>
            <a:pPr>
              <a:lnSpc>
                <a:spcPct val="130000"/>
              </a:lnSpc>
            </a:pPr>
            <a:r>
              <a:rPr lang="en-US" sz="1300"/>
              <a:t>- It is a toolkit for security research on ICS</a:t>
            </a:r>
          </a:p>
          <a:p>
            <a:pPr>
              <a:lnSpc>
                <a:spcPct val="130000"/>
              </a:lnSpc>
            </a:pPr>
            <a:r>
              <a:rPr lang="en-US" sz="1300"/>
              <a:t>- Built over the lightweight Linux network emulator called </a:t>
            </a:r>
            <a:r>
              <a:rPr lang="en-US" sz="1300" err="1"/>
              <a:t>MiniNet</a:t>
            </a:r>
            <a:endParaRPr lang="en-US" sz="1300"/>
          </a:p>
          <a:p>
            <a:pPr>
              <a:lnSpc>
                <a:spcPct val="130000"/>
              </a:lnSpc>
            </a:pPr>
            <a:r>
              <a:rPr lang="en-US" sz="1300"/>
              <a:t>- Mininet allows to emulate a collection of end-hosts, switches, routers, and links with high-fidelity</a:t>
            </a:r>
          </a:p>
          <a:p>
            <a:pPr marL="285750" indent="-285750">
              <a:lnSpc>
                <a:spcPct val="130000"/>
              </a:lnSpc>
              <a:buFontTx/>
              <a:buChar char="-"/>
            </a:pPr>
            <a:r>
              <a:rPr lang="en-US" sz="1300"/>
              <a:t>It also enables rapid prototyping of large network setups. </a:t>
            </a:r>
          </a:p>
          <a:p>
            <a:pPr marL="285750" indent="-285750">
              <a:lnSpc>
                <a:spcPct val="130000"/>
              </a:lnSpc>
              <a:buFontTx/>
              <a:buChar char="-"/>
            </a:pPr>
            <a:r>
              <a:rPr lang="en-US" sz="1300"/>
              <a:t>So </a:t>
            </a:r>
            <a:r>
              <a:rPr lang="en-US" sz="1300" err="1"/>
              <a:t>MiniCPS</a:t>
            </a:r>
            <a:r>
              <a:rPr lang="en-US" sz="1300"/>
              <a:t> combines network emulation, physical process simulation, and ICS devices to build a real-time ICS simulation in Box.</a:t>
            </a:r>
          </a:p>
        </p:txBody>
      </p:sp>
      <p:sp>
        <p:nvSpPr>
          <p:cNvPr id="29" name="Freeform: Shape 28">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29">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1" name="Freeform: Shape 30">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a:extLst>
              <a:ext uri="{FF2B5EF4-FFF2-40B4-BE49-F238E27FC236}">
                <a16:creationId xmlns:a16="http://schemas.microsoft.com/office/drawing/2014/main" id="{6A933436-7ABA-3FA0-0D54-7227DF6DD7B2}"/>
              </a:ext>
            </a:extLst>
          </p:cNvPr>
          <p:cNvPicPr>
            <a:picLocks noChangeAspect="1"/>
          </p:cNvPicPr>
          <p:nvPr/>
        </p:nvPicPr>
        <p:blipFill>
          <a:blip r:embed="rId2"/>
          <a:srcRect l="15534" r="43553"/>
          <a:stretch>
            <a:fillRect/>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32973722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FD967-20D9-94B6-BE19-F722CD0B81D4}"/>
              </a:ext>
            </a:extLst>
          </p:cNvPr>
          <p:cNvSpPr>
            <a:spLocks noGrp="1"/>
          </p:cNvSpPr>
          <p:nvPr>
            <p:ph type="title"/>
          </p:nvPr>
        </p:nvSpPr>
        <p:spPr/>
        <p:txBody>
          <a:bodyPr/>
          <a:lstStyle/>
          <a:p>
            <a:r>
              <a:rPr lang="en-US" dirty="0"/>
              <a:t>Emulation vs Simulation</a:t>
            </a:r>
          </a:p>
        </p:txBody>
      </p:sp>
      <p:sp>
        <p:nvSpPr>
          <p:cNvPr id="3" name="Content Placeholder 2">
            <a:extLst>
              <a:ext uri="{FF2B5EF4-FFF2-40B4-BE49-F238E27FC236}">
                <a16:creationId xmlns:a16="http://schemas.microsoft.com/office/drawing/2014/main" id="{DEEE387C-D0C4-3518-B78D-7658DA0A5611}"/>
              </a:ext>
            </a:extLst>
          </p:cNvPr>
          <p:cNvSpPr>
            <a:spLocks noGrp="1"/>
          </p:cNvSpPr>
          <p:nvPr>
            <p:ph idx="1"/>
          </p:nvPr>
        </p:nvSpPr>
        <p:spPr>
          <a:xfrm>
            <a:off x="1920240" y="2312276"/>
            <a:ext cx="9478587" cy="3651504"/>
          </a:xfrm>
        </p:spPr>
        <p:txBody>
          <a:bodyPr>
            <a:noAutofit/>
          </a:bodyPr>
          <a:lstStyle/>
          <a:p>
            <a:r>
              <a:rPr lang="en-US" sz="1700"/>
              <a:t>- </a:t>
            </a:r>
            <a:r>
              <a:rPr lang="en-US" sz="1700" b="1"/>
              <a:t>Emulation</a:t>
            </a:r>
            <a:r>
              <a:rPr lang="en-US" sz="1700"/>
              <a:t> means that components that are emulated will behave (in real-time) exactly at their real-world counterparts</a:t>
            </a:r>
          </a:p>
          <a:p>
            <a:r>
              <a:rPr lang="en-US" sz="1700"/>
              <a:t>- </a:t>
            </a:r>
            <a:r>
              <a:rPr lang="en-US" sz="1700" b="1"/>
              <a:t>Simulation</a:t>
            </a:r>
            <a:r>
              <a:rPr lang="en-US" sz="1700"/>
              <a:t> mean that we try to mimic the real-world scenario, but it is not necessary to have the exact same properties as in the real world,</a:t>
            </a:r>
          </a:p>
          <a:p>
            <a:r>
              <a:rPr lang="en-US" sz="1700"/>
              <a:t>- In other words, the simulated components, may run slower or faster than the real-world components.</a:t>
            </a:r>
          </a:p>
          <a:p>
            <a:r>
              <a:rPr lang="en-US" sz="1700"/>
              <a:t>- That's why they say that they can simulate physical processes, by which they mean that this is an assumption how the system will work if there is a real-world physical process, but it is not gurenteed to have the same results in real-world scenario</a:t>
            </a:r>
            <a:endParaRPr lang="en-US" sz="1700" dirty="0"/>
          </a:p>
        </p:txBody>
      </p:sp>
    </p:spTree>
    <p:extLst>
      <p:ext uri="{BB962C8B-B14F-4D97-AF65-F5344CB8AC3E}">
        <p14:creationId xmlns:p14="http://schemas.microsoft.com/office/powerpoint/2010/main" val="2276511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7FC6A8B-34F9-40FB-AA2D-E34168F52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1F78DC36-B72C-A2EE-5B33-43A79E8056FC}"/>
              </a:ext>
            </a:extLst>
          </p:cNvPr>
          <p:cNvSpPr>
            <a:spLocks noGrp="1"/>
          </p:cNvSpPr>
          <p:nvPr>
            <p:ph type="title"/>
          </p:nvPr>
        </p:nvSpPr>
        <p:spPr>
          <a:xfrm>
            <a:off x="1188340" y="1105232"/>
            <a:ext cx="3013545" cy="4277802"/>
          </a:xfrm>
        </p:spPr>
        <p:txBody>
          <a:bodyPr anchor="ctr">
            <a:normAutofit/>
          </a:bodyPr>
          <a:lstStyle/>
          <a:p>
            <a:r>
              <a:rPr lang="en-US" dirty="0"/>
              <a:t>How to simulate the physical processes </a:t>
            </a:r>
          </a:p>
        </p:txBody>
      </p:sp>
      <p:grpSp>
        <p:nvGrpSpPr>
          <p:cNvPr id="10" name="Group 9">
            <a:extLst>
              <a:ext uri="{FF2B5EF4-FFF2-40B4-BE49-F238E27FC236}">
                <a16:creationId xmlns:a16="http://schemas.microsoft.com/office/drawing/2014/main" id="{D4D684F8-91BF-481C-A965-722756A383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4308533" y="0"/>
            <a:ext cx="7883467" cy="6858000"/>
            <a:chOff x="0" y="0"/>
            <a:chExt cx="7883467" cy="6858000"/>
          </a:xfrm>
        </p:grpSpPr>
        <p:sp>
          <p:nvSpPr>
            <p:cNvPr id="11" name="Freeform: Shape 10">
              <a:extLst>
                <a:ext uri="{FF2B5EF4-FFF2-40B4-BE49-F238E27FC236}">
                  <a16:creationId xmlns:a16="http://schemas.microsoft.com/office/drawing/2014/main" id="{05DF7B3C-29EF-4ADC-BFDC-C3A038AC43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7475746" cy="6858000"/>
            </a:xfrm>
            <a:custGeom>
              <a:avLst/>
              <a:gdLst>
                <a:gd name="connsiteX0" fmla="*/ 0 w 7475746"/>
                <a:gd name="connsiteY0" fmla="*/ 0 h 6858000"/>
                <a:gd name="connsiteX1" fmla="*/ 5859459 w 7475746"/>
                <a:gd name="connsiteY1" fmla="*/ 0 h 6858000"/>
                <a:gd name="connsiteX2" fmla="*/ 5874848 w 7475746"/>
                <a:gd name="connsiteY2" fmla="*/ 10445 h 6858000"/>
                <a:gd name="connsiteX3" fmla="*/ 7475746 w 7475746"/>
                <a:gd name="connsiteY3" fmla="*/ 3621913 h 6858000"/>
                <a:gd name="connsiteX4" fmla="*/ 5601397 w 7475746"/>
                <a:gd name="connsiteY4" fmla="*/ 6378742 h 6858000"/>
                <a:gd name="connsiteX5" fmla="*/ 5084748 w 7475746"/>
                <a:gd name="connsiteY5" fmla="*/ 6785068 h 6858000"/>
                <a:gd name="connsiteX6" fmla="*/ 4979585 w 7475746"/>
                <a:gd name="connsiteY6" fmla="*/ 6858000 h 6858000"/>
                <a:gd name="connsiteX7" fmla="*/ 0 w 7475746"/>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5746" h="6858000">
                  <a:moveTo>
                    <a:pt x="0" y="0"/>
                  </a:moveTo>
                  <a:lnTo>
                    <a:pt x="5859459" y="0"/>
                  </a:lnTo>
                  <a:lnTo>
                    <a:pt x="5874848" y="10445"/>
                  </a:lnTo>
                  <a:cubicBezTo>
                    <a:pt x="6902010" y="751075"/>
                    <a:pt x="7475746" y="2091411"/>
                    <a:pt x="7475746" y="3621913"/>
                  </a:cubicBezTo>
                  <a:cubicBezTo>
                    <a:pt x="7475746" y="4971185"/>
                    <a:pt x="6547021" y="5605738"/>
                    <a:pt x="5601397" y="6378742"/>
                  </a:cubicBezTo>
                  <a:cubicBezTo>
                    <a:pt x="5429193" y="6519512"/>
                    <a:pt x="5258566" y="6657407"/>
                    <a:pt x="5084748" y="6785068"/>
                  </a:cubicBezTo>
                  <a:lnTo>
                    <a:pt x="4979585"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20289037-6999-491E-AA63-CC1C3CBBF8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35374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497CF6DF-9FF9-4D10-B338-0BEFC0AA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sp>
        <p:nvSpPr>
          <p:cNvPr id="3" name="Content Placeholder 2">
            <a:extLst>
              <a:ext uri="{FF2B5EF4-FFF2-40B4-BE49-F238E27FC236}">
                <a16:creationId xmlns:a16="http://schemas.microsoft.com/office/drawing/2014/main" id="{9F1DCDAC-CD1E-63D8-B27F-DA53B3FCC31F}"/>
              </a:ext>
            </a:extLst>
          </p:cNvPr>
          <p:cNvSpPr>
            <a:spLocks noGrp="1"/>
          </p:cNvSpPr>
          <p:nvPr>
            <p:ph idx="1"/>
          </p:nvPr>
        </p:nvSpPr>
        <p:spPr>
          <a:xfrm>
            <a:off x="6397336" y="1011714"/>
            <a:ext cx="5176298" cy="4277802"/>
          </a:xfrm>
        </p:spPr>
        <p:txBody>
          <a:bodyPr anchor="ctr">
            <a:noAutofit/>
          </a:bodyPr>
          <a:lstStyle/>
          <a:p>
            <a:pPr>
              <a:lnSpc>
                <a:spcPct val="130000"/>
              </a:lnSpc>
            </a:pPr>
            <a:endParaRPr lang="en-US" sz="1300" dirty="0"/>
          </a:p>
          <a:p>
            <a:pPr>
              <a:lnSpc>
                <a:spcPct val="130000"/>
              </a:lnSpc>
            </a:pPr>
            <a:r>
              <a:rPr lang="en-US" sz="1300" dirty="0" err="1"/>
              <a:t>MiniCPS</a:t>
            </a:r>
            <a:r>
              <a:rPr lang="en-US" sz="1300" dirty="0"/>
              <a:t> components are merely implementing a subset of PLC functionality, so it is not so reliable.</a:t>
            </a:r>
          </a:p>
          <a:p>
            <a:pPr>
              <a:lnSpc>
                <a:spcPct val="130000"/>
              </a:lnSpc>
            </a:pPr>
            <a:endParaRPr lang="en-US" sz="1300" dirty="0"/>
          </a:p>
          <a:p>
            <a:pPr>
              <a:lnSpc>
                <a:spcPct val="130000"/>
              </a:lnSpc>
            </a:pPr>
            <a:r>
              <a:rPr lang="en-US" sz="1300" dirty="0"/>
              <a:t>what they are mentioning, that they don't represent the whole physical system, with all its complexities, but they provide very simple simulation API such as set and get functions which works as if there is an underneath physical process -&gt; big limitation</a:t>
            </a:r>
          </a:p>
          <a:p>
            <a:pPr>
              <a:lnSpc>
                <a:spcPct val="130000"/>
              </a:lnSpc>
            </a:pPr>
            <a:endParaRPr lang="en-US" sz="1300" dirty="0"/>
          </a:p>
          <a:p>
            <a:pPr>
              <a:lnSpc>
                <a:spcPct val="130000"/>
              </a:lnSpc>
            </a:pPr>
            <a:r>
              <a:rPr lang="en-US" sz="1300" dirty="0"/>
              <a:t>And they perform this simulation using set of files, from which they read and write the values</a:t>
            </a:r>
          </a:p>
          <a:p>
            <a:pPr>
              <a:lnSpc>
                <a:spcPct val="130000"/>
              </a:lnSpc>
            </a:pPr>
            <a:r>
              <a:rPr lang="en-US" sz="1300" dirty="0"/>
              <a:t>(Section 3.4 in </a:t>
            </a:r>
            <a:r>
              <a:rPr lang="en-US" sz="1300" dirty="0" err="1"/>
              <a:t>MiniCPS</a:t>
            </a:r>
            <a:r>
              <a:rPr lang="en-US" sz="1300" dirty="0"/>
              <a:t> paper)</a:t>
            </a:r>
          </a:p>
          <a:p>
            <a:pPr>
              <a:lnSpc>
                <a:spcPct val="130000"/>
              </a:lnSpc>
            </a:pPr>
            <a:endParaRPr lang="en-US" sz="1300" dirty="0"/>
          </a:p>
          <a:p>
            <a:pPr>
              <a:lnSpc>
                <a:spcPct val="130000"/>
              </a:lnSpc>
            </a:pPr>
            <a:r>
              <a:rPr lang="en-US" sz="1300" dirty="0"/>
              <a:t>But we can add some physics simulators to interact with it (I think here is where </a:t>
            </a:r>
            <a:r>
              <a:rPr lang="en-US" sz="1300" dirty="0" err="1"/>
              <a:t>pandapower</a:t>
            </a:r>
            <a:r>
              <a:rPr lang="en-US" sz="1300" dirty="0"/>
              <a:t> will play a role)</a:t>
            </a:r>
          </a:p>
        </p:txBody>
      </p:sp>
    </p:spTree>
    <p:extLst>
      <p:ext uri="{BB962C8B-B14F-4D97-AF65-F5344CB8AC3E}">
        <p14:creationId xmlns:p14="http://schemas.microsoft.com/office/powerpoint/2010/main" val="42840713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762AB-2DD0-0808-B2F4-1C776F25FA13}"/>
              </a:ext>
            </a:extLst>
          </p:cNvPr>
          <p:cNvSpPr>
            <a:spLocks noGrp="1"/>
          </p:cNvSpPr>
          <p:nvPr>
            <p:ph type="title"/>
          </p:nvPr>
        </p:nvSpPr>
        <p:spPr/>
        <p:txBody>
          <a:bodyPr/>
          <a:lstStyle/>
          <a:p>
            <a:r>
              <a:rPr lang="en-US" dirty="0"/>
              <a:t>Attacker Model</a:t>
            </a:r>
          </a:p>
        </p:txBody>
      </p:sp>
      <p:sp>
        <p:nvSpPr>
          <p:cNvPr id="3" name="Content Placeholder 2">
            <a:extLst>
              <a:ext uri="{FF2B5EF4-FFF2-40B4-BE49-F238E27FC236}">
                <a16:creationId xmlns:a16="http://schemas.microsoft.com/office/drawing/2014/main" id="{3FBD17D3-FB79-9CF8-0473-FB4DE8053A66}"/>
              </a:ext>
            </a:extLst>
          </p:cNvPr>
          <p:cNvSpPr>
            <a:spLocks noGrp="1"/>
          </p:cNvSpPr>
          <p:nvPr>
            <p:ph idx="1"/>
          </p:nvPr>
        </p:nvSpPr>
        <p:spPr/>
        <p:txBody>
          <a:bodyPr/>
          <a:lstStyle/>
          <a:p>
            <a:r>
              <a:rPr lang="en-US" dirty="0"/>
              <a:t>- The attacker can access their system either via SSH or vulnerable VPN, and gets root access.</a:t>
            </a:r>
          </a:p>
          <a:p>
            <a:pPr marL="285750" indent="-285750">
              <a:buFontTx/>
              <a:buChar char="-"/>
            </a:pPr>
            <a:r>
              <a:rPr lang="en-US" dirty="0"/>
              <a:t>He can perform MITM attack, DOS, and send malformed packets and unauthorized commands to the system</a:t>
            </a:r>
          </a:p>
          <a:p>
            <a:endParaRPr lang="en-US" dirty="0"/>
          </a:p>
        </p:txBody>
      </p:sp>
    </p:spTree>
    <p:extLst>
      <p:ext uri="{BB962C8B-B14F-4D97-AF65-F5344CB8AC3E}">
        <p14:creationId xmlns:p14="http://schemas.microsoft.com/office/powerpoint/2010/main" val="4169220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7" name="Freeform: Shape 16">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BA0FC771-8365-1E43-E19E-31B4D7FC8DF0}"/>
              </a:ext>
            </a:extLst>
          </p:cNvPr>
          <p:cNvSpPr>
            <a:spLocks noGrp="1"/>
          </p:cNvSpPr>
          <p:nvPr>
            <p:ph type="title"/>
          </p:nvPr>
        </p:nvSpPr>
        <p:spPr>
          <a:xfrm>
            <a:off x="992518" y="442913"/>
            <a:ext cx="5185645" cy="1639888"/>
          </a:xfrm>
        </p:spPr>
        <p:txBody>
          <a:bodyPr anchor="b">
            <a:normAutofit/>
          </a:bodyPr>
          <a:lstStyle/>
          <a:p>
            <a:r>
              <a:rPr lang="en-US" dirty="0"/>
              <a:t>Attacker knowledge</a:t>
            </a:r>
          </a:p>
        </p:txBody>
      </p:sp>
      <p:sp>
        <p:nvSpPr>
          <p:cNvPr id="3" name="Content Placeholder 2">
            <a:extLst>
              <a:ext uri="{FF2B5EF4-FFF2-40B4-BE49-F238E27FC236}">
                <a16:creationId xmlns:a16="http://schemas.microsoft.com/office/drawing/2014/main" id="{2B138121-B44C-A6B2-A60F-918038054889}"/>
              </a:ext>
            </a:extLst>
          </p:cNvPr>
          <p:cNvSpPr>
            <a:spLocks noGrp="1"/>
          </p:cNvSpPr>
          <p:nvPr>
            <p:ph idx="1"/>
          </p:nvPr>
        </p:nvSpPr>
        <p:spPr>
          <a:xfrm>
            <a:off x="992519" y="2312988"/>
            <a:ext cx="5790246" cy="3651250"/>
          </a:xfrm>
        </p:spPr>
        <p:txBody>
          <a:bodyPr>
            <a:normAutofit fontScale="92500" lnSpcReduction="20000"/>
          </a:bodyPr>
          <a:lstStyle/>
          <a:p>
            <a:pPr marL="285750" indent="-285750">
              <a:buFont typeface="Arial" panose="020B0604020202020204" pitchFamily="34" charset="0"/>
              <a:buChar char="•"/>
            </a:pPr>
            <a:r>
              <a:rPr lang="en-US" dirty="0"/>
              <a:t>They Assume that attacker has knowledge about:</a:t>
            </a:r>
          </a:p>
          <a:p>
            <a:pPr marL="285750" lvl="1" indent="-285750">
              <a:buFont typeface="Arial" panose="020B0604020202020204" pitchFamily="34" charset="0"/>
              <a:buChar char="•"/>
            </a:pPr>
            <a:r>
              <a:rPr lang="en-US" dirty="0"/>
              <a:t>Not-well documented industrial protocols such as Ethernet/IP (basic knowledge)</a:t>
            </a:r>
          </a:p>
          <a:p>
            <a:pPr marL="285750" lvl="1" indent="-285750">
              <a:buFont typeface="Arial" panose="020B0604020202020204" pitchFamily="34" charset="0"/>
              <a:buChar char="•"/>
            </a:pPr>
            <a:r>
              <a:rPr lang="en-US" dirty="0"/>
              <a:t>The documented ones such as Modbus (extensive knowledge)</a:t>
            </a:r>
          </a:p>
          <a:p>
            <a:pPr marL="285750" lvl="1" indent="-285750">
              <a:buFont typeface="Arial" panose="020B0604020202020204" pitchFamily="34" charset="0"/>
              <a:buChar char="•"/>
            </a:pPr>
            <a:r>
              <a:rPr lang="en-US" dirty="0"/>
              <a:t>He is familiar with the underlying physical process and the control logic</a:t>
            </a:r>
          </a:p>
          <a:p>
            <a:pPr marL="285750" lvl="1" indent="-285750">
              <a:buFont typeface="Arial" panose="020B0604020202020204" pitchFamily="34" charset="0"/>
              <a:buChar char="•"/>
            </a:pPr>
            <a:r>
              <a:rPr lang="en-US" dirty="0"/>
              <a:t>The attacker can only connect via the 2 provided interfaces.</a:t>
            </a:r>
          </a:p>
        </p:txBody>
      </p:sp>
      <p:pic>
        <p:nvPicPr>
          <p:cNvPr id="7" name="Graphic 6" descr="Programmer">
            <a:extLst>
              <a:ext uri="{FF2B5EF4-FFF2-40B4-BE49-F238E27FC236}">
                <a16:creationId xmlns:a16="http://schemas.microsoft.com/office/drawing/2014/main" id="{AB4FC5D6-4B64-3AC2-788E-ECBE9D85DB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237967" y="1934660"/>
            <a:ext cx="2988679" cy="2988679"/>
          </a:xfrm>
          <a:prstGeom prst="rect">
            <a:avLst/>
          </a:prstGeom>
        </p:spPr>
      </p:pic>
    </p:spTree>
    <p:extLst>
      <p:ext uri="{BB962C8B-B14F-4D97-AF65-F5344CB8AC3E}">
        <p14:creationId xmlns:p14="http://schemas.microsoft.com/office/powerpoint/2010/main" val="13734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2EDFC-6395-375A-0A94-CFD6FEE56574}"/>
              </a:ext>
            </a:extLst>
          </p:cNvPr>
          <p:cNvSpPr>
            <a:spLocks noGrp="1"/>
          </p:cNvSpPr>
          <p:nvPr>
            <p:ph type="title"/>
          </p:nvPr>
        </p:nvSpPr>
        <p:spPr/>
        <p:txBody>
          <a:bodyPr>
            <a:normAutofit fontScale="90000"/>
          </a:bodyPr>
          <a:lstStyle/>
          <a:p>
            <a:r>
              <a:rPr lang="en-US" dirty="0"/>
              <a:t>What are possible actions of the attacker</a:t>
            </a:r>
          </a:p>
        </p:txBody>
      </p:sp>
      <p:sp>
        <p:nvSpPr>
          <p:cNvPr id="3" name="Content Placeholder 2">
            <a:extLst>
              <a:ext uri="{FF2B5EF4-FFF2-40B4-BE49-F238E27FC236}">
                <a16:creationId xmlns:a16="http://schemas.microsoft.com/office/drawing/2014/main" id="{5F3C8EA2-D208-71F0-3729-1B34FEC9EA90}"/>
              </a:ext>
            </a:extLst>
          </p:cNvPr>
          <p:cNvSpPr>
            <a:spLocks noGrp="1"/>
          </p:cNvSpPr>
          <p:nvPr>
            <p:ph idx="1"/>
          </p:nvPr>
        </p:nvSpPr>
        <p:spPr/>
        <p:txBody>
          <a:bodyPr/>
          <a:lstStyle/>
          <a:p>
            <a:pPr marL="285750" indent="-285750">
              <a:buFont typeface="Arial" panose="020B0604020202020204" pitchFamily="34" charset="0"/>
              <a:buChar char="•"/>
            </a:pPr>
            <a:r>
              <a:rPr lang="en-US" dirty="0"/>
              <a:t>VPN and gateway gives him access to the internal network</a:t>
            </a:r>
          </a:p>
          <a:p>
            <a:pPr marL="285750" indent="-285750">
              <a:buFont typeface="Arial" panose="020B0604020202020204" pitchFamily="34" charset="0"/>
              <a:buChar char="•"/>
            </a:pPr>
            <a:r>
              <a:rPr lang="en-US" dirty="0"/>
              <a:t>There is a virtual switch responsible for distributing Ethernet/IP traffic in the internal network</a:t>
            </a:r>
          </a:p>
          <a:p>
            <a:pPr marL="285750" indent="-285750">
              <a:buFont typeface="Arial" panose="020B0604020202020204" pitchFamily="34" charset="0"/>
              <a:buChar char="•"/>
            </a:pPr>
            <a:r>
              <a:rPr lang="en-US" dirty="0"/>
              <a:t>Thus, attacker can perform the following attacks:</a:t>
            </a:r>
          </a:p>
          <a:p>
            <a:pPr lvl="1" algn="ctr"/>
            <a:r>
              <a:rPr lang="en-US" dirty="0"/>
              <a:t>ARP Poisoning</a:t>
            </a:r>
          </a:p>
          <a:p>
            <a:pPr lvl="1" algn="ctr"/>
            <a:r>
              <a:rPr lang="en-US" dirty="0"/>
              <a:t>Packets sniffing</a:t>
            </a:r>
          </a:p>
          <a:p>
            <a:pPr lvl="1" algn="ctr"/>
            <a:r>
              <a:rPr lang="en-US" dirty="0"/>
              <a:t>Malicious command delivery</a:t>
            </a:r>
          </a:p>
        </p:txBody>
      </p:sp>
    </p:spTree>
    <p:extLst>
      <p:ext uri="{BB962C8B-B14F-4D97-AF65-F5344CB8AC3E}">
        <p14:creationId xmlns:p14="http://schemas.microsoft.com/office/powerpoint/2010/main" val="35459182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FA634-C7DB-5874-2957-751A9EC9DE2D}"/>
              </a:ext>
            </a:extLst>
          </p:cNvPr>
          <p:cNvSpPr>
            <a:spLocks noGrp="1"/>
          </p:cNvSpPr>
          <p:nvPr>
            <p:ph type="title"/>
          </p:nvPr>
        </p:nvSpPr>
        <p:spPr/>
        <p:txBody>
          <a:bodyPr/>
          <a:lstStyle/>
          <a:p>
            <a:r>
              <a:rPr lang="en-US" dirty="0"/>
              <a:t>What else can be compromised?</a:t>
            </a:r>
          </a:p>
        </p:txBody>
      </p:sp>
      <p:sp>
        <p:nvSpPr>
          <p:cNvPr id="3" name="Content Placeholder 2">
            <a:extLst>
              <a:ext uri="{FF2B5EF4-FFF2-40B4-BE49-F238E27FC236}">
                <a16:creationId xmlns:a16="http://schemas.microsoft.com/office/drawing/2014/main" id="{8D681078-5367-C77C-6205-3C7D5B40A68B}"/>
              </a:ext>
            </a:extLst>
          </p:cNvPr>
          <p:cNvSpPr>
            <a:spLocks noGrp="1"/>
          </p:cNvSpPr>
          <p:nvPr>
            <p:ph idx="1"/>
          </p:nvPr>
        </p:nvSpPr>
        <p:spPr/>
        <p:txBody>
          <a:bodyPr>
            <a:normAutofit fontScale="85000" lnSpcReduction="20000"/>
          </a:bodyPr>
          <a:lstStyle/>
          <a:p>
            <a:pPr marL="285750" indent="-285750">
              <a:buFont typeface="Arial" panose="020B0604020202020204" pitchFamily="34" charset="0"/>
              <a:buChar char="•"/>
            </a:pPr>
            <a:r>
              <a:rPr lang="en-US" dirty="0"/>
              <a:t>Implementing the honeypot with </a:t>
            </a:r>
            <a:r>
              <a:rPr lang="en-US" dirty="0" err="1"/>
              <a:t>MiniCPS</a:t>
            </a:r>
            <a:r>
              <a:rPr lang="en-US" dirty="0"/>
              <a:t> can allow us to set 3 different levels of security ( low, medium, and high)</a:t>
            </a:r>
          </a:p>
          <a:p>
            <a:pPr marL="285750" indent="-285750">
              <a:buFont typeface="Arial" panose="020B0604020202020204" pitchFamily="34" charset="0"/>
              <a:buChar char="•"/>
            </a:pPr>
            <a:r>
              <a:rPr lang="en-US" dirty="0"/>
              <a:t>Low/Medium can be considered as:</a:t>
            </a:r>
          </a:p>
          <a:p>
            <a:pPr marL="285750" lvl="4" indent="-285750">
              <a:buFont typeface="Wingdings" panose="05000000000000000000" pitchFamily="2" charset="2"/>
              <a:buChar char="q"/>
            </a:pPr>
            <a:r>
              <a:rPr lang="en-US" dirty="0">
                <a:solidFill>
                  <a:srgbClr val="FF0000"/>
                </a:solidFill>
              </a:rPr>
              <a:t>Adding</a:t>
            </a:r>
            <a:r>
              <a:rPr lang="en-US" dirty="0"/>
              <a:t> </a:t>
            </a:r>
            <a:r>
              <a:rPr lang="en-US" dirty="0">
                <a:solidFill>
                  <a:srgbClr val="FF0000"/>
                </a:solidFill>
              </a:rPr>
              <a:t>old vulnerable versions of SSH server</a:t>
            </a:r>
          </a:p>
          <a:p>
            <a:pPr marL="285750" lvl="4" indent="-285750">
              <a:buFont typeface="Wingdings" panose="05000000000000000000" pitchFamily="2" charset="2"/>
              <a:buChar char="q"/>
            </a:pPr>
            <a:r>
              <a:rPr lang="en-US" dirty="0">
                <a:solidFill>
                  <a:srgbClr val="FF0000"/>
                </a:solidFill>
              </a:rPr>
              <a:t>Using unpatched services</a:t>
            </a:r>
          </a:p>
          <a:p>
            <a:pPr marL="285750" lvl="4" indent="-285750">
              <a:buFont typeface="Wingdings" panose="05000000000000000000" pitchFamily="2" charset="2"/>
              <a:buChar char="q"/>
            </a:pPr>
            <a:r>
              <a:rPr lang="en-US" dirty="0">
                <a:solidFill>
                  <a:srgbClr val="FF0000"/>
                </a:solidFill>
              </a:rPr>
              <a:t>Simple admin credentials</a:t>
            </a:r>
          </a:p>
          <a:p>
            <a:pPr marL="285750" indent="-285750">
              <a:buFont typeface="Arial" panose="020B0604020202020204" pitchFamily="34" charset="0"/>
              <a:buChar char="•"/>
            </a:pPr>
            <a:r>
              <a:rPr lang="en-US" dirty="0"/>
              <a:t>For hard, we can make more complex honeynet, by combining many honeypots together. </a:t>
            </a:r>
          </a:p>
          <a:p>
            <a:pPr marL="285750" indent="-285750">
              <a:buFont typeface="Arial" panose="020B0604020202020204" pitchFamily="34" charset="0"/>
              <a:buChar char="•"/>
            </a:pPr>
            <a:r>
              <a:rPr lang="en-US" dirty="0"/>
              <a:t>Everything inside the network is transparent, so the critical part is to get access to the internal network.</a:t>
            </a:r>
          </a:p>
        </p:txBody>
      </p:sp>
    </p:spTree>
    <p:extLst>
      <p:ext uri="{BB962C8B-B14F-4D97-AF65-F5344CB8AC3E}">
        <p14:creationId xmlns:p14="http://schemas.microsoft.com/office/powerpoint/2010/main" val="158133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99DF5-82A6-0E2A-B212-2D4DA47DF213}"/>
              </a:ext>
            </a:extLst>
          </p:cNvPr>
          <p:cNvSpPr>
            <a:spLocks noGrp="1"/>
          </p:cNvSpPr>
          <p:nvPr>
            <p:ph type="title"/>
          </p:nvPr>
        </p:nvSpPr>
        <p:spPr/>
        <p:txBody>
          <a:bodyPr>
            <a:normAutofit fontScale="90000"/>
          </a:bodyPr>
          <a:lstStyle/>
          <a:p>
            <a:r>
              <a:rPr lang="en-US" dirty="0"/>
              <a:t>Attacker prevention for getting root access</a:t>
            </a:r>
          </a:p>
        </p:txBody>
      </p:sp>
      <p:sp>
        <p:nvSpPr>
          <p:cNvPr id="3" name="Content Placeholder 2">
            <a:extLst>
              <a:ext uri="{FF2B5EF4-FFF2-40B4-BE49-F238E27FC236}">
                <a16:creationId xmlns:a16="http://schemas.microsoft.com/office/drawing/2014/main" id="{2EEEFB7A-7541-FFE3-FA37-3155A3D33116}"/>
              </a:ext>
            </a:extLst>
          </p:cNvPr>
          <p:cNvSpPr>
            <a:spLocks noGrp="1"/>
          </p:cNvSpPr>
          <p:nvPr>
            <p:ph idx="1"/>
          </p:nvPr>
        </p:nvSpPr>
        <p:spPr/>
        <p:txBody>
          <a:bodyPr/>
          <a:lstStyle/>
          <a:p>
            <a:pPr marL="285750" indent="-285750">
              <a:buFont typeface="Arial" panose="020B0604020202020204" pitchFamily="34" charset="0"/>
              <a:buChar char="•"/>
            </a:pPr>
            <a:r>
              <a:rPr lang="en-US" dirty="0"/>
              <a:t>The attacker is </a:t>
            </a:r>
            <a:r>
              <a:rPr lang="en-US" b="1" dirty="0"/>
              <a:t>chrooted </a:t>
            </a:r>
            <a:r>
              <a:rPr lang="en-US" dirty="0"/>
              <a:t>to protect the honeypot file system and running processes</a:t>
            </a:r>
          </a:p>
          <a:p>
            <a:pPr marL="285750" indent="-285750">
              <a:buFont typeface="Arial" panose="020B0604020202020204" pitchFamily="34" charset="0"/>
              <a:buChar char="•"/>
            </a:pPr>
            <a:r>
              <a:rPr lang="en-US" dirty="0"/>
              <a:t>Implementing high interactive honeypot usually provide the risk of allowing the attacker to escalate his privileges inside the honeypot, and if done, </a:t>
            </a:r>
            <a:r>
              <a:rPr lang="en-US" b="1" dirty="0"/>
              <a:t>the honeypot is considered useless because the attacker may send false values to the data collection subsystem</a:t>
            </a:r>
          </a:p>
        </p:txBody>
      </p:sp>
    </p:spTree>
    <p:extLst>
      <p:ext uri="{BB962C8B-B14F-4D97-AF65-F5344CB8AC3E}">
        <p14:creationId xmlns:p14="http://schemas.microsoft.com/office/powerpoint/2010/main" val="11472029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370EB-B76E-F332-D387-07845D6A369F}"/>
              </a:ext>
            </a:extLst>
          </p:cNvPr>
          <p:cNvSpPr>
            <a:spLocks noGrp="1"/>
          </p:cNvSpPr>
          <p:nvPr>
            <p:ph type="title"/>
          </p:nvPr>
        </p:nvSpPr>
        <p:spPr/>
        <p:txBody>
          <a:bodyPr>
            <a:normAutofit fontScale="90000"/>
          </a:bodyPr>
          <a:lstStyle/>
          <a:p>
            <a:r>
              <a:rPr lang="en-US" dirty="0"/>
              <a:t>Typical methods to prevent root access</a:t>
            </a:r>
          </a:p>
        </p:txBody>
      </p:sp>
      <p:sp>
        <p:nvSpPr>
          <p:cNvPr id="3" name="Content Placeholder 2">
            <a:extLst>
              <a:ext uri="{FF2B5EF4-FFF2-40B4-BE49-F238E27FC236}">
                <a16:creationId xmlns:a16="http://schemas.microsoft.com/office/drawing/2014/main" id="{E0424B39-5109-95EF-7767-72FD6E8B0DCC}"/>
              </a:ext>
            </a:extLst>
          </p:cNvPr>
          <p:cNvSpPr>
            <a:spLocks noGrp="1"/>
          </p:cNvSpPr>
          <p:nvPr>
            <p:ph idx="1"/>
          </p:nvPr>
        </p:nvSpPr>
        <p:spPr/>
        <p:txBody>
          <a:bodyPr>
            <a:normAutofit/>
          </a:bodyPr>
          <a:lstStyle/>
          <a:p>
            <a:pPr marL="342900" indent="-342900">
              <a:buFont typeface="+mj-lt"/>
              <a:buAutoNum type="arabicPeriod"/>
            </a:pPr>
            <a:r>
              <a:rPr lang="en-US" dirty="0"/>
              <a:t>Chroot method</a:t>
            </a:r>
          </a:p>
          <a:p>
            <a:pPr marL="342900" indent="-342900">
              <a:buFont typeface="+mj-lt"/>
              <a:buAutoNum type="arabicPeriod"/>
            </a:pPr>
            <a:r>
              <a:rPr lang="en-US" dirty="0"/>
              <a:t>Sandbox Containers or VMs</a:t>
            </a:r>
          </a:p>
          <a:p>
            <a:pPr marL="342900" indent="-342900">
              <a:buFont typeface="+mj-lt"/>
              <a:buAutoNum type="arabicPeriod"/>
            </a:pPr>
            <a:r>
              <a:rPr lang="en-US" dirty="0"/>
              <a:t>Alerting and Auto-shutdown</a:t>
            </a:r>
          </a:p>
          <a:p>
            <a:pPr marL="342900" indent="-342900">
              <a:buFont typeface="Arial" panose="020B0604020202020204" pitchFamily="34" charset="0"/>
              <a:buChar char="•"/>
            </a:pPr>
            <a:r>
              <a:rPr lang="en-US" dirty="0"/>
              <a:t>But all of these approaches does not prevent attacker to get root access to the honeypot itself, then remove all the logs from the honeypot, or send false data to the data collection modules</a:t>
            </a:r>
          </a:p>
        </p:txBody>
      </p:sp>
    </p:spTree>
    <p:extLst>
      <p:ext uri="{BB962C8B-B14F-4D97-AF65-F5344CB8AC3E}">
        <p14:creationId xmlns:p14="http://schemas.microsoft.com/office/powerpoint/2010/main" val="37972273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9" name="Freeform: Shape 18">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Freeform: Shape 19">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1FB148AD-7100-DB2B-E66D-E9F7E2AD23BD}"/>
              </a:ext>
            </a:extLst>
          </p:cNvPr>
          <p:cNvSpPr>
            <a:spLocks noGrp="1"/>
          </p:cNvSpPr>
          <p:nvPr>
            <p:ph type="title"/>
          </p:nvPr>
        </p:nvSpPr>
        <p:spPr>
          <a:xfrm>
            <a:off x="992518" y="442913"/>
            <a:ext cx="5185645" cy="1639888"/>
          </a:xfrm>
        </p:spPr>
        <p:txBody>
          <a:bodyPr vert="horz" lIns="109728" tIns="109728" rIns="109728" bIns="91440" rtlCol="0" anchor="b">
            <a:normAutofit/>
          </a:bodyPr>
          <a:lstStyle/>
          <a:p>
            <a:r>
              <a:rPr lang="en-US" dirty="0"/>
              <a:t>Implementation</a:t>
            </a:r>
          </a:p>
        </p:txBody>
      </p:sp>
      <p:sp>
        <p:nvSpPr>
          <p:cNvPr id="5" name="TextBox 4">
            <a:extLst>
              <a:ext uri="{FF2B5EF4-FFF2-40B4-BE49-F238E27FC236}">
                <a16:creationId xmlns:a16="http://schemas.microsoft.com/office/drawing/2014/main" id="{C02A4DF7-4BE6-2623-04F9-D9242EA5BEEF}"/>
              </a:ext>
            </a:extLst>
          </p:cNvPr>
          <p:cNvSpPr txBox="1"/>
          <p:nvPr/>
        </p:nvSpPr>
        <p:spPr>
          <a:xfrm>
            <a:off x="992519" y="2312988"/>
            <a:ext cx="5296964" cy="3651250"/>
          </a:xfrm>
          <a:prstGeom prst="rect">
            <a:avLst/>
          </a:prstGeom>
        </p:spPr>
        <p:txBody>
          <a:bodyPr vert="horz" lIns="109728" tIns="109728" rIns="109728" bIns="91440" rtlCol="0">
            <a:normAutofit fontScale="92500" lnSpcReduction="20000"/>
          </a:bodyPr>
          <a:lstStyle/>
          <a:p>
            <a:pPr>
              <a:lnSpc>
                <a:spcPct val="130000"/>
              </a:lnSpc>
              <a:spcBef>
                <a:spcPts val="930"/>
              </a:spcBef>
              <a:buFont typeface="Corbel" panose="020B0503020204020204" pitchFamily="34" charset="0"/>
            </a:pPr>
            <a:r>
              <a:rPr lang="en-US" spc="150" dirty="0">
                <a:solidFill>
                  <a:schemeClr val="tx1">
                    <a:lumMod val="75000"/>
                    <a:lumOff val="25000"/>
                  </a:schemeClr>
                </a:solidFill>
              </a:rPr>
              <a:t>The system consists of the following components:</a:t>
            </a:r>
          </a:p>
          <a:p>
            <a:pPr>
              <a:lnSpc>
                <a:spcPct val="130000"/>
              </a:lnSpc>
              <a:spcBef>
                <a:spcPts val="930"/>
              </a:spcBef>
              <a:buFont typeface="Corbel" panose="020B0503020204020204" pitchFamily="34" charset="0"/>
            </a:pPr>
            <a:r>
              <a:rPr lang="en-US" spc="150" dirty="0">
                <a:solidFill>
                  <a:schemeClr val="tx1">
                    <a:lumMod val="75000"/>
                    <a:lumOff val="25000"/>
                  </a:schemeClr>
                </a:solidFill>
              </a:rPr>
              <a:t>1. Vulnerable VPN Endpoint</a:t>
            </a:r>
          </a:p>
          <a:p>
            <a:pPr>
              <a:lnSpc>
                <a:spcPct val="130000"/>
              </a:lnSpc>
              <a:spcBef>
                <a:spcPts val="930"/>
              </a:spcBef>
              <a:buFont typeface="Corbel" panose="020B0503020204020204" pitchFamily="34" charset="0"/>
            </a:pPr>
            <a:r>
              <a:rPr lang="en-US" spc="150" dirty="0">
                <a:solidFill>
                  <a:schemeClr val="tx1">
                    <a:lumMod val="75000"/>
                    <a:lumOff val="25000"/>
                  </a:schemeClr>
                </a:solidFill>
              </a:rPr>
              <a:t>2. Vulnerable Gateway device</a:t>
            </a:r>
          </a:p>
          <a:p>
            <a:pPr>
              <a:lnSpc>
                <a:spcPct val="130000"/>
              </a:lnSpc>
              <a:spcBef>
                <a:spcPts val="930"/>
              </a:spcBef>
              <a:buFont typeface="Corbel" panose="020B0503020204020204" pitchFamily="34" charset="0"/>
            </a:pPr>
            <a:r>
              <a:rPr lang="en-US" spc="150" dirty="0">
                <a:solidFill>
                  <a:schemeClr val="tx1">
                    <a:lumMod val="75000"/>
                    <a:lumOff val="25000"/>
                  </a:schemeClr>
                </a:solidFill>
              </a:rPr>
              <a:t>3. Network Emulation</a:t>
            </a:r>
          </a:p>
          <a:p>
            <a:pPr>
              <a:lnSpc>
                <a:spcPct val="130000"/>
              </a:lnSpc>
              <a:spcBef>
                <a:spcPts val="930"/>
              </a:spcBef>
              <a:buFont typeface="Corbel" panose="020B0503020204020204" pitchFamily="34" charset="0"/>
            </a:pPr>
            <a:r>
              <a:rPr lang="en-US" spc="150" dirty="0">
                <a:solidFill>
                  <a:schemeClr val="tx1">
                    <a:lumMod val="75000"/>
                    <a:lumOff val="25000"/>
                  </a:schemeClr>
                </a:solidFill>
              </a:rPr>
              <a:t>   3.1. Virtual switch	 </a:t>
            </a:r>
          </a:p>
          <a:p>
            <a:pPr>
              <a:lnSpc>
                <a:spcPct val="130000"/>
              </a:lnSpc>
              <a:spcBef>
                <a:spcPts val="930"/>
              </a:spcBef>
              <a:buFont typeface="Corbel" panose="020B0503020204020204" pitchFamily="34" charset="0"/>
            </a:pPr>
            <a:r>
              <a:rPr lang="en-US" spc="150" dirty="0">
                <a:solidFill>
                  <a:schemeClr val="tx1">
                    <a:lumMod val="75000"/>
                    <a:lumOff val="25000"/>
                  </a:schemeClr>
                </a:solidFill>
              </a:rPr>
              <a:t>4.Physical process and devices simulation</a:t>
            </a:r>
          </a:p>
          <a:p>
            <a:pPr>
              <a:lnSpc>
                <a:spcPct val="130000"/>
              </a:lnSpc>
              <a:spcBef>
                <a:spcPts val="930"/>
              </a:spcBef>
              <a:buFont typeface="Corbel" panose="020B0503020204020204" pitchFamily="34" charset="0"/>
            </a:pPr>
            <a:r>
              <a:rPr lang="en-US" spc="150" dirty="0">
                <a:solidFill>
                  <a:schemeClr val="tx1">
                    <a:lumMod val="75000"/>
                    <a:lumOff val="25000"/>
                  </a:schemeClr>
                </a:solidFill>
              </a:rPr>
              <a:t>5. Data collection subsystem</a:t>
            </a:r>
          </a:p>
        </p:txBody>
      </p:sp>
      <p:pic>
        <p:nvPicPr>
          <p:cNvPr id="4" name="Content Placeholder 3">
            <a:extLst>
              <a:ext uri="{FF2B5EF4-FFF2-40B4-BE49-F238E27FC236}">
                <a16:creationId xmlns:a16="http://schemas.microsoft.com/office/drawing/2014/main" id="{598C7FE8-242F-EC95-C5B2-396775A43A50}"/>
              </a:ext>
            </a:extLst>
          </p:cNvPr>
          <p:cNvPicPr>
            <a:picLocks noGrp="1" noChangeAspect="1"/>
          </p:cNvPicPr>
          <p:nvPr>
            <p:ph idx="1"/>
          </p:nvPr>
        </p:nvPicPr>
        <p:blipFill>
          <a:blip r:embed="rId2"/>
          <a:stretch>
            <a:fillRect/>
          </a:stretch>
        </p:blipFill>
        <p:spPr>
          <a:xfrm>
            <a:off x="5974773" y="1953491"/>
            <a:ext cx="5923001" cy="3892272"/>
          </a:xfrm>
          <a:prstGeom prst="rect">
            <a:avLst/>
          </a:prstGeom>
        </p:spPr>
      </p:pic>
    </p:spTree>
    <p:extLst>
      <p:ext uri="{BB962C8B-B14F-4D97-AF65-F5344CB8AC3E}">
        <p14:creationId xmlns:p14="http://schemas.microsoft.com/office/powerpoint/2010/main" val="3774596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D5FBB81-B61B-416A-8F5D-A8DDF62530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40C0D7D4-D83D-4C58-87D1-955F0A9173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476051" cy="6858000"/>
          </a:xfrm>
          <a:custGeom>
            <a:avLst/>
            <a:gdLst>
              <a:gd name="connsiteX0" fmla="*/ 0 w 7476051"/>
              <a:gd name="connsiteY0" fmla="*/ 0 h 6858000"/>
              <a:gd name="connsiteX1" fmla="*/ 5853028 w 7476051"/>
              <a:gd name="connsiteY1" fmla="*/ 0 h 6858000"/>
              <a:gd name="connsiteX2" fmla="*/ 5875152 w 7476051"/>
              <a:gd name="connsiteY2" fmla="*/ 14997 h 6858000"/>
              <a:gd name="connsiteX3" fmla="*/ 7476051 w 7476051"/>
              <a:gd name="connsiteY3" fmla="*/ 3621656 h 6858000"/>
              <a:gd name="connsiteX4" fmla="*/ 5601702 w 7476051"/>
              <a:gd name="connsiteY4" fmla="*/ 6374814 h 6858000"/>
              <a:gd name="connsiteX5" fmla="*/ 5085053 w 7476051"/>
              <a:gd name="connsiteY5" fmla="*/ 6780599 h 6858000"/>
              <a:gd name="connsiteX6" fmla="*/ 4973297 w 7476051"/>
              <a:gd name="connsiteY6" fmla="*/ 6858000 h 6858000"/>
              <a:gd name="connsiteX7" fmla="*/ 0 w 7476051"/>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76051" h="6858000">
                <a:moveTo>
                  <a:pt x="0" y="0"/>
                </a:moveTo>
                <a:lnTo>
                  <a:pt x="5853028" y="0"/>
                </a:lnTo>
                <a:lnTo>
                  <a:pt x="5875152" y="14997"/>
                </a:lnTo>
                <a:cubicBezTo>
                  <a:pt x="6902315" y="754641"/>
                  <a:pt x="7476051" y="2093192"/>
                  <a:pt x="7476051" y="3621656"/>
                </a:cubicBezTo>
                <a:cubicBezTo>
                  <a:pt x="7476051" y="4969131"/>
                  <a:pt x="6547326" y="5602839"/>
                  <a:pt x="5601702" y="6374814"/>
                </a:cubicBezTo>
                <a:cubicBezTo>
                  <a:pt x="5429499" y="6515397"/>
                  <a:pt x="5258871" y="6653108"/>
                  <a:pt x="5085053" y="6780599"/>
                </a:cubicBezTo>
                <a:lnTo>
                  <a:pt x="4973297"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15F9A324-404E-4C5D-AFF0-C5D0D841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48204" y="-1"/>
            <a:ext cx="2535264" cy="6858001"/>
          </a:xfrm>
          <a:custGeom>
            <a:avLst/>
            <a:gdLst>
              <a:gd name="connsiteX0" fmla="*/ 1218585 w 2535264"/>
              <a:gd name="connsiteY0" fmla="*/ 0 h 6858001"/>
              <a:gd name="connsiteX1" fmla="*/ 1236561 w 2535264"/>
              <a:gd name="connsiteY1" fmla="*/ 0 h 6858001"/>
              <a:gd name="connsiteX2" fmla="*/ 1264452 w 2535264"/>
              <a:gd name="connsiteY2" fmla="*/ 24550 h 6858001"/>
              <a:gd name="connsiteX3" fmla="*/ 2528121 w 2535264"/>
              <a:gd name="connsiteY3" fmla="*/ 3710502 h 6858001"/>
              <a:gd name="connsiteX4" fmla="*/ 492890 w 2535264"/>
              <a:gd name="connsiteY4" fmla="*/ 6507511 h 6858001"/>
              <a:gd name="connsiteX5" fmla="*/ 221418 w 2535264"/>
              <a:gd name="connsiteY5" fmla="*/ 6713387 h 6858001"/>
              <a:gd name="connsiteX6" fmla="*/ 20100 w 2535264"/>
              <a:gd name="connsiteY6" fmla="*/ 6858001 h 6858001"/>
              <a:gd name="connsiteX7" fmla="*/ 0 w 2535264"/>
              <a:gd name="connsiteY7" fmla="*/ 6858001 h 6858001"/>
              <a:gd name="connsiteX8" fmla="*/ 202488 w 2535264"/>
              <a:gd name="connsiteY8" fmla="*/ 6712547 h 6858001"/>
              <a:gd name="connsiteX9" fmla="*/ 473961 w 2535264"/>
              <a:gd name="connsiteY9" fmla="*/ 6506670 h 6858001"/>
              <a:gd name="connsiteX10" fmla="*/ 2509192 w 2535264"/>
              <a:gd name="connsiteY10" fmla="*/ 3709662 h 6858001"/>
              <a:gd name="connsiteX11" fmla="*/ 1245521 w 2535264"/>
              <a:gd name="connsiteY11" fmla="*/ 23708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5264" h="6858001">
                <a:moveTo>
                  <a:pt x="1218585" y="0"/>
                </a:moveTo>
                <a:lnTo>
                  <a:pt x="1236561" y="0"/>
                </a:lnTo>
                <a:lnTo>
                  <a:pt x="1264452" y="24550"/>
                </a:lnTo>
                <a:cubicBezTo>
                  <a:pt x="2149109" y="863108"/>
                  <a:pt x="2598329" y="2210814"/>
                  <a:pt x="2528121" y="3710502"/>
                </a:cubicBezTo>
                <a:cubicBezTo>
                  <a:pt x="2462100" y="5120751"/>
                  <a:pt x="1489450" y="5742158"/>
                  <a:pt x="492890" y="6507511"/>
                </a:cubicBezTo>
                <a:cubicBezTo>
                  <a:pt x="402151" y="6577199"/>
                  <a:pt x="311847" y="6646154"/>
                  <a:pt x="221418" y="6713387"/>
                </a:cubicBezTo>
                <a:lnTo>
                  <a:pt x="20100" y="6858001"/>
                </a:lnTo>
                <a:lnTo>
                  <a:pt x="0" y="6858001"/>
                </a:lnTo>
                <a:lnTo>
                  <a:pt x="202488" y="6712547"/>
                </a:lnTo>
                <a:cubicBezTo>
                  <a:pt x="292917" y="6645314"/>
                  <a:pt x="383222" y="6576359"/>
                  <a:pt x="473961" y="6506670"/>
                </a:cubicBezTo>
                <a:cubicBezTo>
                  <a:pt x="1470520" y="5741317"/>
                  <a:pt x="2443170" y="5119911"/>
                  <a:pt x="2509192" y="3709662"/>
                </a:cubicBezTo>
                <a:cubicBezTo>
                  <a:pt x="2579400" y="2209973"/>
                  <a:pt x="2130178" y="862268"/>
                  <a:pt x="1245521" y="23708"/>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AC4CE3C4-3600-4353-9FE1-B32D06BEF0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3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04B83D44-AC90-E1DA-D2B8-06913F36042D}"/>
              </a:ext>
            </a:extLst>
          </p:cNvPr>
          <p:cNvSpPr>
            <a:spLocks noGrp="1"/>
          </p:cNvSpPr>
          <p:nvPr>
            <p:ph type="title"/>
          </p:nvPr>
        </p:nvSpPr>
        <p:spPr>
          <a:xfrm>
            <a:off x="992518" y="442913"/>
            <a:ext cx="5185645" cy="1639888"/>
          </a:xfrm>
        </p:spPr>
        <p:txBody>
          <a:bodyPr anchor="b">
            <a:normAutofit/>
          </a:bodyPr>
          <a:lstStyle/>
          <a:p>
            <a:r>
              <a:rPr lang="en-US" dirty="0"/>
              <a:t>1. Vulnerable VPN</a:t>
            </a:r>
          </a:p>
        </p:txBody>
      </p:sp>
      <p:sp>
        <p:nvSpPr>
          <p:cNvPr id="3" name="Content Placeholder 2">
            <a:extLst>
              <a:ext uri="{FF2B5EF4-FFF2-40B4-BE49-F238E27FC236}">
                <a16:creationId xmlns:a16="http://schemas.microsoft.com/office/drawing/2014/main" id="{D81EC3E8-DF8A-CA99-C3AE-E79AA75E56D4}"/>
              </a:ext>
            </a:extLst>
          </p:cNvPr>
          <p:cNvSpPr>
            <a:spLocks noGrp="1"/>
          </p:cNvSpPr>
          <p:nvPr>
            <p:ph idx="1"/>
          </p:nvPr>
        </p:nvSpPr>
        <p:spPr>
          <a:xfrm>
            <a:off x="992519" y="2312988"/>
            <a:ext cx="5296964" cy="3651250"/>
          </a:xfrm>
        </p:spPr>
        <p:txBody>
          <a:bodyPr>
            <a:normAutofit/>
          </a:bodyPr>
          <a:lstStyle/>
          <a:p>
            <a:r>
              <a:rPr lang="en-US" dirty="0"/>
              <a:t>They simulate Allen-Bradley Stratix 5900 router with firewall capabilities, with weak credentials:</a:t>
            </a:r>
          </a:p>
          <a:p>
            <a:r>
              <a:rPr lang="en-US" dirty="0"/>
              <a:t>U:admin P:admin</a:t>
            </a:r>
          </a:p>
        </p:txBody>
      </p:sp>
      <p:pic>
        <p:nvPicPr>
          <p:cNvPr id="5" name="Picture 4">
            <a:extLst>
              <a:ext uri="{FF2B5EF4-FFF2-40B4-BE49-F238E27FC236}">
                <a16:creationId xmlns:a16="http://schemas.microsoft.com/office/drawing/2014/main" id="{0ED5B3E0-6DE1-F43E-322B-19B5ECA5CF47}"/>
              </a:ext>
            </a:extLst>
          </p:cNvPr>
          <p:cNvPicPr>
            <a:picLocks noChangeAspect="1"/>
          </p:cNvPicPr>
          <p:nvPr/>
        </p:nvPicPr>
        <p:blipFill>
          <a:blip r:embed="rId2"/>
          <a:stretch>
            <a:fillRect/>
          </a:stretch>
        </p:blipFill>
        <p:spPr>
          <a:xfrm>
            <a:off x="7990609" y="1885375"/>
            <a:ext cx="3965547" cy="2827890"/>
          </a:xfrm>
          <a:prstGeom prst="rect">
            <a:avLst/>
          </a:prstGeom>
        </p:spPr>
      </p:pic>
    </p:spTree>
    <p:extLst>
      <p:ext uri="{BB962C8B-B14F-4D97-AF65-F5344CB8AC3E}">
        <p14:creationId xmlns:p14="http://schemas.microsoft.com/office/powerpoint/2010/main" val="15919007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70AA9D87-7C3A-ED0E-44FD-B3B1826AECD0}"/>
              </a:ext>
            </a:extLst>
          </p:cNvPr>
          <p:cNvSpPr>
            <a:spLocks noGrp="1"/>
          </p:cNvSpPr>
          <p:nvPr>
            <p:ph type="title"/>
          </p:nvPr>
        </p:nvSpPr>
        <p:spPr>
          <a:xfrm>
            <a:off x="6194738" y="442913"/>
            <a:ext cx="5197655" cy="1639888"/>
          </a:xfrm>
        </p:spPr>
        <p:txBody>
          <a:bodyPr anchor="b">
            <a:normAutofit/>
          </a:bodyPr>
          <a:lstStyle/>
          <a:p>
            <a:r>
              <a:rPr lang="en-US" dirty="0"/>
              <a:t>2. Vulnerable Gateway</a:t>
            </a:r>
          </a:p>
        </p:txBody>
      </p:sp>
      <p:grpSp>
        <p:nvGrpSpPr>
          <p:cNvPr id="28" name="Group 27">
            <a:extLst>
              <a:ext uri="{FF2B5EF4-FFF2-40B4-BE49-F238E27FC236}">
                <a16:creationId xmlns:a16="http://schemas.microsoft.com/office/drawing/2014/main" id="{57E5BCCD-DB23-4AD8-B850-9154AAE91E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566001" cy="6858000"/>
            <a:chOff x="6505773" y="0"/>
            <a:chExt cx="5566001" cy="6858000"/>
          </a:xfrm>
        </p:grpSpPr>
        <p:sp>
          <p:nvSpPr>
            <p:cNvPr id="29" name="Freeform: Shape 28">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865823"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29">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50577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1" name="Freeform: Shape 30">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719069"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pic>
        <p:nvPicPr>
          <p:cNvPr id="5" name="Picture 4">
            <a:extLst>
              <a:ext uri="{FF2B5EF4-FFF2-40B4-BE49-F238E27FC236}">
                <a16:creationId xmlns:a16="http://schemas.microsoft.com/office/drawing/2014/main" id="{85DFACDB-272D-1444-6645-1AA2E51391A7}"/>
              </a:ext>
            </a:extLst>
          </p:cNvPr>
          <p:cNvPicPr>
            <a:picLocks noChangeAspect="1"/>
          </p:cNvPicPr>
          <p:nvPr/>
        </p:nvPicPr>
        <p:blipFill>
          <a:blip r:embed="rId3"/>
          <a:stretch>
            <a:fillRect/>
          </a:stretch>
        </p:blipFill>
        <p:spPr>
          <a:xfrm>
            <a:off x="799607" y="1643291"/>
            <a:ext cx="3249406" cy="3571417"/>
          </a:xfrm>
          <a:prstGeom prst="rect">
            <a:avLst/>
          </a:prstGeom>
        </p:spPr>
      </p:pic>
      <p:sp>
        <p:nvSpPr>
          <p:cNvPr id="3" name="Content Placeholder 2">
            <a:extLst>
              <a:ext uri="{FF2B5EF4-FFF2-40B4-BE49-F238E27FC236}">
                <a16:creationId xmlns:a16="http://schemas.microsoft.com/office/drawing/2014/main" id="{BAE32638-DBA4-CD17-1C88-15527B8AFA90}"/>
              </a:ext>
            </a:extLst>
          </p:cNvPr>
          <p:cNvSpPr>
            <a:spLocks noGrp="1"/>
          </p:cNvSpPr>
          <p:nvPr>
            <p:ph idx="1"/>
          </p:nvPr>
        </p:nvSpPr>
        <p:spPr>
          <a:xfrm>
            <a:off x="6194738" y="2312988"/>
            <a:ext cx="5197655" cy="3651250"/>
          </a:xfrm>
        </p:spPr>
        <p:txBody>
          <a:bodyPr>
            <a:normAutofit/>
          </a:bodyPr>
          <a:lstStyle/>
          <a:p>
            <a:pPr>
              <a:lnSpc>
                <a:spcPct val="130000"/>
              </a:lnSpc>
            </a:pPr>
            <a:r>
              <a:rPr lang="en-US" dirty="0"/>
              <a:t>They simulate also Moxa OnCell IP gateway, with two open ports, 22 running ssh, and 23 running telnet</a:t>
            </a:r>
          </a:p>
          <a:p>
            <a:pPr>
              <a:lnSpc>
                <a:spcPct val="130000"/>
              </a:lnSpc>
            </a:pPr>
            <a:r>
              <a:rPr lang="en-US" dirty="0"/>
              <a:t>both with weak credentials U:admin P:admin</a:t>
            </a:r>
          </a:p>
          <a:p>
            <a:pPr>
              <a:lnSpc>
                <a:spcPct val="130000"/>
              </a:lnSpc>
            </a:pPr>
            <a:r>
              <a:rPr lang="en-US" dirty="0"/>
              <a:t>they use </a:t>
            </a:r>
            <a:r>
              <a:rPr lang="en-US" dirty="0" err="1"/>
              <a:t>sshd</a:t>
            </a:r>
            <a:r>
              <a:rPr lang="en-US" dirty="0"/>
              <a:t>, and </a:t>
            </a:r>
            <a:r>
              <a:rPr lang="en-US" dirty="0" err="1"/>
              <a:t>telnetd</a:t>
            </a:r>
            <a:r>
              <a:rPr lang="en-US" dirty="0"/>
              <a:t> which are </a:t>
            </a:r>
            <a:r>
              <a:rPr lang="en-US" dirty="0" err="1"/>
              <a:t>deamons</a:t>
            </a:r>
            <a:r>
              <a:rPr lang="en-US" dirty="0"/>
              <a:t> (background processes, allows them to run these services on the honeypots) </a:t>
            </a:r>
          </a:p>
        </p:txBody>
      </p:sp>
    </p:spTree>
    <p:extLst>
      <p:ext uri="{BB962C8B-B14F-4D97-AF65-F5344CB8AC3E}">
        <p14:creationId xmlns:p14="http://schemas.microsoft.com/office/powerpoint/2010/main" val="1860905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9B0F7D69-D93C-4C38-A23D-76E000D69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8CD419D4-EA9D-42D9-BF62-B07F0B7B67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1C6FEC9B-9608-4181-A9E5-A1B80E720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AB1564ED-F26F-451D-97D6-A6EC3E83FD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7" name="Freeform: Shape 16">
            <a:extLst>
              <a:ext uri="{FF2B5EF4-FFF2-40B4-BE49-F238E27FC236}">
                <a16:creationId xmlns:a16="http://schemas.microsoft.com/office/drawing/2014/main" id="{0CA184B6-3482-4F43-87F0-BC765DCFD8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6C869923-8380-4244-9548-802C33063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C06255F2-BC67-4DDE-B34E-AC4BA21838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3" name="Freeform: Shape 22">
            <a:extLst>
              <a:ext uri="{FF2B5EF4-FFF2-40B4-BE49-F238E27FC236}">
                <a16:creationId xmlns:a16="http://schemas.microsoft.com/office/drawing/2014/main" id="{55169443-FCCD-4C0A-8C69-18CD3FA09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useBgFill="1">
        <p:nvSpPr>
          <p:cNvPr id="25" name="Rectangle 24">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EC49693A-99F1-D25D-615B-F361A73803FB}"/>
              </a:ext>
            </a:extLst>
          </p:cNvPr>
          <p:cNvSpPr>
            <a:spLocks noGrp="1"/>
          </p:cNvSpPr>
          <p:nvPr>
            <p:ph type="title"/>
          </p:nvPr>
        </p:nvSpPr>
        <p:spPr>
          <a:xfrm>
            <a:off x="1180531" y="1346268"/>
            <a:ext cx="5274860" cy="3066706"/>
          </a:xfrm>
        </p:spPr>
        <p:txBody>
          <a:bodyPr vert="horz" lIns="109728" tIns="109728" rIns="109728" bIns="91440" rtlCol="0" anchor="b">
            <a:normAutofit/>
          </a:bodyPr>
          <a:lstStyle/>
          <a:p>
            <a:pPr>
              <a:lnSpc>
                <a:spcPct val="120000"/>
              </a:lnSpc>
            </a:pPr>
            <a:r>
              <a:rPr lang="en-US" sz="5400">
                <a:solidFill>
                  <a:schemeClr val="tx1">
                    <a:lumMod val="85000"/>
                    <a:lumOff val="15000"/>
                  </a:schemeClr>
                </a:solidFill>
              </a:rPr>
              <a:t>3. Network Emulation</a:t>
            </a:r>
          </a:p>
        </p:txBody>
      </p:sp>
      <p:sp>
        <p:nvSpPr>
          <p:cNvPr id="3" name="Content Placeholder 2">
            <a:extLst>
              <a:ext uri="{FF2B5EF4-FFF2-40B4-BE49-F238E27FC236}">
                <a16:creationId xmlns:a16="http://schemas.microsoft.com/office/drawing/2014/main" id="{8DF7BA0D-2C01-1014-898B-788E16611B9C}"/>
              </a:ext>
            </a:extLst>
          </p:cNvPr>
          <p:cNvSpPr>
            <a:spLocks noGrp="1"/>
          </p:cNvSpPr>
          <p:nvPr>
            <p:ph idx="1"/>
          </p:nvPr>
        </p:nvSpPr>
        <p:spPr>
          <a:xfrm>
            <a:off x="1201212" y="4412974"/>
            <a:ext cx="4524024" cy="1576188"/>
          </a:xfrm>
        </p:spPr>
        <p:txBody>
          <a:bodyPr vert="horz" lIns="109728" tIns="109728" rIns="109728" bIns="91440" rtlCol="0" anchor="t">
            <a:normAutofit/>
          </a:bodyPr>
          <a:lstStyle/>
          <a:p>
            <a:pPr>
              <a:lnSpc>
                <a:spcPct val="130000"/>
              </a:lnSpc>
            </a:pPr>
            <a:r>
              <a:rPr lang="en-US" sz="2400" dirty="0">
                <a:solidFill>
                  <a:schemeClr val="tx1">
                    <a:lumMod val="85000"/>
                    <a:lumOff val="15000"/>
                  </a:schemeClr>
                </a:solidFill>
              </a:rPr>
              <a:t>They use </a:t>
            </a:r>
            <a:r>
              <a:rPr lang="en-US" sz="2400" dirty="0" err="1">
                <a:solidFill>
                  <a:schemeClr val="tx1">
                    <a:lumMod val="85000"/>
                    <a:lumOff val="15000"/>
                  </a:schemeClr>
                </a:solidFill>
              </a:rPr>
              <a:t>MiniNet</a:t>
            </a:r>
            <a:r>
              <a:rPr lang="en-US" sz="2400" dirty="0">
                <a:solidFill>
                  <a:schemeClr val="tx1">
                    <a:lumMod val="85000"/>
                    <a:lumOff val="15000"/>
                  </a:schemeClr>
                </a:solidFill>
              </a:rPr>
              <a:t> to emulate the network</a:t>
            </a:r>
          </a:p>
        </p:txBody>
      </p:sp>
      <p:sp>
        <p:nvSpPr>
          <p:cNvPr id="27" name="Freeform: Shape 26">
            <a:extLst>
              <a:ext uri="{FF2B5EF4-FFF2-40B4-BE49-F238E27FC236}">
                <a16:creationId xmlns:a16="http://schemas.microsoft.com/office/drawing/2014/main" id="{C7D887A3-61AD-4674-BC53-8DFA8CF7B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9" name="Freeform: Shape 28">
            <a:extLst>
              <a:ext uri="{FF2B5EF4-FFF2-40B4-BE49-F238E27FC236}">
                <a16:creationId xmlns:a16="http://schemas.microsoft.com/office/drawing/2014/main" id="{479F0FB3-8461-462D-84A2-53106FBF4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53480"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1" name="Freeform: Shape 30">
            <a:extLst>
              <a:ext uri="{FF2B5EF4-FFF2-40B4-BE49-F238E27FC236}">
                <a16:creationId xmlns:a16="http://schemas.microsoft.com/office/drawing/2014/main" id="{11E3C311-4E8A-45D9-97BF-07F5FD3469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88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5" name="Picture 4" descr="Pins pinned on a white surface and connecting a black thread">
            <a:extLst>
              <a:ext uri="{FF2B5EF4-FFF2-40B4-BE49-F238E27FC236}">
                <a16:creationId xmlns:a16="http://schemas.microsoft.com/office/drawing/2014/main" id="{5E217D82-7424-4C6C-C259-B4EA7D0C445D}"/>
              </a:ext>
            </a:extLst>
          </p:cNvPr>
          <p:cNvPicPr>
            <a:picLocks noChangeAspect="1"/>
          </p:cNvPicPr>
          <p:nvPr/>
        </p:nvPicPr>
        <p:blipFill>
          <a:blip r:embed="rId2"/>
          <a:srcRect l="10689" r="40606" b="-1"/>
          <a:stretch>
            <a:fillRect/>
          </a:stretch>
        </p:blipFill>
        <p:spPr>
          <a:xfrm>
            <a:off x="7187979" y="10"/>
            <a:ext cx="5004021"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3463980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57609056-E1D4-25CA-9006-EEE0CC95EDD6}"/>
              </a:ext>
            </a:extLst>
          </p:cNvPr>
          <p:cNvSpPr>
            <a:spLocks noGrp="1"/>
          </p:cNvSpPr>
          <p:nvPr>
            <p:ph type="title"/>
          </p:nvPr>
        </p:nvSpPr>
        <p:spPr>
          <a:xfrm>
            <a:off x="6194738" y="442913"/>
            <a:ext cx="5197655" cy="1639888"/>
          </a:xfrm>
        </p:spPr>
        <p:txBody>
          <a:bodyPr anchor="b">
            <a:normAutofit/>
          </a:bodyPr>
          <a:lstStyle/>
          <a:p>
            <a:r>
              <a:rPr lang="en-US" dirty="0"/>
              <a:t>4. Physical Process</a:t>
            </a:r>
          </a:p>
        </p:txBody>
      </p:sp>
      <p:grpSp>
        <p:nvGrpSpPr>
          <p:cNvPr id="30" name="Group 29">
            <a:extLst>
              <a:ext uri="{FF2B5EF4-FFF2-40B4-BE49-F238E27FC236}">
                <a16:creationId xmlns:a16="http://schemas.microsoft.com/office/drawing/2014/main" id="{57E5BCCD-DB23-4AD8-B850-9154AAE91E0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0" y="0"/>
            <a:ext cx="5566001" cy="6858000"/>
            <a:chOff x="6505773" y="0"/>
            <a:chExt cx="5566001" cy="6858000"/>
          </a:xfrm>
        </p:grpSpPr>
        <p:sp>
          <p:nvSpPr>
            <p:cNvPr id="31" name="Freeform: Shape 3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865823"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Freeform: Shape 31">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505773"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3" name="Freeform: Shape 32">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6719069"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pic>
        <p:nvPicPr>
          <p:cNvPr id="4" name="Picture 3">
            <a:extLst>
              <a:ext uri="{FF2B5EF4-FFF2-40B4-BE49-F238E27FC236}">
                <a16:creationId xmlns:a16="http://schemas.microsoft.com/office/drawing/2014/main" id="{9A929B51-6082-9855-4EA0-426F0EA81F37}"/>
              </a:ext>
            </a:extLst>
          </p:cNvPr>
          <p:cNvPicPr>
            <a:picLocks noChangeAspect="1"/>
          </p:cNvPicPr>
          <p:nvPr/>
        </p:nvPicPr>
        <p:blipFill>
          <a:blip r:embed="rId2"/>
          <a:stretch>
            <a:fillRect/>
          </a:stretch>
        </p:blipFill>
        <p:spPr>
          <a:xfrm>
            <a:off x="1428253" y="1519267"/>
            <a:ext cx="1992113" cy="3819466"/>
          </a:xfrm>
          <a:prstGeom prst="rect">
            <a:avLst/>
          </a:prstGeom>
        </p:spPr>
      </p:pic>
      <p:sp>
        <p:nvSpPr>
          <p:cNvPr id="20" name="Content Placeholder 2">
            <a:extLst>
              <a:ext uri="{FF2B5EF4-FFF2-40B4-BE49-F238E27FC236}">
                <a16:creationId xmlns:a16="http://schemas.microsoft.com/office/drawing/2014/main" id="{1AC58A19-F1BB-E44D-371A-ECB4DF259906}"/>
              </a:ext>
            </a:extLst>
          </p:cNvPr>
          <p:cNvSpPr>
            <a:spLocks noGrp="1"/>
          </p:cNvSpPr>
          <p:nvPr>
            <p:ph idx="1"/>
          </p:nvPr>
        </p:nvSpPr>
        <p:spPr>
          <a:xfrm>
            <a:off x="6194738" y="2312988"/>
            <a:ext cx="5197655" cy="3651250"/>
          </a:xfrm>
        </p:spPr>
        <p:txBody>
          <a:bodyPr>
            <a:normAutofit/>
          </a:bodyPr>
          <a:lstStyle/>
          <a:p>
            <a:r>
              <a:rPr lang="en-US" dirty="0"/>
              <a:t>They simulate a water treatment physical process,</a:t>
            </a:r>
          </a:p>
          <a:p>
            <a:r>
              <a:rPr lang="en-US" dirty="0"/>
              <a:t>  - One HMI</a:t>
            </a:r>
          </a:p>
          <a:p>
            <a:r>
              <a:rPr lang="en-US" dirty="0"/>
              <a:t>  - 4 PLCs</a:t>
            </a:r>
          </a:p>
          <a:p>
            <a:r>
              <a:rPr lang="en-US" dirty="0"/>
              <a:t>These physical processes are simulated using python scripts.</a:t>
            </a:r>
          </a:p>
        </p:txBody>
      </p:sp>
    </p:spTree>
    <p:extLst>
      <p:ext uri="{BB962C8B-B14F-4D97-AF65-F5344CB8AC3E}">
        <p14:creationId xmlns:p14="http://schemas.microsoft.com/office/powerpoint/2010/main" val="1934466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2EE80-2926-B0FA-CDCF-464F1626DA1A}"/>
              </a:ext>
            </a:extLst>
          </p:cNvPr>
          <p:cNvSpPr>
            <a:spLocks noGrp="1"/>
          </p:cNvSpPr>
          <p:nvPr>
            <p:ph type="title"/>
          </p:nvPr>
        </p:nvSpPr>
        <p:spPr/>
        <p:txBody>
          <a:bodyPr>
            <a:normAutofit/>
          </a:bodyPr>
          <a:lstStyle/>
          <a:p>
            <a:r>
              <a:rPr lang="en-US" dirty="0"/>
              <a:t>Implementation benefits and risks</a:t>
            </a:r>
          </a:p>
        </p:txBody>
      </p:sp>
      <p:sp>
        <p:nvSpPr>
          <p:cNvPr id="3" name="Content Placeholder 2">
            <a:extLst>
              <a:ext uri="{FF2B5EF4-FFF2-40B4-BE49-F238E27FC236}">
                <a16:creationId xmlns:a16="http://schemas.microsoft.com/office/drawing/2014/main" id="{B409ED52-0BB6-BB76-1D4F-15C647FD9552}"/>
              </a:ext>
            </a:extLst>
          </p:cNvPr>
          <p:cNvSpPr>
            <a:spLocks noGrp="1"/>
          </p:cNvSpPr>
          <p:nvPr>
            <p:ph idx="1"/>
          </p:nvPr>
        </p:nvSpPr>
        <p:spPr>
          <a:xfrm>
            <a:off x="1920240" y="2312276"/>
            <a:ext cx="8770571" cy="4253706"/>
          </a:xfrm>
        </p:spPr>
        <p:txBody>
          <a:bodyPr>
            <a:normAutofit/>
          </a:bodyPr>
          <a:lstStyle/>
          <a:p>
            <a:pPr marL="285750" indent="-285750">
              <a:buFont typeface="Arial" panose="020B0604020202020204" pitchFamily="34" charset="0"/>
              <a:buChar char="•"/>
            </a:pPr>
            <a:r>
              <a:rPr lang="en-US" dirty="0"/>
              <a:t>Good implementation yields to additional benefits.</a:t>
            </a:r>
          </a:p>
          <a:p>
            <a:pPr marL="285750" indent="-285750">
              <a:buFont typeface="Arial" panose="020B0604020202020204" pitchFamily="34" charset="0"/>
              <a:buChar char="•"/>
            </a:pPr>
            <a:r>
              <a:rPr lang="en-US" dirty="0" err="1"/>
              <a:t>MiniCPS</a:t>
            </a:r>
            <a:r>
              <a:rPr lang="en-US" dirty="0"/>
              <a:t> allows to define the security level of the honeypot</a:t>
            </a:r>
          </a:p>
          <a:p>
            <a:pPr marL="285750" indent="-285750">
              <a:buFont typeface="Arial" panose="020B0604020202020204" pitchFamily="34" charset="0"/>
              <a:buChar char="•"/>
            </a:pPr>
            <a:r>
              <a:rPr lang="en-US" dirty="0"/>
              <a:t>Security level means the amount of intentional vulnerabilities exists in the system</a:t>
            </a:r>
          </a:p>
          <a:p>
            <a:pPr marL="285750" indent="-285750">
              <a:buFont typeface="Arial" panose="020B0604020202020204" pitchFamily="34" charset="0"/>
              <a:buChar char="•"/>
            </a:pPr>
            <a:r>
              <a:rPr lang="en-US" dirty="0"/>
              <a:t>For research -&gt; old ssh version -&gt; low/medium level</a:t>
            </a:r>
          </a:p>
          <a:p>
            <a:pPr marL="285750" indent="-285750">
              <a:buFont typeface="Arial" panose="020B0604020202020204" pitchFamily="34" charset="0"/>
              <a:buChar char="•"/>
            </a:pPr>
            <a:r>
              <a:rPr lang="en-US" dirty="0"/>
              <a:t>For production -&gt; latest version -&gt; high level</a:t>
            </a:r>
          </a:p>
          <a:p>
            <a:pPr marL="285750" indent="-285750">
              <a:buFont typeface="Arial" panose="020B0604020202020204" pitchFamily="34" charset="0"/>
              <a:buChar char="•"/>
            </a:pPr>
            <a:r>
              <a:rPr lang="en-US" dirty="0"/>
              <a:t>This setup helps security teams </a:t>
            </a:r>
            <a:r>
              <a:rPr lang="en-US" b="1" dirty="0"/>
              <a:t>observe basic attacks on research honeypots</a:t>
            </a:r>
            <a:r>
              <a:rPr lang="en-US" dirty="0"/>
              <a:t>, and </a:t>
            </a:r>
            <a:r>
              <a:rPr lang="en-US" b="1" dirty="0"/>
              <a:t>discover advanced zero-days or new techniques</a:t>
            </a:r>
            <a:r>
              <a:rPr lang="en-US" dirty="0"/>
              <a:t> on production honeypots.</a:t>
            </a:r>
          </a:p>
        </p:txBody>
      </p:sp>
    </p:spTree>
    <p:extLst>
      <p:ext uri="{BB962C8B-B14F-4D97-AF65-F5344CB8AC3E}">
        <p14:creationId xmlns:p14="http://schemas.microsoft.com/office/powerpoint/2010/main" val="17903794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9B0F7D69-D93C-4C38-A23D-76E000D69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8CD419D4-EA9D-42D9-BF62-B07F0B7B67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2" name="Freeform: Shape 11">
            <a:extLst>
              <a:ext uri="{FF2B5EF4-FFF2-40B4-BE49-F238E27FC236}">
                <a16:creationId xmlns:a16="http://schemas.microsoft.com/office/drawing/2014/main" id="{1C6FEC9B-9608-4181-A9E5-A1B80E720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AB1564ED-F26F-451D-97D6-A6EC3E83FD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AF50A80E-5DCB-4320-9947-73BF2D6F0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4E9C9717-43F9-44EA-9215-3F2D15B1C7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Freeform: Shape 19">
            <a:extLst>
              <a:ext uri="{FF2B5EF4-FFF2-40B4-BE49-F238E27FC236}">
                <a16:creationId xmlns:a16="http://schemas.microsoft.com/office/drawing/2014/main" id="{E66004D1-3DCE-405F-9046-6DE912409E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2" name="Freeform: Shape 21">
            <a:extLst>
              <a:ext uri="{FF2B5EF4-FFF2-40B4-BE49-F238E27FC236}">
                <a16:creationId xmlns:a16="http://schemas.microsoft.com/office/drawing/2014/main" id="{D1319957-918B-4BBC-B357-957813808C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useBgFill="1">
        <p:nvSpPr>
          <p:cNvPr id="24" name="Rectangle 23">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6" name="Freeform: Shape 25">
            <a:extLst>
              <a:ext uri="{FF2B5EF4-FFF2-40B4-BE49-F238E27FC236}">
                <a16:creationId xmlns:a16="http://schemas.microsoft.com/office/drawing/2014/main" id="{F624CBFB-D803-467F-960F-B6A30F821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167675" y="-3167677"/>
            <a:ext cx="5856341" cy="12191695"/>
          </a:xfrm>
          <a:custGeom>
            <a:avLst/>
            <a:gdLst>
              <a:gd name="connsiteX0" fmla="*/ 0 w 5856341"/>
              <a:gd name="connsiteY0" fmla="*/ 12191695 h 12191695"/>
              <a:gd name="connsiteX1" fmla="*/ 0 w 5856341"/>
              <a:gd name="connsiteY1" fmla="*/ 0 h 12191695"/>
              <a:gd name="connsiteX2" fmla="*/ 243849 w 5856341"/>
              <a:gd name="connsiteY2" fmla="*/ 0 h 12191695"/>
              <a:gd name="connsiteX3" fmla="*/ 505121 w 5856341"/>
              <a:gd name="connsiteY3" fmla="*/ 0 h 12191695"/>
              <a:gd name="connsiteX4" fmla="*/ 723207 w 5856341"/>
              <a:gd name="connsiteY4" fmla="*/ 0 h 12191695"/>
              <a:gd name="connsiteX5" fmla="*/ 755828 w 5856341"/>
              <a:gd name="connsiteY5" fmla="*/ 0 h 12191695"/>
              <a:gd name="connsiteX6" fmla="*/ 1411868 w 5856341"/>
              <a:gd name="connsiteY6" fmla="*/ 0 h 12191695"/>
              <a:gd name="connsiteX7" fmla="*/ 1421034 w 5856341"/>
              <a:gd name="connsiteY7" fmla="*/ 0 h 12191695"/>
              <a:gd name="connsiteX8" fmla="*/ 1515206 w 5856341"/>
              <a:gd name="connsiteY8" fmla="*/ 0 h 12191695"/>
              <a:gd name="connsiteX9" fmla="*/ 2636151 w 5856341"/>
              <a:gd name="connsiteY9" fmla="*/ 0 h 12191695"/>
              <a:gd name="connsiteX10" fmla="*/ 4637890 w 5856341"/>
              <a:gd name="connsiteY10" fmla="*/ 0 h 12191695"/>
              <a:gd name="connsiteX11" fmla="*/ 4654499 w 5856341"/>
              <a:gd name="connsiteY11" fmla="*/ 26661 h 12191695"/>
              <a:gd name="connsiteX12" fmla="*/ 5856341 w 5856341"/>
              <a:gd name="connsiteY12" fmla="*/ 6438338 h 12191695"/>
              <a:gd name="connsiteX13" fmla="*/ 4449211 w 5856341"/>
              <a:gd name="connsiteY13" fmla="*/ 11332719 h 12191695"/>
              <a:gd name="connsiteX14" fmla="*/ 4061349 w 5856341"/>
              <a:gd name="connsiteY14" fmla="*/ 12054097 h 12191695"/>
              <a:gd name="connsiteX15" fmla="*/ 3977450 w 5856341"/>
              <a:gd name="connsiteY15" fmla="*/ 12191695 h 12191695"/>
              <a:gd name="connsiteX16" fmla="*/ 2636151 w 5856341"/>
              <a:gd name="connsiteY16" fmla="*/ 12191695 h 12191695"/>
              <a:gd name="connsiteX17" fmla="*/ 1421034 w 5856341"/>
              <a:gd name="connsiteY17" fmla="*/ 12191695 h 12191695"/>
              <a:gd name="connsiteX18" fmla="*/ 1411868 w 5856341"/>
              <a:gd name="connsiteY18" fmla="*/ 12191695 h 12191695"/>
              <a:gd name="connsiteX19" fmla="*/ 1283685 w 5856341"/>
              <a:gd name="connsiteY19" fmla="*/ 12191695 h 12191695"/>
              <a:gd name="connsiteX20" fmla="*/ 755828 w 5856341"/>
              <a:gd name="connsiteY20" fmla="*/ 12191695 h 12191695"/>
              <a:gd name="connsiteX21" fmla="*/ 723207 w 5856341"/>
              <a:gd name="connsiteY21" fmla="*/ 12191695 h 12191695"/>
              <a:gd name="connsiteX22" fmla="*/ 505121 w 5856341"/>
              <a:gd name="connsiteY22" fmla="*/ 12191695 h 12191695"/>
              <a:gd name="connsiteX23" fmla="*/ 243849 w 5856341"/>
              <a:gd name="connsiteY23" fmla="*/ 12191695 h 12191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5856341" h="12191695">
                <a:moveTo>
                  <a:pt x="0" y="12191695"/>
                </a:moveTo>
                <a:lnTo>
                  <a:pt x="0" y="0"/>
                </a:lnTo>
                <a:lnTo>
                  <a:pt x="243849" y="0"/>
                </a:lnTo>
                <a:lnTo>
                  <a:pt x="505121" y="0"/>
                </a:lnTo>
                <a:lnTo>
                  <a:pt x="723207" y="0"/>
                </a:lnTo>
                <a:lnTo>
                  <a:pt x="755828" y="0"/>
                </a:lnTo>
                <a:lnTo>
                  <a:pt x="1411868" y="0"/>
                </a:lnTo>
                <a:lnTo>
                  <a:pt x="1421034" y="0"/>
                </a:lnTo>
                <a:lnTo>
                  <a:pt x="1515206" y="0"/>
                </a:lnTo>
                <a:lnTo>
                  <a:pt x="2636151" y="0"/>
                </a:lnTo>
                <a:lnTo>
                  <a:pt x="4637890" y="0"/>
                </a:lnTo>
                <a:lnTo>
                  <a:pt x="4654499" y="26661"/>
                </a:lnTo>
                <a:cubicBezTo>
                  <a:pt x="5425621" y="1341551"/>
                  <a:pt x="5856341" y="3721137"/>
                  <a:pt x="5856341" y="6438338"/>
                </a:cubicBezTo>
                <a:cubicBezTo>
                  <a:pt x="5856341" y="8833790"/>
                  <a:pt x="5159120" y="9960353"/>
                  <a:pt x="4449211" y="11332719"/>
                </a:cubicBezTo>
                <a:cubicBezTo>
                  <a:pt x="4319934" y="11582638"/>
                  <a:pt x="4191839" y="11827452"/>
                  <a:pt x="4061349" y="12054097"/>
                </a:cubicBezTo>
                <a:lnTo>
                  <a:pt x="3977450" y="12191695"/>
                </a:lnTo>
                <a:lnTo>
                  <a:pt x="2636151" y="12191695"/>
                </a:lnTo>
                <a:lnTo>
                  <a:pt x="1421034" y="12191695"/>
                </a:lnTo>
                <a:lnTo>
                  <a:pt x="1411868" y="12191695"/>
                </a:lnTo>
                <a:lnTo>
                  <a:pt x="1283685" y="12191695"/>
                </a:lnTo>
                <a:lnTo>
                  <a:pt x="755828" y="12191695"/>
                </a:lnTo>
                <a:lnTo>
                  <a:pt x="723207" y="12191695"/>
                </a:lnTo>
                <a:lnTo>
                  <a:pt x="505121" y="12191695"/>
                </a:lnTo>
                <a:lnTo>
                  <a:pt x="243849" y="12191695"/>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526CFB9-CED6-9A62-F2C6-9EB1F23A6590}"/>
              </a:ext>
            </a:extLst>
          </p:cNvPr>
          <p:cNvSpPr>
            <a:spLocks noGrp="1"/>
          </p:cNvSpPr>
          <p:nvPr>
            <p:ph type="title"/>
          </p:nvPr>
        </p:nvSpPr>
        <p:spPr>
          <a:xfrm>
            <a:off x="1661823" y="1346268"/>
            <a:ext cx="8868354" cy="2463667"/>
          </a:xfrm>
        </p:spPr>
        <p:txBody>
          <a:bodyPr vert="horz" lIns="109728" tIns="109728" rIns="109728" bIns="91440" rtlCol="0" anchor="b">
            <a:normAutofit/>
          </a:bodyPr>
          <a:lstStyle/>
          <a:p>
            <a:pPr algn="ctr">
              <a:lnSpc>
                <a:spcPct val="120000"/>
              </a:lnSpc>
            </a:pPr>
            <a:r>
              <a:rPr lang="en-US" sz="6600">
                <a:solidFill>
                  <a:schemeClr val="tx1">
                    <a:lumMod val="85000"/>
                    <a:lumOff val="15000"/>
                  </a:schemeClr>
                </a:solidFill>
              </a:rPr>
              <a:t>Evaluation</a:t>
            </a:r>
          </a:p>
        </p:txBody>
      </p:sp>
      <p:sp>
        <p:nvSpPr>
          <p:cNvPr id="28" name="Freeform: Shape 27">
            <a:extLst>
              <a:ext uri="{FF2B5EF4-FFF2-40B4-BE49-F238E27FC236}">
                <a16:creationId xmlns:a16="http://schemas.microsoft.com/office/drawing/2014/main" id="{FBA7E51E-7B6A-4A79-8F84-47C845C7A2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146277" y="-874927"/>
            <a:ext cx="1899138" cy="12191695"/>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0" name="Freeform: Shape 29">
            <a:extLst>
              <a:ext uri="{FF2B5EF4-FFF2-40B4-BE49-F238E27FC236}">
                <a16:creationId xmlns:a16="http://schemas.microsoft.com/office/drawing/2014/main" id="{03C85561-90D2-4AFA-B2C5-F2D61D86C2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143758" y="-1037574"/>
            <a:ext cx="1904176" cy="12191695"/>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32" name="Freeform: Shape 31">
            <a:extLst>
              <a:ext uri="{FF2B5EF4-FFF2-40B4-BE49-F238E27FC236}">
                <a16:creationId xmlns:a16="http://schemas.microsoft.com/office/drawing/2014/main" id="{9026B71D-5A6F-48FE-AC6A-D7AAA018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247015" y="-1314429"/>
            <a:ext cx="1697663" cy="12191695"/>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 name="Content Placeholder 2">
            <a:extLst>
              <a:ext uri="{FF2B5EF4-FFF2-40B4-BE49-F238E27FC236}">
                <a16:creationId xmlns:a16="http://schemas.microsoft.com/office/drawing/2014/main" id="{089B1070-D277-F1A9-D8FC-2BCE3FE87930}"/>
              </a:ext>
            </a:extLst>
          </p:cNvPr>
          <p:cNvSpPr>
            <a:spLocks noGrp="1"/>
          </p:cNvSpPr>
          <p:nvPr>
            <p:ph idx="1"/>
          </p:nvPr>
        </p:nvSpPr>
        <p:spPr>
          <a:xfrm>
            <a:off x="2619376" y="3809935"/>
            <a:ext cx="6953250" cy="1524066"/>
          </a:xfrm>
        </p:spPr>
        <p:txBody>
          <a:bodyPr vert="horz" lIns="109728" tIns="109728" rIns="109728" bIns="91440" rtlCol="0" anchor="t">
            <a:normAutofit/>
          </a:bodyPr>
          <a:lstStyle/>
          <a:p>
            <a:pPr algn="ctr">
              <a:lnSpc>
                <a:spcPct val="130000"/>
              </a:lnSpc>
            </a:pPr>
            <a:r>
              <a:rPr lang="en-US" sz="2400" dirty="0">
                <a:solidFill>
                  <a:schemeClr val="tx1">
                    <a:lumMod val="85000"/>
                    <a:lumOff val="15000"/>
                  </a:schemeClr>
                </a:solidFill>
              </a:rPr>
              <a:t>They performed their evaluation in context of jeopardy CTF</a:t>
            </a:r>
          </a:p>
        </p:txBody>
      </p:sp>
    </p:spTree>
    <p:extLst>
      <p:ext uri="{BB962C8B-B14F-4D97-AF65-F5344CB8AC3E}">
        <p14:creationId xmlns:p14="http://schemas.microsoft.com/office/powerpoint/2010/main" val="19625104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E1C5B-087A-09C8-9F07-AD90F67ED392}"/>
              </a:ext>
            </a:extLst>
          </p:cNvPr>
          <p:cNvSpPr>
            <a:spLocks noGrp="1"/>
          </p:cNvSpPr>
          <p:nvPr>
            <p:ph type="title"/>
          </p:nvPr>
        </p:nvSpPr>
        <p:spPr/>
        <p:txBody>
          <a:bodyPr/>
          <a:lstStyle/>
          <a:p>
            <a:r>
              <a:rPr lang="en-US" dirty="0"/>
              <a:t>Setup</a:t>
            </a:r>
          </a:p>
        </p:txBody>
      </p:sp>
      <p:sp>
        <p:nvSpPr>
          <p:cNvPr id="3" name="Content Placeholder 2">
            <a:extLst>
              <a:ext uri="{FF2B5EF4-FFF2-40B4-BE49-F238E27FC236}">
                <a16:creationId xmlns:a16="http://schemas.microsoft.com/office/drawing/2014/main" id="{1E10B593-BD61-2BD0-3867-9314712C4EB8}"/>
              </a:ext>
            </a:extLst>
          </p:cNvPr>
          <p:cNvSpPr>
            <a:spLocks noGrp="1"/>
          </p:cNvSpPr>
          <p:nvPr>
            <p:ph idx="1"/>
          </p:nvPr>
        </p:nvSpPr>
        <p:spPr/>
        <p:txBody>
          <a:bodyPr/>
          <a:lstStyle/>
          <a:p>
            <a:pPr marL="285750" indent="-285750">
              <a:buFont typeface="Arial" panose="020B0604020202020204" pitchFamily="34" charset="0"/>
              <a:buChar char="•"/>
            </a:pPr>
            <a:r>
              <a:rPr lang="en-US" dirty="0"/>
              <a:t>Each participating team has one configured honeypot simulating water treatment system.</a:t>
            </a:r>
          </a:p>
          <a:p>
            <a:pPr marL="285750" indent="-285750">
              <a:buFont typeface="Arial" panose="020B0604020202020204" pitchFamily="34" charset="0"/>
              <a:buChar char="•"/>
            </a:pPr>
            <a:r>
              <a:rPr lang="en-US" dirty="0"/>
              <a:t>Each one simulates 4 PLCs, 1 HMI, 2 Water tanks, 1 vulnerable gateway ( no VPN ), and all devices are connected in </a:t>
            </a:r>
            <a:r>
              <a:rPr lang="en-US" b="1" i="1" dirty="0"/>
              <a:t>star-topology</a:t>
            </a:r>
          </a:p>
          <a:p>
            <a:pPr marL="285750" indent="-285750">
              <a:buFont typeface="Arial" panose="020B0604020202020204" pitchFamily="34" charset="0"/>
              <a:buChar char="•"/>
            </a:pPr>
            <a:r>
              <a:rPr lang="en-US" i="1" dirty="0"/>
              <a:t>There are 5 main tasks during the CTF</a:t>
            </a:r>
          </a:p>
        </p:txBody>
      </p:sp>
    </p:spTree>
    <p:extLst>
      <p:ext uri="{BB962C8B-B14F-4D97-AF65-F5344CB8AC3E}">
        <p14:creationId xmlns:p14="http://schemas.microsoft.com/office/powerpoint/2010/main" val="3558447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9C0A-3C3A-26F6-96EA-86B3DFC44BA0}"/>
              </a:ext>
            </a:extLst>
          </p:cNvPr>
          <p:cNvSpPr>
            <a:spLocks noGrp="1"/>
          </p:cNvSpPr>
          <p:nvPr>
            <p:ph type="title"/>
          </p:nvPr>
        </p:nvSpPr>
        <p:spPr/>
        <p:txBody>
          <a:bodyPr/>
          <a:lstStyle/>
          <a:p>
            <a:r>
              <a:rPr lang="en-US" dirty="0"/>
              <a:t>Task1: Passive MITM</a:t>
            </a:r>
          </a:p>
        </p:txBody>
      </p:sp>
      <p:sp>
        <p:nvSpPr>
          <p:cNvPr id="3" name="Content Placeholder 2">
            <a:extLst>
              <a:ext uri="{FF2B5EF4-FFF2-40B4-BE49-F238E27FC236}">
                <a16:creationId xmlns:a16="http://schemas.microsoft.com/office/drawing/2014/main" id="{64FD1818-554B-2E8B-D096-BD2D4CF350B6}"/>
              </a:ext>
            </a:extLst>
          </p:cNvPr>
          <p:cNvSpPr>
            <a:spLocks noGrp="1"/>
          </p:cNvSpPr>
          <p:nvPr>
            <p:ph idx="1"/>
          </p:nvPr>
        </p:nvSpPr>
        <p:spPr/>
        <p:txBody>
          <a:bodyPr/>
          <a:lstStyle/>
          <a:p>
            <a:pPr marL="285750" indent="-285750">
              <a:buFont typeface="Arial" panose="020B0604020202020204" pitchFamily="34" charset="0"/>
              <a:buChar char="•"/>
            </a:pPr>
            <a:r>
              <a:rPr lang="en-US" dirty="0"/>
              <a:t>Teams should read what does PLC2 is saying to PLC3</a:t>
            </a:r>
          </a:p>
        </p:txBody>
      </p:sp>
    </p:spTree>
    <p:extLst>
      <p:ext uri="{BB962C8B-B14F-4D97-AF65-F5344CB8AC3E}">
        <p14:creationId xmlns:p14="http://schemas.microsoft.com/office/powerpoint/2010/main" val="41684433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37437-7935-E3CC-00CD-03965DEF630B}"/>
              </a:ext>
            </a:extLst>
          </p:cNvPr>
          <p:cNvSpPr>
            <a:spLocks noGrp="1"/>
          </p:cNvSpPr>
          <p:nvPr>
            <p:ph type="title"/>
          </p:nvPr>
        </p:nvSpPr>
        <p:spPr/>
        <p:txBody>
          <a:bodyPr/>
          <a:lstStyle/>
          <a:p>
            <a:r>
              <a:rPr lang="en-US" dirty="0"/>
              <a:t>Task2: Understanding Ethernet/IP</a:t>
            </a:r>
          </a:p>
        </p:txBody>
      </p:sp>
      <p:sp>
        <p:nvSpPr>
          <p:cNvPr id="3" name="Content Placeholder 2">
            <a:extLst>
              <a:ext uri="{FF2B5EF4-FFF2-40B4-BE49-F238E27FC236}">
                <a16:creationId xmlns:a16="http://schemas.microsoft.com/office/drawing/2014/main" id="{B2592637-D1CC-FD20-1854-EA71CC363B9A}"/>
              </a:ext>
            </a:extLst>
          </p:cNvPr>
          <p:cNvSpPr>
            <a:spLocks noGrp="1"/>
          </p:cNvSpPr>
          <p:nvPr>
            <p:ph idx="1"/>
          </p:nvPr>
        </p:nvSpPr>
        <p:spPr>
          <a:xfrm>
            <a:off x="715107" y="2312275"/>
            <a:ext cx="11230707" cy="4463663"/>
          </a:xfrm>
        </p:spPr>
        <p:txBody>
          <a:bodyPr>
            <a:normAutofit fontScale="85000" lnSpcReduction="20000"/>
          </a:bodyPr>
          <a:lstStyle/>
          <a:p>
            <a:pPr marL="285750" indent="-285750">
              <a:buFont typeface="Arial" panose="020B0604020202020204" pitchFamily="34" charset="0"/>
              <a:buChar char="•"/>
            </a:pPr>
            <a:r>
              <a:rPr lang="en-US" dirty="0"/>
              <a:t>Teams should read a file called README:2 tag.</a:t>
            </a:r>
          </a:p>
          <a:p>
            <a:pPr marL="285750" indent="-285750">
              <a:buFont typeface="Arial" panose="020B0604020202020204" pitchFamily="34" charset="0"/>
              <a:buChar char="•"/>
            </a:pPr>
            <a:r>
              <a:rPr lang="en-US" dirty="0"/>
              <a:t>So, attacker should understand what is Ethernet/IP server</a:t>
            </a:r>
          </a:p>
          <a:p>
            <a:pPr marL="285750" indent="-285750">
              <a:buFont typeface="Arial" panose="020B0604020202020204" pitchFamily="34" charset="0"/>
              <a:buChar char="•"/>
            </a:pPr>
            <a:r>
              <a:rPr lang="en-US" dirty="0"/>
              <a:t>This can be done using python module called </a:t>
            </a:r>
            <a:r>
              <a:rPr lang="en-US" dirty="0" err="1"/>
              <a:t>cpppo</a:t>
            </a:r>
            <a:r>
              <a:rPr lang="en-US" dirty="0"/>
              <a:t>.</a:t>
            </a:r>
          </a:p>
          <a:p>
            <a:pPr marL="285750" indent="-285750">
              <a:buFont typeface="Arial" panose="020B0604020202020204" pitchFamily="34" charset="0"/>
              <a:buChar char="•"/>
            </a:pPr>
            <a:r>
              <a:rPr lang="en-US" dirty="0" err="1">
                <a:hlinkClick r:id="rId3"/>
              </a:rPr>
              <a:t>cpppo</a:t>
            </a:r>
            <a:r>
              <a:rPr lang="en-US" dirty="0"/>
              <a:t> is short for Communications Protocol Python Parser and Originator, it is a python-based library and toolset designed for interacting with Industrial protocols, </a:t>
            </a:r>
            <a:r>
              <a:rPr lang="en-US" dirty="0" err="1"/>
              <a:t>particulary</a:t>
            </a:r>
            <a:r>
              <a:rPr lang="en-US" dirty="0"/>
              <a:t> those used in ICS/SCADA networks</a:t>
            </a:r>
          </a:p>
          <a:p>
            <a:pPr marL="285750" indent="-285750">
              <a:buFont typeface="Arial" panose="020B0604020202020204" pitchFamily="34" charset="0"/>
              <a:buChar char="•"/>
            </a:pPr>
            <a:r>
              <a:rPr lang="en-US" dirty="0"/>
              <a:t>It allows to Query/Scan, Write to, Monitor CIP tags like the README:2 tag mentioned in task2, emulate Ethernet/IP server devices</a:t>
            </a:r>
          </a:p>
          <a:p>
            <a:pPr marL="285750" indent="-285750">
              <a:buFont typeface="Arial" panose="020B0604020202020204" pitchFamily="34" charset="0"/>
              <a:buChar char="•"/>
            </a:pPr>
            <a:r>
              <a:rPr lang="en-US" dirty="0" err="1"/>
              <a:t>Scapy</a:t>
            </a:r>
            <a:r>
              <a:rPr lang="en-US" dirty="0"/>
              <a:t> is low level packet crafting, sniffing, and manipulation library, but it is general purpose, while </a:t>
            </a:r>
            <a:r>
              <a:rPr lang="en-US" dirty="0" err="1"/>
              <a:t>cpppo</a:t>
            </a:r>
            <a:r>
              <a:rPr lang="en-US" dirty="0"/>
              <a:t> is special library for handling Ethernet/IP protocol packets especially used in ICS systems</a:t>
            </a:r>
          </a:p>
          <a:p>
            <a:pPr marL="285750" indent="-285750">
              <a:buFont typeface="Arial" panose="020B0604020202020204" pitchFamily="34" charset="0"/>
              <a:buChar char="•"/>
            </a:pPr>
            <a:r>
              <a:rPr lang="en-US" dirty="0" err="1"/>
              <a:t>cpppo</a:t>
            </a:r>
            <a:r>
              <a:rPr lang="en-US" dirty="0"/>
              <a:t> describe elements in form of </a:t>
            </a:r>
            <a:r>
              <a:rPr lang="en-US" dirty="0" err="1"/>
              <a:t>statemachines</a:t>
            </a:r>
            <a:r>
              <a:rPr lang="en-US" dirty="0"/>
              <a:t> which change the state in response to input events, collecting data, and producing output data artifacts.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6158389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15CBB-0728-7E69-C7A0-D821480B95AE}"/>
              </a:ext>
            </a:extLst>
          </p:cNvPr>
          <p:cNvSpPr>
            <a:spLocks noGrp="1"/>
          </p:cNvSpPr>
          <p:nvPr>
            <p:ph type="title"/>
          </p:nvPr>
        </p:nvSpPr>
        <p:spPr/>
        <p:txBody>
          <a:bodyPr/>
          <a:lstStyle/>
          <a:p>
            <a:r>
              <a:rPr lang="en-US" dirty="0"/>
              <a:t>Task3: Active MITM </a:t>
            </a:r>
          </a:p>
        </p:txBody>
      </p:sp>
      <p:sp>
        <p:nvSpPr>
          <p:cNvPr id="3" name="Content Placeholder 2">
            <a:extLst>
              <a:ext uri="{FF2B5EF4-FFF2-40B4-BE49-F238E27FC236}">
                <a16:creationId xmlns:a16="http://schemas.microsoft.com/office/drawing/2014/main" id="{3345D405-C3C2-6167-FDBB-2610AC25EAD7}"/>
              </a:ext>
            </a:extLst>
          </p:cNvPr>
          <p:cNvSpPr>
            <a:spLocks noGrp="1"/>
          </p:cNvSpPr>
          <p:nvPr>
            <p:ph idx="1"/>
          </p:nvPr>
        </p:nvSpPr>
        <p:spPr/>
        <p:txBody>
          <a:bodyPr/>
          <a:lstStyle/>
          <a:p>
            <a:pPr marL="285750" indent="-285750">
              <a:buFont typeface="Arial" panose="020B0604020202020204" pitchFamily="34" charset="0"/>
              <a:buChar char="•"/>
            </a:pPr>
            <a:r>
              <a:rPr lang="en-US" dirty="0"/>
              <a:t>Teams should overflow Raw water tank</a:t>
            </a:r>
          </a:p>
          <a:p>
            <a:pPr marL="285750" indent="-285750">
              <a:buFont typeface="Arial" panose="020B0604020202020204" pitchFamily="34" charset="0"/>
              <a:buChar char="•"/>
            </a:pPr>
            <a:r>
              <a:rPr lang="en-US" dirty="0"/>
              <a:t>Attacker should understand the water treatment industrial control system, and know that PLC1 is the controller of the of the raw water tank</a:t>
            </a:r>
          </a:p>
          <a:p>
            <a:pPr marL="285750" indent="-285750">
              <a:buFont typeface="Arial" panose="020B0604020202020204" pitchFamily="34" charset="0"/>
              <a:buChar char="•"/>
            </a:pPr>
            <a:r>
              <a:rPr lang="en-US" dirty="0"/>
              <a:t>And PLC1 controls input valve, and output pump, and he must send malicious commands, in order to overflow the water tank</a:t>
            </a:r>
          </a:p>
        </p:txBody>
      </p:sp>
    </p:spTree>
    <p:extLst>
      <p:ext uri="{BB962C8B-B14F-4D97-AF65-F5344CB8AC3E}">
        <p14:creationId xmlns:p14="http://schemas.microsoft.com/office/powerpoint/2010/main" val="33512586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CD324-A27D-6E86-6062-C47E11834DB3}"/>
              </a:ext>
            </a:extLst>
          </p:cNvPr>
          <p:cNvSpPr>
            <a:spLocks noGrp="1"/>
          </p:cNvSpPr>
          <p:nvPr>
            <p:ph type="title"/>
          </p:nvPr>
        </p:nvSpPr>
        <p:spPr/>
        <p:txBody>
          <a:bodyPr/>
          <a:lstStyle/>
          <a:p>
            <a:r>
              <a:rPr lang="en-US" dirty="0"/>
              <a:t>Task4: DOS HMI</a:t>
            </a:r>
          </a:p>
        </p:txBody>
      </p:sp>
      <p:sp>
        <p:nvSpPr>
          <p:cNvPr id="3" name="Content Placeholder 2">
            <a:extLst>
              <a:ext uri="{FF2B5EF4-FFF2-40B4-BE49-F238E27FC236}">
                <a16:creationId xmlns:a16="http://schemas.microsoft.com/office/drawing/2014/main" id="{07DB01B3-C57F-E7EE-9145-34A5BC11D145}"/>
              </a:ext>
            </a:extLst>
          </p:cNvPr>
          <p:cNvSpPr>
            <a:spLocks noGrp="1"/>
          </p:cNvSpPr>
          <p:nvPr>
            <p:ph idx="1"/>
          </p:nvPr>
        </p:nvSpPr>
        <p:spPr/>
        <p:txBody>
          <a:bodyPr/>
          <a:lstStyle/>
          <a:p>
            <a:pPr marL="285750" indent="-285750">
              <a:buFont typeface="Arial" panose="020B0604020202020204" pitchFamily="34" charset="0"/>
              <a:buChar char="•"/>
            </a:pPr>
            <a:r>
              <a:rPr lang="en-US" dirty="0"/>
              <a:t>PLC3 is constantly sending keep alive value:2 to HMI</a:t>
            </a:r>
          </a:p>
          <a:p>
            <a:pPr marL="285750" indent="-285750">
              <a:buFont typeface="Arial" panose="020B0604020202020204" pitchFamily="34" charset="0"/>
              <a:buChar char="•"/>
            </a:pPr>
            <a:r>
              <a:rPr lang="en-US" dirty="0"/>
              <a:t>So, attacker should disrupt this communication, then write to the HMI value:3</a:t>
            </a:r>
          </a:p>
        </p:txBody>
      </p:sp>
    </p:spTree>
    <p:extLst>
      <p:ext uri="{BB962C8B-B14F-4D97-AF65-F5344CB8AC3E}">
        <p14:creationId xmlns:p14="http://schemas.microsoft.com/office/powerpoint/2010/main" val="3882873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19A64-CD0D-C346-8421-BE75EC8016D9}"/>
              </a:ext>
            </a:extLst>
          </p:cNvPr>
          <p:cNvSpPr>
            <a:spLocks noGrp="1"/>
          </p:cNvSpPr>
          <p:nvPr>
            <p:ph type="title"/>
          </p:nvPr>
        </p:nvSpPr>
        <p:spPr/>
        <p:txBody>
          <a:bodyPr/>
          <a:lstStyle/>
          <a:p>
            <a:r>
              <a:rPr lang="en-US" dirty="0"/>
              <a:t>Task5: Advanced Overflow</a:t>
            </a:r>
          </a:p>
        </p:txBody>
      </p:sp>
      <p:sp>
        <p:nvSpPr>
          <p:cNvPr id="3" name="Content Placeholder 2">
            <a:extLst>
              <a:ext uri="{FF2B5EF4-FFF2-40B4-BE49-F238E27FC236}">
                <a16:creationId xmlns:a16="http://schemas.microsoft.com/office/drawing/2014/main" id="{EC2B9467-9E14-63C3-AFB4-B8C8D28F39EF}"/>
              </a:ext>
            </a:extLst>
          </p:cNvPr>
          <p:cNvSpPr>
            <a:spLocks noGrp="1"/>
          </p:cNvSpPr>
          <p:nvPr>
            <p:ph idx="1"/>
          </p:nvPr>
        </p:nvSpPr>
        <p:spPr/>
        <p:txBody>
          <a:bodyPr/>
          <a:lstStyle/>
          <a:p>
            <a:pPr marL="285750" indent="-285750">
              <a:buFont typeface="Arial" panose="020B0604020202020204" pitchFamily="34" charset="0"/>
              <a:buChar char="•"/>
            </a:pPr>
            <a:r>
              <a:rPr lang="en-US" dirty="0"/>
              <a:t>PLC4 is controlling water level, and also controls another input valve, and output pump</a:t>
            </a:r>
          </a:p>
          <a:p>
            <a:pPr marL="285750" indent="-285750">
              <a:buFont typeface="Arial" panose="020B0604020202020204" pitchFamily="34" charset="0"/>
              <a:buChar char="•"/>
            </a:pPr>
            <a:r>
              <a:rPr lang="en-US" dirty="0"/>
              <a:t>He can not use the same technique used in Task3, and it was not mentioned how he can handle this, but he should use better technique. </a:t>
            </a:r>
          </a:p>
        </p:txBody>
      </p:sp>
    </p:spTree>
    <p:extLst>
      <p:ext uri="{BB962C8B-B14F-4D97-AF65-F5344CB8AC3E}">
        <p14:creationId xmlns:p14="http://schemas.microsoft.com/office/powerpoint/2010/main" val="9189532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9B0F7D69-D93C-4C38-A23D-76E000D69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Freeform: Shape 11">
            <a:extLst>
              <a:ext uri="{FF2B5EF4-FFF2-40B4-BE49-F238E27FC236}">
                <a16:creationId xmlns:a16="http://schemas.microsoft.com/office/drawing/2014/main" id="{8CD419D4-EA9D-42D9-BF62-B07F0B7B67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4" name="Freeform: Shape 13">
            <a:extLst>
              <a:ext uri="{FF2B5EF4-FFF2-40B4-BE49-F238E27FC236}">
                <a16:creationId xmlns:a16="http://schemas.microsoft.com/office/drawing/2014/main" id="{1C6FEC9B-9608-4181-A9E5-A1B80E720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16" name="Freeform: Shape 15">
            <a:extLst>
              <a:ext uri="{FF2B5EF4-FFF2-40B4-BE49-F238E27FC236}">
                <a16:creationId xmlns:a16="http://schemas.microsoft.com/office/drawing/2014/main" id="{AB1564ED-F26F-451D-97D6-A6EC3E83FD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8" name="Freeform: Shape 17">
            <a:extLst>
              <a:ext uri="{FF2B5EF4-FFF2-40B4-BE49-F238E27FC236}">
                <a16:creationId xmlns:a16="http://schemas.microsoft.com/office/drawing/2014/main" id="{0CA184B6-3482-4F43-87F0-BC765DCFD8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6C869923-8380-4244-9548-802C33063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2" name="Freeform: Shape 21">
            <a:extLst>
              <a:ext uri="{FF2B5EF4-FFF2-40B4-BE49-F238E27FC236}">
                <a16:creationId xmlns:a16="http://schemas.microsoft.com/office/drawing/2014/main" id="{C06255F2-BC67-4DDE-B34E-AC4BA21838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4" name="Freeform: Shape 23">
            <a:extLst>
              <a:ext uri="{FF2B5EF4-FFF2-40B4-BE49-F238E27FC236}">
                <a16:creationId xmlns:a16="http://schemas.microsoft.com/office/drawing/2014/main" id="{55169443-FCCD-4C0A-8C69-18CD3FA09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useBgFill="1">
        <p:nvSpPr>
          <p:cNvPr id="26" name="Rectangle 25">
            <a:extLst>
              <a:ext uri="{FF2B5EF4-FFF2-40B4-BE49-F238E27FC236}">
                <a16:creationId xmlns:a16="http://schemas.microsoft.com/office/drawing/2014/main" id="{AC8EEB0F-BA72-49AC-956F-331B60FDE7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8" name="Freeform: Shape 27">
            <a:extLst>
              <a:ext uri="{FF2B5EF4-FFF2-40B4-BE49-F238E27FC236}">
                <a16:creationId xmlns:a16="http://schemas.microsoft.com/office/drawing/2014/main" id="{8CC700D5-9809-43F4-89D5-7DBBCB0DC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02296" y="1287887"/>
            <a:ext cx="4523890" cy="4187191"/>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 name="Freeform: Shape 29">
            <a:extLst>
              <a:ext uri="{FF2B5EF4-FFF2-40B4-BE49-F238E27FC236}">
                <a16:creationId xmlns:a16="http://schemas.microsoft.com/office/drawing/2014/main" id="{C7163242-6303-46DC-BAC1-2A204F061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051182" y="1382922"/>
            <a:ext cx="4174735" cy="3941951"/>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2" name="Freeform: Shape 31">
            <a:extLst>
              <a:ext uri="{FF2B5EF4-FFF2-40B4-BE49-F238E27FC236}">
                <a16:creationId xmlns:a16="http://schemas.microsoft.com/office/drawing/2014/main" id="{805C4C40-D70E-4C4F-B228-98A0A6132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300000" flipH="1">
            <a:off x="6733248" y="1097468"/>
            <a:ext cx="4908132" cy="461391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EF771819-94B8-BBC6-77EF-BBC36EE1CE46}"/>
              </a:ext>
            </a:extLst>
          </p:cNvPr>
          <p:cNvSpPr>
            <a:spLocks noGrp="1"/>
          </p:cNvSpPr>
          <p:nvPr>
            <p:ph type="title"/>
          </p:nvPr>
        </p:nvSpPr>
        <p:spPr>
          <a:xfrm>
            <a:off x="7430501" y="1847596"/>
            <a:ext cx="3459760" cy="2186393"/>
          </a:xfrm>
        </p:spPr>
        <p:txBody>
          <a:bodyPr vert="horz" lIns="109728" tIns="109728" rIns="109728" bIns="91440" rtlCol="0" anchor="b">
            <a:normAutofit/>
          </a:bodyPr>
          <a:lstStyle/>
          <a:p>
            <a:pPr algn="ctr">
              <a:lnSpc>
                <a:spcPct val="120000"/>
              </a:lnSpc>
            </a:pPr>
            <a:r>
              <a:rPr lang="en-US" sz="3600"/>
              <a:t>Results</a:t>
            </a:r>
          </a:p>
        </p:txBody>
      </p:sp>
      <p:pic>
        <p:nvPicPr>
          <p:cNvPr id="5" name="Content Placeholder 4">
            <a:extLst>
              <a:ext uri="{FF2B5EF4-FFF2-40B4-BE49-F238E27FC236}">
                <a16:creationId xmlns:a16="http://schemas.microsoft.com/office/drawing/2014/main" id="{880416C5-24DA-670C-3DD5-E0C47EE60DAC}"/>
              </a:ext>
            </a:extLst>
          </p:cNvPr>
          <p:cNvPicPr>
            <a:picLocks noGrp="1" noChangeAspect="1"/>
          </p:cNvPicPr>
          <p:nvPr>
            <p:ph idx="1"/>
          </p:nvPr>
        </p:nvPicPr>
        <p:blipFill>
          <a:blip r:embed="rId2"/>
          <a:stretch>
            <a:fillRect/>
          </a:stretch>
        </p:blipFill>
        <p:spPr>
          <a:xfrm>
            <a:off x="1375409" y="313256"/>
            <a:ext cx="3879100" cy="6231488"/>
          </a:xfrm>
          <a:prstGeom prst="rect">
            <a:avLst/>
          </a:prstGeom>
        </p:spPr>
      </p:pic>
    </p:spTree>
    <p:extLst>
      <p:ext uri="{BB962C8B-B14F-4D97-AF65-F5344CB8AC3E}">
        <p14:creationId xmlns:p14="http://schemas.microsoft.com/office/powerpoint/2010/main" val="26513036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73E28-0930-88FB-9A1A-1599D8C822FF}"/>
              </a:ext>
            </a:extLst>
          </p:cNvPr>
          <p:cNvSpPr>
            <a:spLocks noGrp="1"/>
          </p:cNvSpPr>
          <p:nvPr>
            <p:ph type="title"/>
          </p:nvPr>
        </p:nvSpPr>
        <p:spPr/>
        <p:txBody>
          <a:bodyPr/>
          <a:lstStyle/>
          <a:p>
            <a:r>
              <a:rPr lang="en-US" dirty="0"/>
              <a:t>Limitations</a:t>
            </a:r>
          </a:p>
        </p:txBody>
      </p:sp>
      <p:graphicFrame>
        <p:nvGraphicFramePr>
          <p:cNvPr id="5" name="Content Placeholder 2">
            <a:extLst>
              <a:ext uri="{FF2B5EF4-FFF2-40B4-BE49-F238E27FC236}">
                <a16:creationId xmlns:a16="http://schemas.microsoft.com/office/drawing/2014/main" id="{97593C3A-D6C3-44D4-07AE-E7F8D2B6C58F}"/>
              </a:ext>
            </a:extLst>
          </p:cNvPr>
          <p:cNvGraphicFramePr>
            <a:graphicFrameLocks noGrp="1"/>
          </p:cNvGraphicFramePr>
          <p:nvPr>
            <p:ph idx="1"/>
            <p:extLst>
              <p:ext uri="{D42A27DB-BD31-4B8C-83A1-F6EECF244321}">
                <p14:modId xmlns:p14="http://schemas.microsoft.com/office/powerpoint/2010/main" val="647830948"/>
              </p:ext>
            </p:extLst>
          </p:nvPr>
        </p:nvGraphicFramePr>
        <p:xfrm>
          <a:off x="1920240" y="2312276"/>
          <a:ext cx="8770571" cy="3651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59336608"/>
      </p:ext>
    </p:extLst>
  </p:cSld>
  <p:clrMapOvr>
    <a:masterClrMapping/>
  </p:clrMapOvr>
</p:sld>
</file>

<file path=ppt/theme/theme1.xml><?xml version="1.0" encoding="utf-8"?>
<a:theme xmlns:a="http://schemas.openxmlformats.org/drawingml/2006/main" name="SketchLinesVTI">
  <a:themeElements>
    <a:clrScheme name="SketchLines">
      <a:dk1>
        <a:sysClr val="windowText" lastClr="000000"/>
      </a:dk1>
      <a:lt1>
        <a:sysClr val="window" lastClr="FFFFFF"/>
      </a:lt1>
      <a:dk2>
        <a:srgbClr val="564E4E"/>
      </a:dk2>
      <a:lt2>
        <a:srgbClr val="EEEBE2"/>
      </a:lt2>
      <a:accent1>
        <a:srgbClr val="E54837"/>
      </a:accent1>
      <a:accent2>
        <a:srgbClr val="947F53"/>
      </a:accent2>
      <a:accent3>
        <a:srgbClr val="BE8D64"/>
      </a:accent3>
      <a:accent4>
        <a:srgbClr val="E0C171"/>
      </a:accent4>
      <a:accent5>
        <a:srgbClr val="968572"/>
      </a:accent5>
      <a:accent6>
        <a:srgbClr val="855D5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LinesVTI" id="{8C0B0F05-C8D0-4078-9615-83E590287484}" vid="{43A7BC57-C1E3-4EE6-BDBC-5422DD574A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499</TotalTime>
  <Words>1739</Words>
  <Application>Microsoft Office PowerPoint</Application>
  <PresentationFormat>Widescreen</PresentationFormat>
  <Paragraphs>161</Paragraphs>
  <Slides>27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Meiryo</vt:lpstr>
      <vt:lpstr>Aptos</vt:lpstr>
      <vt:lpstr>Arial</vt:lpstr>
      <vt:lpstr>Corbel</vt:lpstr>
      <vt:lpstr>Wingdings</vt:lpstr>
      <vt:lpstr>SketchLinesVTI</vt:lpstr>
      <vt:lpstr>Toward-High-interactive Honeypots</vt:lpstr>
      <vt:lpstr>Main purpose</vt:lpstr>
      <vt:lpstr>Main components</vt:lpstr>
      <vt:lpstr>MiniCPS</vt:lpstr>
      <vt:lpstr>Emulation vs Simulation</vt:lpstr>
      <vt:lpstr>How to simulate the physical processes </vt:lpstr>
      <vt:lpstr>Attacker Model</vt:lpstr>
      <vt:lpstr>Attacker knowledge</vt:lpstr>
      <vt:lpstr>What are possible actions of the attacker</vt:lpstr>
      <vt:lpstr>What else can be compromised?</vt:lpstr>
      <vt:lpstr>Attacker prevention for getting root access</vt:lpstr>
      <vt:lpstr>Typical methods to prevent root access</vt:lpstr>
      <vt:lpstr>Implementation</vt:lpstr>
      <vt:lpstr>1. Vulnerable VPN</vt:lpstr>
      <vt:lpstr>2. Vulnerable Gateway</vt:lpstr>
      <vt:lpstr>3. Network Emulation</vt:lpstr>
      <vt:lpstr>4. Physical Process</vt:lpstr>
      <vt:lpstr>Implementation benefits and risks</vt:lpstr>
      <vt:lpstr>Evaluation</vt:lpstr>
      <vt:lpstr>Setup</vt:lpstr>
      <vt:lpstr>Task1: Passive MITM</vt:lpstr>
      <vt:lpstr>Task2: Understanding Ethernet/IP</vt:lpstr>
      <vt:lpstr>Task3: Active MITM </vt:lpstr>
      <vt:lpstr>Task4: DOS HMI</vt:lpstr>
      <vt:lpstr>Task5: Advanced Overflow</vt:lpstr>
      <vt:lpstr>Results</vt:lpstr>
      <vt:lpstr>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عبدالعزيز صلاح محمد عبده نعمه الله</dc:creator>
  <cp:lastModifiedBy>عبدالعزيز صلاح محمد عبده نعمه الله</cp:lastModifiedBy>
  <cp:revision>15</cp:revision>
  <dcterms:created xsi:type="dcterms:W3CDTF">2025-07-07T15:16:05Z</dcterms:created>
  <dcterms:modified xsi:type="dcterms:W3CDTF">2025-08-08T08:25:25Z</dcterms:modified>
</cp:coreProperties>
</file>