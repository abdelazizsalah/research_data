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26"/>
  </p:notesMasterIdLst>
  <p:sldIdLst>
    <p:sldId id="256" r:id="rId2"/>
    <p:sldId id="257" r:id="rId3"/>
    <p:sldId id="258" r:id="rId4"/>
    <p:sldId id="259" r:id="rId5"/>
    <p:sldId id="260" r:id="rId6"/>
    <p:sldId id="262" r:id="rId7"/>
    <p:sldId id="263" r:id="rId8"/>
    <p:sldId id="261" r:id="rId9"/>
    <p:sldId id="265" r:id="rId10"/>
    <p:sldId id="264"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69"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79" autoAdjust="0"/>
    <p:restoredTop sz="66505" autoAdjust="0"/>
  </p:normalViewPr>
  <p:slideViewPr>
    <p:cSldViewPr snapToGrid="0">
      <p:cViewPr varScale="1">
        <p:scale>
          <a:sx n="72" d="100"/>
          <a:sy n="72" d="100"/>
        </p:scale>
        <p:origin x="2337"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921D06-9099-4B27-A213-0B53CEFED8B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5CF3C766-5A99-4A66-B902-1F247F881793}">
      <dgm:prSet/>
      <dgm:spPr/>
      <dgm:t>
        <a:bodyPr/>
        <a:lstStyle/>
        <a:p>
          <a:r>
            <a:rPr lang="en-US" dirty="0"/>
            <a:t>1. Limitations of existing state-of-the-art honeypots</a:t>
          </a:r>
        </a:p>
      </dgm:t>
    </dgm:pt>
    <dgm:pt modelId="{B4117937-B604-42AF-9F4F-32F5D75DC93D}" type="parTrans" cxnId="{351B2B22-8CEA-421D-8E11-504B963A7273}">
      <dgm:prSet/>
      <dgm:spPr/>
      <dgm:t>
        <a:bodyPr/>
        <a:lstStyle/>
        <a:p>
          <a:endParaRPr lang="en-US"/>
        </a:p>
      </dgm:t>
    </dgm:pt>
    <dgm:pt modelId="{CF849F5C-D4C2-470D-B280-0F780575AA9A}" type="sibTrans" cxnId="{351B2B22-8CEA-421D-8E11-504B963A7273}">
      <dgm:prSet/>
      <dgm:spPr/>
      <dgm:t>
        <a:bodyPr/>
        <a:lstStyle/>
        <a:p>
          <a:endParaRPr lang="en-US"/>
        </a:p>
      </dgm:t>
    </dgm:pt>
    <dgm:pt modelId="{F63F0D46-E1CD-497B-9573-D770736395B9}">
      <dgm:prSet/>
      <dgm:spPr/>
      <dgm:t>
        <a:bodyPr/>
        <a:lstStyle/>
        <a:p>
          <a:r>
            <a:rPr lang="en-US"/>
            <a:t>2. HoneyPLC which solves many of the limitations</a:t>
          </a:r>
        </a:p>
      </dgm:t>
    </dgm:pt>
    <dgm:pt modelId="{575DFE2C-0E60-48E9-A7EE-002375D35588}" type="parTrans" cxnId="{18F4A1B4-DC01-4B15-9A48-1F565A8E657C}">
      <dgm:prSet/>
      <dgm:spPr/>
      <dgm:t>
        <a:bodyPr/>
        <a:lstStyle/>
        <a:p>
          <a:endParaRPr lang="en-US"/>
        </a:p>
      </dgm:t>
    </dgm:pt>
    <dgm:pt modelId="{B8B6C8AE-39EB-4B66-977E-4B8FB056A620}" type="sibTrans" cxnId="{18F4A1B4-DC01-4B15-9A48-1F565A8E657C}">
      <dgm:prSet/>
      <dgm:spPr/>
      <dgm:t>
        <a:bodyPr/>
        <a:lstStyle/>
        <a:p>
          <a:endParaRPr lang="en-US"/>
        </a:p>
      </dgm:t>
    </dgm:pt>
    <dgm:pt modelId="{5B478C2D-5D59-4657-AA8D-F6E3FBEB5D6C}">
      <dgm:prSet/>
      <dgm:spPr/>
      <dgm:t>
        <a:bodyPr/>
        <a:lstStyle/>
        <a:p>
          <a:r>
            <a:rPr lang="en-US"/>
            <a:t>3. PLC profiler tool, which allows effective simulation of many different PLCs</a:t>
          </a:r>
        </a:p>
      </dgm:t>
    </dgm:pt>
    <dgm:pt modelId="{E0029BD9-D386-4109-8B5E-BAE82734F05E}" type="parTrans" cxnId="{18AC879C-6CB2-4857-ACFD-B6CEBFCBBD8C}">
      <dgm:prSet/>
      <dgm:spPr/>
      <dgm:t>
        <a:bodyPr/>
        <a:lstStyle/>
        <a:p>
          <a:endParaRPr lang="en-US"/>
        </a:p>
      </dgm:t>
    </dgm:pt>
    <dgm:pt modelId="{EAE611A2-2EA4-4B4E-86A4-BB12CE8DD3E1}" type="sibTrans" cxnId="{18AC879C-6CB2-4857-ACFD-B6CEBFCBBD8C}">
      <dgm:prSet/>
      <dgm:spPr/>
      <dgm:t>
        <a:bodyPr/>
        <a:lstStyle/>
        <a:p>
          <a:endParaRPr lang="en-US"/>
        </a:p>
      </dgm:t>
    </dgm:pt>
    <dgm:pt modelId="{2A4A6600-51F3-484C-BD0F-D7E2A79AEF92}">
      <dgm:prSet/>
      <dgm:spPr/>
      <dgm:t>
        <a:bodyPr/>
        <a:lstStyle/>
        <a:p>
          <a:r>
            <a:rPr lang="en-US"/>
            <a:t>4. Experimental evidence showing that the honeypot is effective.</a:t>
          </a:r>
        </a:p>
      </dgm:t>
    </dgm:pt>
    <dgm:pt modelId="{09377FCD-F8F7-4763-BEC6-02CB80A34522}" type="parTrans" cxnId="{6FD48106-2273-4103-A08D-4A7E656B4537}">
      <dgm:prSet/>
      <dgm:spPr/>
      <dgm:t>
        <a:bodyPr/>
        <a:lstStyle/>
        <a:p>
          <a:endParaRPr lang="en-US"/>
        </a:p>
      </dgm:t>
    </dgm:pt>
    <dgm:pt modelId="{D48E42C0-E5C3-45ED-90C4-F95CFD7A9712}" type="sibTrans" cxnId="{6FD48106-2273-4103-A08D-4A7E656B4537}">
      <dgm:prSet/>
      <dgm:spPr/>
      <dgm:t>
        <a:bodyPr/>
        <a:lstStyle/>
        <a:p>
          <a:endParaRPr lang="en-US"/>
        </a:p>
      </dgm:t>
    </dgm:pt>
    <dgm:pt modelId="{F16B4CF4-A047-414C-B09E-7CDF20BEAA7D}" type="pres">
      <dgm:prSet presAssocID="{D2921D06-9099-4B27-A213-0B53CEFED8BB}" presName="linear" presStyleCnt="0">
        <dgm:presLayoutVars>
          <dgm:animLvl val="lvl"/>
          <dgm:resizeHandles val="exact"/>
        </dgm:presLayoutVars>
      </dgm:prSet>
      <dgm:spPr/>
    </dgm:pt>
    <dgm:pt modelId="{4B718A69-3AEC-4DAD-968D-37986F4F34B5}" type="pres">
      <dgm:prSet presAssocID="{5CF3C766-5A99-4A66-B902-1F247F881793}" presName="parentText" presStyleLbl="node1" presStyleIdx="0" presStyleCnt="4">
        <dgm:presLayoutVars>
          <dgm:chMax val="0"/>
          <dgm:bulletEnabled val="1"/>
        </dgm:presLayoutVars>
      </dgm:prSet>
      <dgm:spPr/>
    </dgm:pt>
    <dgm:pt modelId="{31CAFC86-589C-45B7-94ED-70A715EB7C06}" type="pres">
      <dgm:prSet presAssocID="{CF849F5C-D4C2-470D-B280-0F780575AA9A}" presName="spacer" presStyleCnt="0"/>
      <dgm:spPr/>
    </dgm:pt>
    <dgm:pt modelId="{610F6878-5BFE-457D-A37D-ADB591E8B753}" type="pres">
      <dgm:prSet presAssocID="{F63F0D46-E1CD-497B-9573-D770736395B9}" presName="parentText" presStyleLbl="node1" presStyleIdx="1" presStyleCnt="4">
        <dgm:presLayoutVars>
          <dgm:chMax val="0"/>
          <dgm:bulletEnabled val="1"/>
        </dgm:presLayoutVars>
      </dgm:prSet>
      <dgm:spPr/>
    </dgm:pt>
    <dgm:pt modelId="{0AB059D1-5E89-4FA5-8BD1-98587377A331}" type="pres">
      <dgm:prSet presAssocID="{B8B6C8AE-39EB-4B66-977E-4B8FB056A620}" presName="spacer" presStyleCnt="0"/>
      <dgm:spPr/>
    </dgm:pt>
    <dgm:pt modelId="{71080F24-338C-4D4D-B998-DF438B8619DF}" type="pres">
      <dgm:prSet presAssocID="{5B478C2D-5D59-4657-AA8D-F6E3FBEB5D6C}" presName="parentText" presStyleLbl="node1" presStyleIdx="2" presStyleCnt="4">
        <dgm:presLayoutVars>
          <dgm:chMax val="0"/>
          <dgm:bulletEnabled val="1"/>
        </dgm:presLayoutVars>
      </dgm:prSet>
      <dgm:spPr/>
    </dgm:pt>
    <dgm:pt modelId="{65DC7983-9F47-4206-8675-8EB8A370D215}" type="pres">
      <dgm:prSet presAssocID="{EAE611A2-2EA4-4B4E-86A4-BB12CE8DD3E1}" presName="spacer" presStyleCnt="0"/>
      <dgm:spPr/>
    </dgm:pt>
    <dgm:pt modelId="{75687AD7-2665-4974-9143-BDBEE2C6A138}" type="pres">
      <dgm:prSet presAssocID="{2A4A6600-51F3-484C-BD0F-D7E2A79AEF92}" presName="parentText" presStyleLbl="node1" presStyleIdx="3" presStyleCnt="4">
        <dgm:presLayoutVars>
          <dgm:chMax val="0"/>
          <dgm:bulletEnabled val="1"/>
        </dgm:presLayoutVars>
      </dgm:prSet>
      <dgm:spPr/>
    </dgm:pt>
  </dgm:ptLst>
  <dgm:cxnLst>
    <dgm:cxn modelId="{6FD48106-2273-4103-A08D-4A7E656B4537}" srcId="{D2921D06-9099-4B27-A213-0B53CEFED8BB}" destId="{2A4A6600-51F3-484C-BD0F-D7E2A79AEF92}" srcOrd="3" destOrd="0" parTransId="{09377FCD-F8F7-4763-BEC6-02CB80A34522}" sibTransId="{D48E42C0-E5C3-45ED-90C4-F95CFD7A9712}"/>
    <dgm:cxn modelId="{351B2B22-8CEA-421D-8E11-504B963A7273}" srcId="{D2921D06-9099-4B27-A213-0B53CEFED8BB}" destId="{5CF3C766-5A99-4A66-B902-1F247F881793}" srcOrd="0" destOrd="0" parTransId="{B4117937-B604-42AF-9F4F-32F5D75DC93D}" sibTransId="{CF849F5C-D4C2-470D-B280-0F780575AA9A}"/>
    <dgm:cxn modelId="{D9986826-0A37-411A-95C0-0E9A8D8D4730}" type="presOf" srcId="{5B478C2D-5D59-4657-AA8D-F6E3FBEB5D6C}" destId="{71080F24-338C-4D4D-B998-DF438B8619DF}" srcOrd="0" destOrd="0" presId="urn:microsoft.com/office/officeart/2005/8/layout/vList2"/>
    <dgm:cxn modelId="{BFB41C2F-AE7D-4A9B-BA54-573ABCDAF1E5}" type="presOf" srcId="{F63F0D46-E1CD-497B-9573-D770736395B9}" destId="{610F6878-5BFE-457D-A37D-ADB591E8B753}" srcOrd="0" destOrd="0" presId="urn:microsoft.com/office/officeart/2005/8/layout/vList2"/>
    <dgm:cxn modelId="{96635A3F-FE35-4FFD-92E7-243BD67BDA8B}" type="presOf" srcId="{2A4A6600-51F3-484C-BD0F-D7E2A79AEF92}" destId="{75687AD7-2665-4974-9143-BDBEE2C6A138}" srcOrd="0" destOrd="0" presId="urn:microsoft.com/office/officeart/2005/8/layout/vList2"/>
    <dgm:cxn modelId="{B5A19571-D015-4413-83F6-B1CBBDBE62E5}" type="presOf" srcId="{5CF3C766-5A99-4A66-B902-1F247F881793}" destId="{4B718A69-3AEC-4DAD-968D-37986F4F34B5}" srcOrd="0" destOrd="0" presId="urn:microsoft.com/office/officeart/2005/8/layout/vList2"/>
    <dgm:cxn modelId="{18AC879C-6CB2-4857-ACFD-B6CEBFCBBD8C}" srcId="{D2921D06-9099-4B27-A213-0B53CEFED8BB}" destId="{5B478C2D-5D59-4657-AA8D-F6E3FBEB5D6C}" srcOrd="2" destOrd="0" parTransId="{E0029BD9-D386-4109-8B5E-BAE82734F05E}" sibTransId="{EAE611A2-2EA4-4B4E-86A4-BB12CE8DD3E1}"/>
    <dgm:cxn modelId="{F024A6AB-2980-4DD1-9364-49B6F45CD2B3}" type="presOf" srcId="{D2921D06-9099-4B27-A213-0B53CEFED8BB}" destId="{F16B4CF4-A047-414C-B09E-7CDF20BEAA7D}" srcOrd="0" destOrd="0" presId="urn:microsoft.com/office/officeart/2005/8/layout/vList2"/>
    <dgm:cxn modelId="{18F4A1B4-DC01-4B15-9A48-1F565A8E657C}" srcId="{D2921D06-9099-4B27-A213-0B53CEFED8BB}" destId="{F63F0D46-E1CD-497B-9573-D770736395B9}" srcOrd="1" destOrd="0" parTransId="{575DFE2C-0E60-48E9-A7EE-002375D35588}" sibTransId="{B8B6C8AE-39EB-4B66-977E-4B8FB056A620}"/>
    <dgm:cxn modelId="{833F63C7-DF13-45E0-9F1A-925694E0B4EE}" type="presParOf" srcId="{F16B4CF4-A047-414C-B09E-7CDF20BEAA7D}" destId="{4B718A69-3AEC-4DAD-968D-37986F4F34B5}" srcOrd="0" destOrd="0" presId="urn:microsoft.com/office/officeart/2005/8/layout/vList2"/>
    <dgm:cxn modelId="{56C84714-6C73-4E97-8145-44E2BE1C103C}" type="presParOf" srcId="{F16B4CF4-A047-414C-B09E-7CDF20BEAA7D}" destId="{31CAFC86-589C-45B7-94ED-70A715EB7C06}" srcOrd="1" destOrd="0" presId="urn:microsoft.com/office/officeart/2005/8/layout/vList2"/>
    <dgm:cxn modelId="{8305DE45-94FA-4983-8F2D-5333BFBE539B}" type="presParOf" srcId="{F16B4CF4-A047-414C-B09E-7CDF20BEAA7D}" destId="{610F6878-5BFE-457D-A37D-ADB591E8B753}" srcOrd="2" destOrd="0" presId="urn:microsoft.com/office/officeart/2005/8/layout/vList2"/>
    <dgm:cxn modelId="{D2EF444B-EDF1-483F-920B-28E9FA1F7867}" type="presParOf" srcId="{F16B4CF4-A047-414C-B09E-7CDF20BEAA7D}" destId="{0AB059D1-5E89-4FA5-8BD1-98587377A331}" srcOrd="3" destOrd="0" presId="urn:microsoft.com/office/officeart/2005/8/layout/vList2"/>
    <dgm:cxn modelId="{B956BE6E-AF12-4078-87BD-6833AF6B2752}" type="presParOf" srcId="{F16B4CF4-A047-414C-B09E-7CDF20BEAA7D}" destId="{71080F24-338C-4D4D-B998-DF438B8619DF}" srcOrd="4" destOrd="0" presId="urn:microsoft.com/office/officeart/2005/8/layout/vList2"/>
    <dgm:cxn modelId="{64F6AAF7-ADBC-4F2B-9176-2DDAB83C5414}" type="presParOf" srcId="{F16B4CF4-A047-414C-B09E-7CDF20BEAA7D}" destId="{65DC7983-9F47-4206-8675-8EB8A370D215}" srcOrd="5" destOrd="0" presId="urn:microsoft.com/office/officeart/2005/8/layout/vList2"/>
    <dgm:cxn modelId="{CDFD8FC0-7093-4588-8644-C5EB2158C522}" type="presParOf" srcId="{F16B4CF4-A047-414C-B09E-7CDF20BEAA7D}" destId="{75687AD7-2665-4974-9143-BDBEE2C6A13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18A69-3AEC-4DAD-968D-37986F4F34B5}">
      <dsp:nvSpPr>
        <dsp:cNvPr id="0" name=""/>
        <dsp:cNvSpPr/>
      </dsp:nvSpPr>
      <dsp:spPr>
        <a:xfrm>
          <a:off x="0" y="476316"/>
          <a:ext cx="6797675" cy="1113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1. Limitations of existing state-of-the-art honeypots</a:t>
          </a:r>
        </a:p>
      </dsp:txBody>
      <dsp:txXfrm>
        <a:off x="54373" y="530689"/>
        <a:ext cx="6688929" cy="1005094"/>
      </dsp:txXfrm>
    </dsp:sp>
    <dsp:sp modelId="{610F6878-5BFE-457D-A37D-ADB591E8B753}">
      <dsp:nvSpPr>
        <dsp:cNvPr id="0" name=""/>
        <dsp:cNvSpPr/>
      </dsp:nvSpPr>
      <dsp:spPr>
        <a:xfrm>
          <a:off x="0" y="1670796"/>
          <a:ext cx="6797675" cy="1113840"/>
        </a:xfrm>
        <a:prstGeom prst="roundRect">
          <a:avLst/>
        </a:prstGeom>
        <a:solidFill>
          <a:schemeClr val="accent2">
            <a:hueOff val="-443941"/>
            <a:satOff val="-195"/>
            <a:lumOff val="52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2. HoneyPLC which solves many of the limitations</a:t>
          </a:r>
        </a:p>
      </dsp:txBody>
      <dsp:txXfrm>
        <a:off x="54373" y="1725169"/>
        <a:ext cx="6688929" cy="1005094"/>
      </dsp:txXfrm>
    </dsp:sp>
    <dsp:sp modelId="{71080F24-338C-4D4D-B998-DF438B8619DF}">
      <dsp:nvSpPr>
        <dsp:cNvPr id="0" name=""/>
        <dsp:cNvSpPr/>
      </dsp:nvSpPr>
      <dsp:spPr>
        <a:xfrm>
          <a:off x="0" y="2865276"/>
          <a:ext cx="6797675" cy="1113840"/>
        </a:xfrm>
        <a:prstGeom prst="roundRect">
          <a:avLst/>
        </a:prstGeom>
        <a:solidFill>
          <a:schemeClr val="accent2">
            <a:hueOff val="-887883"/>
            <a:satOff val="-391"/>
            <a:lumOff val="104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3. PLC profiler tool, which allows effective simulation of many different PLCs</a:t>
          </a:r>
        </a:p>
      </dsp:txBody>
      <dsp:txXfrm>
        <a:off x="54373" y="2919649"/>
        <a:ext cx="6688929" cy="1005094"/>
      </dsp:txXfrm>
    </dsp:sp>
    <dsp:sp modelId="{75687AD7-2665-4974-9143-BDBEE2C6A138}">
      <dsp:nvSpPr>
        <dsp:cNvPr id="0" name=""/>
        <dsp:cNvSpPr/>
      </dsp:nvSpPr>
      <dsp:spPr>
        <a:xfrm>
          <a:off x="0" y="4059756"/>
          <a:ext cx="6797675" cy="111384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4. Experimental evidence showing that the honeypot is effective.</a:t>
          </a:r>
        </a:p>
      </dsp:txBody>
      <dsp:txXfrm>
        <a:off x="54373" y="4114129"/>
        <a:ext cx="6688929" cy="10050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1D70F6-246D-46FE-AE58-DCAA8A523450}"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0D227E-505F-4465-A077-C856AA47FDB5}" type="slidenum">
              <a:rPr lang="en-US" smtClean="0"/>
              <a:t>‹#›</a:t>
            </a:fld>
            <a:endParaRPr lang="en-US"/>
          </a:p>
        </p:txBody>
      </p:sp>
    </p:spTree>
    <p:extLst>
      <p:ext uri="{BB962C8B-B14F-4D97-AF65-F5344CB8AC3E}">
        <p14:creationId xmlns:p14="http://schemas.microsoft.com/office/powerpoint/2010/main" val="2983304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Inadequate Simulations Can Be Detected</a:t>
            </a:r>
            <a:endParaRPr lang="en-US" dirty="0"/>
          </a:p>
          <a:p>
            <a:r>
              <a:rPr lang="en-US" b="1" dirty="0"/>
              <a:t>"Inadequate simulations complicate concealing the true nature of honeypots..."</a:t>
            </a:r>
            <a:endParaRPr lang="en-US" dirty="0"/>
          </a:p>
          <a:p>
            <a:pPr lvl="1"/>
            <a:r>
              <a:rPr lang="en-US" dirty="0"/>
              <a:t>Poor or incomplete simulations of ICS devices or processes can make it </a:t>
            </a:r>
            <a:r>
              <a:rPr lang="en-US" b="1" dirty="0"/>
              <a:t>obvious to attackers</a:t>
            </a:r>
            <a:r>
              <a:rPr lang="en-US" dirty="0"/>
              <a:t> that they are interacting with a honeypot, not a real ICS.</a:t>
            </a:r>
          </a:p>
          <a:p>
            <a:pPr lvl="1"/>
            <a:r>
              <a:rPr lang="en-US" dirty="0"/>
              <a:t>For example, unrealistic sensor data, simplistic control logic, or poor timing behavior can tip off attackers.</a:t>
            </a:r>
          </a:p>
          <a:p>
            <a:r>
              <a:rPr lang="en-US" b="1" dirty="0"/>
              <a:t>"Up to the point accurate and valuable data... can be retrieved"</a:t>
            </a:r>
            <a:endParaRPr lang="en-US" dirty="0"/>
          </a:p>
          <a:p>
            <a:pPr lvl="1"/>
            <a:r>
              <a:rPr lang="en-US" dirty="0"/>
              <a:t>If the honeypot is not realistic enough, attackers may avoid using their </a:t>
            </a:r>
            <a:r>
              <a:rPr lang="en-US" b="1" dirty="0"/>
              <a:t>actual malicious payloads</a:t>
            </a:r>
            <a:r>
              <a:rPr lang="en-US" dirty="0"/>
              <a:t> (e.g., crafted ladder logic for PLCs), which reduces the honeypot’s value for research.</a:t>
            </a:r>
          </a:p>
          <a:p>
            <a:pPr lvl="1"/>
            <a:r>
              <a:rPr lang="en-US" dirty="0"/>
              <a:t>On the other hand, a good honeypot might trick them into revealing </a:t>
            </a:r>
            <a:r>
              <a:rPr lang="en-US" b="1" dirty="0"/>
              <a:t>real attack code</a:t>
            </a:r>
            <a:r>
              <a:rPr lang="en-US" dirty="0"/>
              <a:t>, which is valuable for defenders to analyze.</a:t>
            </a:r>
          </a:p>
          <a:p>
            <a:r>
              <a:rPr lang="en-US" b="1" dirty="0"/>
              <a:t>Proprietary ICS Protocols Like S7comm Are Hard to Emulate</a:t>
            </a:r>
            <a:endParaRPr lang="en-US" dirty="0"/>
          </a:p>
          <a:p>
            <a:r>
              <a:rPr lang="en-US" b="1" dirty="0"/>
              <a:t>"Several network protocols... are proprietary"</a:t>
            </a:r>
            <a:endParaRPr lang="en-US" dirty="0"/>
          </a:p>
          <a:p>
            <a:pPr lvl="1"/>
            <a:r>
              <a:rPr lang="en-US" dirty="0"/>
              <a:t>Many widely used ICS protocols, like </a:t>
            </a:r>
            <a:r>
              <a:rPr lang="en-US" b="1" dirty="0"/>
              <a:t>S7comm (used by Siemens PLCs)</a:t>
            </a:r>
            <a:r>
              <a:rPr lang="en-US" dirty="0"/>
              <a:t>, are </a:t>
            </a:r>
            <a:r>
              <a:rPr lang="en-US" b="1" dirty="0"/>
              <a:t>not publicly documented</a:t>
            </a:r>
            <a:r>
              <a:rPr lang="en-US" dirty="0"/>
              <a:t>.</a:t>
            </a:r>
          </a:p>
          <a:p>
            <a:pPr lvl="1"/>
            <a:r>
              <a:rPr lang="en-US" dirty="0"/>
              <a:t>That makes it hard for honeypot designers to implement accurate protocol emulation.</a:t>
            </a:r>
          </a:p>
          <a:p>
            <a:r>
              <a:rPr lang="en-US" b="1" dirty="0"/>
              <a:t>"Hidden configuration parameters and undocumented assumptions..."</a:t>
            </a:r>
            <a:endParaRPr lang="en-US" dirty="0"/>
          </a:p>
          <a:p>
            <a:pPr lvl="1"/>
            <a:r>
              <a:rPr lang="en-US" dirty="0"/>
              <a:t>Proprietary protocols may contain </a:t>
            </a:r>
            <a:r>
              <a:rPr lang="en-US" b="1" dirty="0"/>
              <a:t>implicit behaviors</a:t>
            </a:r>
            <a:r>
              <a:rPr lang="en-US" dirty="0"/>
              <a:t> (e.g., how retries or errors are handled, timing quirks) that are only known through reverse engineering or vendor documentation.</a:t>
            </a:r>
          </a:p>
          <a:p>
            <a:pPr lvl="1"/>
            <a:r>
              <a:rPr lang="en-US" dirty="0"/>
              <a:t>If the honeypot doesn't behave exactly as a real device would, an attacker might easily detect that it's fake.</a:t>
            </a:r>
          </a:p>
          <a:p>
            <a:r>
              <a:rPr lang="en-US" b="1" dirty="0"/>
              <a:t>Diversity and Customization of Real PLCs Is a Challenge</a:t>
            </a:r>
            <a:endParaRPr lang="en-US" dirty="0"/>
          </a:p>
          <a:p>
            <a:r>
              <a:rPr lang="en-US" b="1" dirty="0"/>
              <a:t>"Existing PLCs vary in configuration, supported protocols, customization..."</a:t>
            </a:r>
            <a:endParaRPr lang="en-US" dirty="0"/>
          </a:p>
          <a:p>
            <a:pPr lvl="1"/>
            <a:r>
              <a:rPr lang="en-US" dirty="0"/>
              <a:t>PLCs differ </a:t>
            </a:r>
            <a:r>
              <a:rPr lang="en-US" b="1" dirty="0"/>
              <a:t>across brands and models</a:t>
            </a:r>
            <a:r>
              <a:rPr lang="en-US" dirty="0"/>
              <a:t>—not only in the protocols they support but in:</a:t>
            </a:r>
          </a:p>
          <a:p>
            <a:pPr lvl="2"/>
            <a:r>
              <a:rPr lang="en-US" dirty="0"/>
              <a:t>How they configure I/O</a:t>
            </a:r>
          </a:p>
          <a:p>
            <a:pPr lvl="2"/>
            <a:r>
              <a:rPr lang="en-US" dirty="0"/>
              <a:t>Memory layout</a:t>
            </a:r>
          </a:p>
          <a:p>
            <a:pPr lvl="2"/>
            <a:r>
              <a:rPr lang="en-US" dirty="0"/>
              <a:t>Startup routines</a:t>
            </a:r>
          </a:p>
          <a:p>
            <a:pPr lvl="2"/>
            <a:r>
              <a:rPr lang="en-US" dirty="0"/>
              <a:t>Firmware capabilities</a:t>
            </a:r>
          </a:p>
          <a:p>
            <a:r>
              <a:rPr lang="en-US" b="1" dirty="0"/>
              <a:t>"Creating a general framework... is a non-trivial challenge"</a:t>
            </a:r>
            <a:endParaRPr lang="en-US" dirty="0"/>
          </a:p>
          <a:p>
            <a:pPr lvl="1"/>
            <a:r>
              <a:rPr lang="en-US" dirty="0"/>
              <a:t>It’s </a:t>
            </a:r>
            <a:r>
              <a:rPr lang="en-US" b="1" dirty="0"/>
              <a:t>very hard</a:t>
            </a:r>
            <a:r>
              <a:rPr lang="en-US" dirty="0"/>
              <a:t> to create a one-size-fits-all honeypot framework that can </a:t>
            </a:r>
            <a:r>
              <a:rPr lang="en-US" b="1" dirty="0"/>
              <a:t>simulate all this variation accurately</a:t>
            </a:r>
            <a:r>
              <a:rPr lang="en-US" dirty="0"/>
              <a:t>.</a:t>
            </a:r>
          </a:p>
          <a:p>
            <a:pPr lvl="1"/>
            <a:r>
              <a:rPr lang="en-US" dirty="0"/>
              <a:t>Most current honeypots either:</a:t>
            </a:r>
          </a:p>
          <a:p>
            <a:pPr lvl="2"/>
            <a:r>
              <a:rPr lang="en-US" dirty="0"/>
              <a:t>Use </a:t>
            </a:r>
            <a:r>
              <a:rPr lang="en-US" b="1" dirty="0"/>
              <a:t>manual configuration</a:t>
            </a:r>
            <a:r>
              <a:rPr lang="en-US" dirty="0"/>
              <a:t> (which is time-consuming and error-prone),</a:t>
            </a:r>
          </a:p>
          <a:p>
            <a:pPr lvl="2"/>
            <a:r>
              <a:rPr lang="en-US" dirty="0"/>
              <a:t>Or only support </a:t>
            </a:r>
            <a:r>
              <a:rPr lang="en-US" b="1" dirty="0"/>
              <a:t>a narrow subset of devices/protocols</a:t>
            </a:r>
            <a:r>
              <a:rPr lang="en-US" dirty="0"/>
              <a:t>.</a:t>
            </a:r>
          </a:p>
          <a:p>
            <a:endParaRPr lang="en-US" dirty="0"/>
          </a:p>
        </p:txBody>
      </p:sp>
      <p:sp>
        <p:nvSpPr>
          <p:cNvPr id="4" name="Slide Number Placeholder 3"/>
          <p:cNvSpPr>
            <a:spLocks noGrp="1"/>
          </p:cNvSpPr>
          <p:nvPr>
            <p:ph type="sldNum" sz="quarter" idx="5"/>
          </p:nvPr>
        </p:nvSpPr>
        <p:spPr/>
        <p:txBody>
          <a:bodyPr/>
          <a:lstStyle/>
          <a:p>
            <a:fld id="{1F0D227E-505F-4465-A077-C856AA47FDB5}" type="slidenum">
              <a:rPr lang="en-US" smtClean="0"/>
              <a:t>3</a:t>
            </a:fld>
            <a:endParaRPr lang="en-US"/>
          </a:p>
        </p:txBody>
      </p:sp>
    </p:spTree>
    <p:extLst>
      <p:ext uri="{BB962C8B-B14F-4D97-AF65-F5344CB8AC3E}">
        <p14:creationId xmlns:p14="http://schemas.microsoft.com/office/powerpoint/2010/main" val="1834030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Step7</a:t>
            </a:r>
            <a:r>
              <a:rPr lang="en-US" dirty="0"/>
              <a:t> is </a:t>
            </a:r>
            <a:r>
              <a:rPr lang="en-US" b="1" dirty="0"/>
              <a:t>Siemens' engineering software</a:t>
            </a:r>
            <a:r>
              <a:rPr lang="en-US" dirty="0"/>
              <a:t> used to program and configure PLCs.</a:t>
            </a:r>
          </a:p>
          <a:p>
            <a:r>
              <a:rPr lang="en-US" b="1" dirty="0"/>
              <a:t>S7comm</a:t>
            </a:r>
            <a:r>
              <a:rPr lang="en-US" dirty="0"/>
              <a:t> is the </a:t>
            </a:r>
            <a:r>
              <a:rPr lang="en-US" b="1" dirty="0"/>
              <a:t>communication protocol</a:t>
            </a:r>
            <a:r>
              <a:rPr lang="en-US" dirty="0"/>
              <a:t> used by Step7 to </a:t>
            </a:r>
            <a:r>
              <a:rPr lang="en-US" b="1" dirty="0"/>
              <a:t>talk to the PLCs</a:t>
            </a:r>
            <a:r>
              <a:rPr lang="en-US" dirty="0"/>
              <a:t> over the network (usually via TCP port </a:t>
            </a:r>
            <a:r>
              <a:rPr lang="en-US" b="1" dirty="0"/>
              <a:t>102</a:t>
            </a:r>
            <a:r>
              <a:rPr lang="en-US" dirty="0"/>
              <a:t>).</a:t>
            </a:r>
          </a:p>
          <a:p>
            <a:r>
              <a:rPr lang="en-US" dirty="0"/>
              <a:t>🧠 So: </a:t>
            </a:r>
            <a:r>
              <a:rPr lang="en-US" b="1" dirty="0"/>
              <a:t>Step7 uses the S7comm protocol</a:t>
            </a:r>
            <a:r>
              <a:rPr lang="en-US" dirty="0"/>
              <a:t> to read/write memory, upload/download ladder logic, and perform diagnostics on PLCs like the S7-300, S7-400, and others.</a:t>
            </a:r>
          </a:p>
          <a:p>
            <a:endParaRPr lang="en-US" dirty="0"/>
          </a:p>
        </p:txBody>
      </p:sp>
      <p:sp>
        <p:nvSpPr>
          <p:cNvPr id="4" name="Slide Number Placeholder 3"/>
          <p:cNvSpPr>
            <a:spLocks noGrp="1"/>
          </p:cNvSpPr>
          <p:nvPr>
            <p:ph type="sldNum" sz="quarter" idx="5"/>
          </p:nvPr>
        </p:nvSpPr>
        <p:spPr/>
        <p:txBody>
          <a:bodyPr/>
          <a:lstStyle/>
          <a:p>
            <a:fld id="{1F0D227E-505F-4465-A077-C856AA47FDB5}" type="slidenum">
              <a:rPr lang="en-US" smtClean="0"/>
              <a:t>4</a:t>
            </a:fld>
            <a:endParaRPr lang="en-US"/>
          </a:p>
        </p:txBody>
      </p:sp>
    </p:spTree>
    <p:extLst>
      <p:ext uri="{BB962C8B-B14F-4D97-AF65-F5344CB8AC3E}">
        <p14:creationId xmlns:p14="http://schemas.microsoft.com/office/powerpoint/2010/main" val="1077169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Subsystem virtualization is a method used by </a:t>
            </a:r>
            <a:r>
              <a:rPr lang="en-US" dirty="0" err="1"/>
              <a:t>honeyd</a:t>
            </a:r>
            <a:r>
              <a:rPr lang="en-US" dirty="0"/>
              <a:t>, to facilitate the integration of the different HoneyPLC components, so that </a:t>
            </a:r>
            <a:r>
              <a:rPr lang="en-US" dirty="0" err="1"/>
              <a:t>honeyd</a:t>
            </a:r>
            <a:r>
              <a:rPr lang="en-US" dirty="0"/>
              <a:t> launch real services or scripts behind fake IPs and ports</a:t>
            </a:r>
          </a:p>
          <a:p>
            <a:r>
              <a:rPr lang="en-US" dirty="0"/>
              <a:t>Like when we define </a:t>
            </a:r>
            <a:r>
              <a:rPr lang="en-US" dirty="0" err="1"/>
              <a:t>ip</a:t>
            </a:r>
            <a:r>
              <a:rPr lang="en-US" dirty="0"/>
              <a:t> 192.168.16.1 port 111 runs http service for example on the honeypot, this is done by subsystem virtualization.</a:t>
            </a:r>
          </a:p>
        </p:txBody>
      </p:sp>
      <p:sp>
        <p:nvSpPr>
          <p:cNvPr id="4" name="Slide Number Placeholder 3"/>
          <p:cNvSpPr>
            <a:spLocks noGrp="1"/>
          </p:cNvSpPr>
          <p:nvPr>
            <p:ph type="sldNum" sz="quarter" idx="5"/>
          </p:nvPr>
        </p:nvSpPr>
        <p:spPr/>
        <p:txBody>
          <a:bodyPr/>
          <a:lstStyle/>
          <a:p>
            <a:fld id="{1F0D227E-505F-4465-A077-C856AA47FDB5}" type="slidenum">
              <a:rPr lang="en-US" smtClean="0"/>
              <a:t>6</a:t>
            </a:fld>
            <a:endParaRPr lang="en-US"/>
          </a:p>
        </p:txBody>
      </p:sp>
    </p:spTree>
    <p:extLst>
      <p:ext uri="{BB962C8B-B14F-4D97-AF65-F5344CB8AC3E}">
        <p14:creationId xmlns:p14="http://schemas.microsoft.com/office/powerpoint/2010/main" val="2278715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t>
            </a:r>
            <a:r>
              <a:rPr lang="en-US" dirty="0" err="1"/>
              <a:t>snmpwalk</a:t>
            </a:r>
            <a:r>
              <a:rPr lang="en-US" dirty="0"/>
              <a:t> is used for reading all the available Object IDs (OIDs) from the public community string, creating an identical MIB to the one used by the PLC. OIDs may include, among other important configuration settings, the unique identifier of the PLC, as well as its base IP address. Second, Nmap’s </a:t>
            </a:r>
            <a:r>
              <a:rPr lang="en-US" dirty="0" err="1"/>
              <a:t>OSdetection</a:t>
            </a:r>
            <a:r>
              <a:rPr lang="en-US" dirty="0"/>
              <a:t> is used to get the TCP/IP stack fingerprint of the target PLC, in a process that includes scanning all well-known TCP and UDP ports. This fingerprint will be later leveraged by </a:t>
            </a:r>
            <a:r>
              <a:rPr lang="en-US" dirty="0" err="1"/>
              <a:t>HoneyPLC’s</a:t>
            </a:r>
            <a:r>
              <a:rPr lang="en-US"/>
              <a:t> Integration Framework to provide meaningful TCP/IP interactions</a:t>
            </a:r>
          </a:p>
          <a:p>
            <a:endParaRPr lang="en-US"/>
          </a:p>
        </p:txBody>
      </p:sp>
      <p:sp>
        <p:nvSpPr>
          <p:cNvPr id="4" name="Slide Number Placeholder 3"/>
          <p:cNvSpPr>
            <a:spLocks noGrp="1"/>
          </p:cNvSpPr>
          <p:nvPr>
            <p:ph type="sldNum" sz="quarter" idx="5"/>
          </p:nvPr>
        </p:nvSpPr>
        <p:spPr/>
        <p:txBody>
          <a:bodyPr/>
          <a:lstStyle/>
          <a:p>
            <a:fld id="{1F0D227E-505F-4465-A077-C856AA47FDB5}" type="slidenum">
              <a:rPr lang="en-US" smtClean="0"/>
              <a:t>7</a:t>
            </a:fld>
            <a:endParaRPr lang="en-US"/>
          </a:p>
        </p:txBody>
      </p:sp>
    </p:spTree>
    <p:extLst>
      <p:ext uri="{BB962C8B-B14F-4D97-AF65-F5344CB8AC3E}">
        <p14:creationId xmlns:p14="http://schemas.microsoft.com/office/powerpoint/2010/main" val="599075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Prerequists</a:t>
            </a:r>
            <a:r>
              <a:rPr lang="en-US" dirty="0"/>
              <a:t>: </a:t>
            </a:r>
          </a:p>
          <a:p>
            <a:r>
              <a:rPr lang="en-US" dirty="0"/>
              <a:t>What is Personality Engine: module using Honeyd to be able to simulate any device using a file contains its fingerprint, and how this device should response, in order to fool </a:t>
            </a:r>
            <a:r>
              <a:rPr lang="en-US" dirty="0" err="1"/>
              <a:t>reconisence</a:t>
            </a:r>
            <a:r>
              <a:rPr lang="en-US" dirty="0"/>
              <a:t> tools to feel like it is communicating with the real device.</a:t>
            </a:r>
          </a:p>
          <a:p>
            <a:r>
              <a:rPr lang="en-US" dirty="0"/>
              <a:t>S7Comm: It is Siemens industrial protocol used for communication with Siemens PLCs such as S7-300, S7-400, S7-1200, S7-1500, it allows memory reads/writes, which can extract or modify the Ladder logic of PLCs, the main problem, is that S7Comm is not well documented, so it is difficult to understand correctly how it works.</a:t>
            </a:r>
          </a:p>
          <a:p>
            <a:r>
              <a:rPr lang="en-US" dirty="0"/>
              <a:t>Lader logic: This is the programming language of the PLC, which instructs the PLC what should it exactly perform.</a:t>
            </a:r>
          </a:p>
        </p:txBody>
      </p:sp>
      <p:sp>
        <p:nvSpPr>
          <p:cNvPr id="4" name="Slide Number Placeholder 3"/>
          <p:cNvSpPr>
            <a:spLocks noGrp="1"/>
          </p:cNvSpPr>
          <p:nvPr>
            <p:ph type="sldNum" sz="quarter" idx="5"/>
          </p:nvPr>
        </p:nvSpPr>
        <p:spPr/>
        <p:txBody>
          <a:bodyPr/>
          <a:lstStyle/>
          <a:p>
            <a:fld id="{1F0D227E-505F-4465-A077-C856AA47FDB5}" type="slidenum">
              <a:rPr lang="en-US" smtClean="0"/>
              <a:t>8</a:t>
            </a:fld>
            <a:endParaRPr lang="en-US"/>
          </a:p>
        </p:txBody>
      </p:sp>
    </p:spTree>
    <p:extLst>
      <p:ext uri="{BB962C8B-B14F-4D97-AF65-F5344CB8AC3E}">
        <p14:creationId xmlns:p14="http://schemas.microsoft.com/office/powerpoint/2010/main" val="2609616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it to the professor from this link better. </a:t>
            </a:r>
          </a:p>
          <a:p>
            <a:r>
              <a:rPr lang="en-US" dirty="0"/>
              <a:t>Read this for better understanding: https://www.geeksforgeeks.org/computer-networks/simple-network-management-protocol-snmp/</a:t>
            </a:r>
          </a:p>
          <a:p>
            <a:endParaRPr lang="en-US" dirty="0"/>
          </a:p>
          <a:p>
            <a:endParaRPr lang="en-US" dirty="0"/>
          </a:p>
          <a:p>
            <a:endParaRPr lang="en-US" dirty="0"/>
          </a:p>
          <a:p>
            <a:r>
              <a:rPr lang="en-US" dirty="0"/>
              <a:t>SNMP =&gt; Simple network management protocol, it is an application layer protocol used to manage and monitor network devices.</a:t>
            </a:r>
          </a:p>
          <a:p>
            <a:r>
              <a:rPr lang="en-US" dirty="0"/>
              <a:t>It allows network administrators to gather information about the status and performance of devices like routers, switches, and servers</a:t>
            </a:r>
          </a:p>
          <a:p>
            <a:endParaRPr lang="en-US" dirty="0"/>
          </a:p>
          <a:p>
            <a:r>
              <a:rPr lang="en-US" dirty="0"/>
              <a:t>MIB contains information about the resources managed by the SNMP in the network, and their hierarchy and how they are connected.</a:t>
            </a:r>
          </a:p>
          <a:p>
            <a:r>
              <a:rPr lang="en-US" dirty="0"/>
              <a:t>In the context of </a:t>
            </a:r>
            <a:r>
              <a:rPr lang="en-US" b="1" dirty="0"/>
              <a:t>Industrial Control System (ICS) honeypots</a:t>
            </a:r>
            <a:r>
              <a:rPr lang="en-US" dirty="0"/>
              <a:t> :</a:t>
            </a:r>
          </a:p>
          <a:p>
            <a:r>
              <a:rPr lang="en-US" dirty="0"/>
              <a:t>SNMP </a:t>
            </a:r>
            <a:r>
              <a:rPr lang="en-US" b="1" dirty="0"/>
              <a:t>simulates device behavior</a:t>
            </a:r>
            <a:r>
              <a:rPr lang="en-US" dirty="0"/>
              <a:t> by exposing fake or container-based SNMP services.</a:t>
            </a:r>
          </a:p>
          <a:p>
            <a:r>
              <a:rPr lang="en-US" dirty="0"/>
              <a:t>Emulating OIDs allows attackers to </a:t>
            </a:r>
            <a:r>
              <a:rPr lang="en-US" b="1" dirty="0"/>
              <a:t>query fake PLCs</a:t>
            </a:r>
            <a:r>
              <a:rPr lang="en-US" dirty="0"/>
              <a:t> for device info (e.g., using tools like </a:t>
            </a:r>
            <a:r>
              <a:rPr lang="en-US" dirty="0" err="1"/>
              <a:t>snmpwalk</a:t>
            </a:r>
            <a:r>
              <a:rPr lang="en-US" dirty="0"/>
              <a:t>).</a:t>
            </a:r>
          </a:p>
          <a:p>
            <a:r>
              <a:rPr lang="en-US" dirty="0"/>
              <a:t>Example: If the honeypot fakes a </a:t>
            </a:r>
            <a:r>
              <a:rPr lang="en-US" dirty="0" err="1"/>
              <a:t>Teltonika</a:t>
            </a:r>
            <a:r>
              <a:rPr lang="en-US" dirty="0"/>
              <a:t> device, it might expose OIDs under .1.3.6.1.4.1.48690.</a:t>
            </a:r>
          </a:p>
          <a:p>
            <a:r>
              <a:rPr lang="en-US" dirty="0"/>
              <a:t>So attacker will see this OIDs and from which he can ensure the type of the PLC device used, and the expected </a:t>
            </a:r>
            <a:r>
              <a:rPr lang="en-US" dirty="0" err="1"/>
              <a:t>behaviour</a:t>
            </a:r>
            <a:r>
              <a:rPr lang="en-US" dirty="0"/>
              <a:t> of it, and also more information such as the crafting organization because each device should have unique path for OIDs.</a:t>
            </a:r>
          </a:p>
        </p:txBody>
      </p:sp>
      <p:sp>
        <p:nvSpPr>
          <p:cNvPr id="4" name="Slide Number Placeholder 3"/>
          <p:cNvSpPr>
            <a:spLocks noGrp="1"/>
          </p:cNvSpPr>
          <p:nvPr>
            <p:ph type="sldNum" sz="quarter" idx="5"/>
          </p:nvPr>
        </p:nvSpPr>
        <p:spPr/>
        <p:txBody>
          <a:bodyPr/>
          <a:lstStyle/>
          <a:p>
            <a:fld id="{1F0D227E-505F-4465-A077-C856AA47FDB5}" type="slidenum">
              <a:rPr lang="en-US" smtClean="0"/>
              <a:t>11</a:t>
            </a:fld>
            <a:endParaRPr lang="en-US"/>
          </a:p>
        </p:txBody>
      </p:sp>
    </p:spTree>
    <p:extLst>
      <p:ext uri="{BB962C8B-B14F-4D97-AF65-F5344CB8AC3E}">
        <p14:creationId xmlns:p14="http://schemas.microsoft.com/office/powerpoint/2010/main" val="399943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Lighttpd</a:t>
            </a:r>
            <a:r>
              <a:rPr lang="en-US" dirty="0"/>
              <a:t>: https://www.lighttpd.net/</a:t>
            </a:r>
          </a:p>
          <a:p>
            <a:r>
              <a:rPr lang="en-US" dirty="0"/>
              <a:t>It is a secure, fast, very flexible web server, similar to Apache, nginx and so on.</a:t>
            </a:r>
          </a:p>
        </p:txBody>
      </p:sp>
      <p:sp>
        <p:nvSpPr>
          <p:cNvPr id="4" name="Slide Number Placeholder 3"/>
          <p:cNvSpPr>
            <a:spLocks noGrp="1"/>
          </p:cNvSpPr>
          <p:nvPr>
            <p:ph type="sldNum" sz="quarter" idx="5"/>
          </p:nvPr>
        </p:nvSpPr>
        <p:spPr/>
        <p:txBody>
          <a:bodyPr/>
          <a:lstStyle/>
          <a:p>
            <a:fld id="{1F0D227E-505F-4465-A077-C856AA47FDB5}" type="slidenum">
              <a:rPr lang="en-US" smtClean="0"/>
              <a:t>12</a:t>
            </a:fld>
            <a:endParaRPr lang="en-US"/>
          </a:p>
        </p:txBody>
      </p:sp>
    </p:spTree>
    <p:extLst>
      <p:ext uri="{BB962C8B-B14F-4D97-AF65-F5344CB8AC3E}">
        <p14:creationId xmlns:p14="http://schemas.microsoft.com/office/powerpoint/2010/main" val="2242310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they created the profiles, are explained briefly in the paper in section 5.2 and 5.3</a:t>
            </a:r>
          </a:p>
        </p:txBody>
      </p:sp>
      <p:sp>
        <p:nvSpPr>
          <p:cNvPr id="4" name="Slide Number Placeholder 3"/>
          <p:cNvSpPr>
            <a:spLocks noGrp="1"/>
          </p:cNvSpPr>
          <p:nvPr>
            <p:ph type="sldNum" sz="quarter" idx="5"/>
          </p:nvPr>
        </p:nvSpPr>
        <p:spPr/>
        <p:txBody>
          <a:bodyPr/>
          <a:lstStyle/>
          <a:p>
            <a:fld id="{1F0D227E-505F-4465-A077-C856AA47FDB5}" type="slidenum">
              <a:rPr lang="en-US" smtClean="0"/>
              <a:t>16</a:t>
            </a:fld>
            <a:endParaRPr lang="en-US"/>
          </a:p>
        </p:txBody>
      </p:sp>
    </p:spTree>
    <p:extLst>
      <p:ext uri="{BB962C8B-B14F-4D97-AF65-F5344CB8AC3E}">
        <p14:creationId xmlns:p14="http://schemas.microsoft.com/office/powerpoint/2010/main" val="3303107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0D227E-505F-4465-A077-C856AA47FDB5}" type="slidenum">
              <a:rPr lang="en-US" smtClean="0"/>
              <a:t>19</a:t>
            </a:fld>
            <a:endParaRPr lang="en-US"/>
          </a:p>
        </p:txBody>
      </p:sp>
    </p:spTree>
    <p:extLst>
      <p:ext uri="{BB962C8B-B14F-4D97-AF65-F5344CB8AC3E}">
        <p14:creationId xmlns:p14="http://schemas.microsoft.com/office/powerpoint/2010/main" val="4173696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PLC Stop -&gt; means that somebody was trying to stop the process working on the PLC</a:t>
            </a:r>
          </a:p>
          <a:p>
            <a:r>
              <a:rPr lang="en-US" dirty="0"/>
              <a:t>Table 6 shows thousands of HTTP </a:t>
            </a:r>
            <a:r>
              <a:rPr lang="en-US" dirty="0" err="1"/>
              <a:t>converations</a:t>
            </a:r>
            <a:endParaRPr lang="en-US" dirty="0"/>
          </a:p>
        </p:txBody>
      </p:sp>
      <p:sp>
        <p:nvSpPr>
          <p:cNvPr id="4" name="Slide Number Placeholder 3"/>
          <p:cNvSpPr>
            <a:spLocks noGrp="1"/>
          </p:cNvSpPr>
          <p:nvPr>
            <p:ph type="sldNum" sz="quarter" idx="5"/>
          </p:nvPr>
        </p:nvSpPr>
        <p:spPr/>
        <p:txBody>
          <a:bodyPr/>
          <a:lstStyle/>
          <a:p>
            <a:fld id="{1F0D227E-505F-4465-A077-C856AA47FDB5}" type="slidenum">
              <a:rPr lang="en-US" smtClean="0"/>
              <a:t>20</a:t>
            </a:fld>
            <a:endParaRPr lang="en-US"/>
          </a:p>
        </p:txBody>
      </p:sp>
    </p:spTree>
    <p:extLst>
      <p:ext uri="{BB962C8B-B14F-4D97-AF65-F5344CB8AC3E}">
        <p14:creationId xmlns:p14="http://schemas.microsoft.com/office/powerpoint/2010/main" val="2221702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10/15/2025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2536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10/15/2025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8908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10/15/2025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8658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10/15/2025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8729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10/15/2025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9474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10/15/2025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84037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10/15/2025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729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10/15/2025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53288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10/15/2025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1376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10/15/2025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84838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10/15/2025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59973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10/15/2025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071957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90000"/>
        </a:lnSpc>
        <a:spcBef>
          <a:spcPct val="0"/>
        </a:spcBef>
        <a:buNone/>
        <a:defRPr sz="55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2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2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2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2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3372C9-03AD-E50D-31EC-91BB19520B1E}"/>
              </a:ext>
            </a:extLst>
          </p:cNvPr>
          <p:cNvSpPr>
            <a:spLocks noGrp="1"/>
          </p:cNvSpPr>
          <p:nvPr>
            <p:ph type="ctrTitle"/>
          </p:nvPr>
        </p:nvSpPr>
        <p:spPr>
          <a:xfrm>
            <a:off x="5289754" y="639097"/>
            <a:ext cx="6253317" cy="3686015"/>
          </a:xfrm>
        </p:spPr>
        <p:txBody>
          <a:bodyPr>
            <a:normAutofit/>
          </a:bodyPr>
          <a:lstStyle/>
          <a:p>
            <a:r>
              <a:rPr lang="en-US" dirty="0"/>
              <a:t>HoneyPLC</a:t>
            </a:r>
          </a:p>
        </p:txBody>
      </p:sp>
      <p:sp>
        <p:nvSpPr>
          <p:cNvPr id="3" name="Subtitle 2">
            <a:extLst>
              <a:ext uri="{FF2B5EF4-FFF2-40B4-BE49-F238E27FC236}">
                <a16:creationId xmlns:a16="http://schemas.microsoft.com/office/drawing/2014/main" id="{9D30136D-376C-DBEA-0B96-F50C809F06EC}"/>
              </a:ext>
            </a:extLst>
          </p:cNvPr>
          <p:cNvSpPr>
            <a:spLocks noGrp="1"/>
          </p:cNvSpPr>
          <p:nvPr>
            <p:ph type="subTitle" idx="1"/>
          </p:nvPr>
        </p:nvSpPr>
        <p:spPr>
          <a:xfrm>
            <a:off x="5289753" y="4672739"/>
            <a:ext cx="6269347" cy="1021498"/>
          </a:xfrm>
        </p:spPr>
        <p:txBody>
          <a:bodyPr>
            <a:normAutofit/>
          </a:bodyPr>
          <a:lstStyle/>
          <a:p>
            <a:r>
              <a:rPr lang="en-US" dirty="0">
                <a:solidFill>
                  <a:schemeClr val="tx1">
                    <a:lumMod val="85000"/>
                    <a:lumOff val="15000"/>
                  </a:schemeClr>
                </a:solidFill>
              </a:rPr>
              <a:t>Next Generation Honeypot for ICS</a:t>
            </a:r>
          </a:p>
        </p:txBody>
      </p:sp>
      <p:pic>
        <p:nvPicPr>
          <p:cNvPr id="4" name="Picture 3" descr="A colorful lights on a dark background&#10;&#10;AI-generated content may be incorrect.">
            <a:extLst>
              <a:ext uri="{FF2B5EF4-FFF2-40B4-BE49-F238E27FC236}">
                <a16:creationId xmlns:a16="http://schemas.microsoft.com/office/drawing/2014/main" id="{6AE1FE15-BCBA-E021-257B-1B746DEB9998}"/>
              </a:ext>
            </a:extLst>
          </p:cNvPr>
          <p:cNvPicPr>
            <a:picLocks noChangeAspect="1"/>
          </p:cNvPicPr>
          <p:nvPr/>
        </p:nvPicPr>
        <p:blipFill>
          <a:blip r:embed="rId2"/>
          <a:srcRect l="2444" r="60213" b="1"/>
          <a:stretch>
            <a:fillRect/>
          </a:stretch>
        </p:blipFill>
        <p:spPr>
          <a:xfrm>
            <a:off x="-1" y="1"/>
            <a:ext cx="4635315" cy="6857999"/>
          </a:xfrm>
          <a:prstGeom prst="rect">
            <a:avLst/>
          </a:prstGeom>
        </p:spPr>
      </p:pic>
      <p:cxnSp>
        <p:nvCxnSpPr>
          <p:cNvPr id="11" name="Straight Connector 10">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DAAD757-B5D4-F203-0683-DC1967356508}"/>
              </a:ext>
            </a:extLst>
          </p:cNvPr>
          <p:cNvSpPr txBox="1"/>
          <p:nvPr/>
        </p:nvSpPr>
        <p:spPr>
          <a:xfrm>
            <a:off x="6571881" y="6383102"/>
            <a:ext cx="5474602" cy="369332"/>
          </a:xfrm>
          <a:prstGeom prst="rect">
            <a:avLst/>
          </a:prstGeom>
          <a:noFill/>
        </p:spPr>
        <p:txBody>
          <a:bodyPr wrap="square" rtlCol="0">
            <a:spAutoFit/>
          </a:bodyPr>
          <a:lstStyle/>
          <a:p>
            <a:r>
              <a:rPr lang="en-US" dirty="0"/>
              <a:t>CCS '20, November 9–13, 2020, Virtual Event, USA</a:t>
            </a:r>
          </a:p>
        </p:txBody>
      </p:sp>
    </p:spTree>
    <p:extLst>
      <p:ext uri="{BB962C8B-B14F-4D97-AF65-F5344CB8AC3E}">
        <p14:creationId xmlns:p14="http://schemas.microsoft.com/office/powerpoint/2010/main" val="1247212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648593"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77CEF0-CE4C-CDBC-9409-52CB2867DD18}"/>
              </a:ext>
            </a:extLst>
          </p:cNvPr>
          <p:cNvSpPr>
            <a:spLocks noGrp="1"/>
          </p:cNvSpPr>
          <p:nvPr>
            <p:ph type="title"/>
          </p:nvPr>
        </p:nvSpPr>
        <p:spPr>
          <a:xfrm>
            <a:off x="492369" y="605896"/>
            <a:ext cx="3642309" cy="5646208"/>
          </a:xfrm>
        </p:spPr>
        <p:txBody>
          <a:bodyPr anchor="ctr">
            <a:normAutofit/>
          </a:bodyPr>
          <a:lstStyle/>
          <a:p>
            <a:r>
              <a:rPr lang="en-US" sz="4400">
                <a:solidFill>
                  <a:srgbClr val="FFFFFF"/>
                </a:solidFill>
              </a:rPr>
              <a:t>What is HoneyPLC</a:t>
            </a:r>
          </a:p>
        </p:txBody>
      </p:sp>
      <p:sp>
        <p:nvSpPr>
          <p:cNvPr id="3" name="Content Placeholder 2">
            <a:extLst>
              <a:ext uri="{FF2B5EF4-FFF2-40B4-BE49-F238E27FC236}">
                <a16:creationId xmlns:a16="http://schemas.microsoft.com/office/drawing/2014/main" id="{18DB82AA-61A3-ADC1-9045-C26E3BDEE5DD}"/>
              </a:ext>
            </a:extLst>
          </p:cNvPr>
          <p:cNvSpPr>
            <a:spLocks noGrp="1"/>
          </p:cNvSpPr>
          <p:nvPr>
            <p:ph idx="1"/>
          </p:nvPr>
        </p:nvSpPr>
        <p:spPr>
          <a:xfrm>
            <a:off x="5231958" y="605896"/>
            <a:ext cx="5923721" cy="5646208"/>
          </a:xfrm>
        </p:spPr>
        <p:txBody>
          <a:bodyPr anchor="ctr">
            <a:normAutofit/>
          </a:bodyPr>
          <a:lstStyle/>
          <a:p>
            <a:r>
              <a:rPr lang="en-US" sz="2400"/>
              <a:t>High Interaction, extensible, and malware collecting honeypot supporting a broad spectrum of PLCs models and vendors.</a:t>
            </a:r>
          </a:p>
        </p:txBody>
      </p:sp>
    </p:spTree>
    <p:extLst>
      <p:ext uri="{BB962C8B-B14F-4D97-AF65-F5344CB8AC3E}">
        <p14:creationId xmlns:p14="http://schemas.microsoft.com/office/powerpoint/2010/main" val="106136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FA7BA65-A5CB-8E2D-C657-CAAB4E1F3DF3}"/>
              </a:ext>
            </a:extLst>
          </p:cNvPr>
          <p:cNvSpPr>
            <a:spLocks noGrp="1"/>
          </p:cNvSpPr>
          <p:nvPr>
            <p:ph type="title"/>
          </p:nvPr>
        </p:nvSpPr>
        <p:spPr>
          <a:xfrm>
            <a:off x="5116783" y="516835"/>
            <a:ext cx="5977937" cy="1666501"/>
          </a:xfrm>
        </p:spPr>
        <p:txBody>
          <a:bodyPr>
            <a:normAutofit/>
          </a:bodyPr>
          <a:lstStyle/>
          <a:p>
            <a:r>
              <a:rPr lang="en-US" sz="3700">
                <a:solidFill>
                  <a:srgbClr val="FFFFFF"/>
                </a:solidFill>
              </a:rPr>
              <a:t>Why is it difficult to have High interaction ICS honeypot</a:t>
            </a:r>
          </a:p>
        </p:txBody>
      </p:sp>
      <p:pic>
        <p:nvPicPr>
          <p:cNvPr id="14" name="Picture 13" descr="Close up of beakers with solutions on a shelf in a lab">
            <a:extLst>
              <a:ext uri="{FF2B5EF4-FFF2-40B4-BE49-F238E27FC236}">
                <a16:creationId xmlns:a16="http://schemas.microsoft.com/office/drawing/2014/main" id="{478F9F65-38C5-5EC2-1D20-D15C891DCC69}"/>
              </a:ext>
            </a:extLst>
          </p:cNvPr>
          <p:cNvPicPr>
            <a:picLocks noChangeAspect="1"/>
          </p:cNvPicPr>
          <p:nvPr/>
        </p:nvPicPr>
        <p:blipFill>
          <a:blip r:embed="rId3"/>
          <a:srcRect l="3159" r="52262" b="-1"/>
          <a:stretch>
            <a:fillRect/>
          </a:stretch>
        </p:blipFill>
        <p:spPr>
          <a:xfrm>
            <a:off x="20" y="10"/>
            <a:ext cx="4580077" cy="6857990"/>
          </a:xfrm>
          <a:prstGeom prst="rect">
            <a:avLst/>
          </a:prstGeom>
        </p:spPr>
      </p:pic>
      <p:cxnSp>
        <p:nvCxnSpPr>
          <p:cNvPr id="15" name="Straight Connector 14">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00864" y="2353592"/>
            <a:ext cx="5669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385F19F-1E64-AB36-8072-77EBD4AEC947}"/>
              </a:ext>
            </a:extLst>
          </p:cNvPr>
          <p:cNvSpPr>
            <a:spLocks noGrp="1"/>
          </p:cNvSpPr>
          <p:nvPr>
            <p:ph idx="1"/>
          </p:nvPr>
        </p:nvSpPr>
        <p:spPr>
          <a:xfrm>
            <a:off x="5116784" y="2546224"/>
            <a:ext cx="5977938" cy="3342747"/>
          </a:xfrm>
        </p:spPr>
        <p:txBody>
          <a:bodyPr>
            <a:normAutofit/>
          </a:bodyPr>
          <a:lstStyle/>
          <a:p>
            <a:pPr lvl="1"/>
            <a:r>
              <a:rPr lang="en-US" sz="1800" dirty="0">
                <a:solidFill>
                  <a:srgbClr val="FFFFFF"/>
                </a:solidFill>
              </a:rPr>
              <a:t>Common Limitation of literature honeypots are their</a:t>
            </a:r>
          </a:p>
          <a:p>
            <a:pPr lvl="2"/>
            <a:r>
              <a:rPr lang="en-US" sz="1800" dirty="0">
                <a:solidFill>
                  <a:srgbClr val="FFFFFF"/>
                </a:solidFill>
              </a:rPr>
              <a:t> low-interaction nature</a:t>
            </a:r>
          </a:p>
          <a:p>
            <a:pPr lvl="2"/>
            <a:r>
              <a:rPr lang="en-US" sz="1800" dirty="0">
                <a:solidFill>
                  <a:srgbClr val="FFFFFF"/>
                </a:solidFill>
              </a:rPr>
              <a:t>Inadequate Simulations Can Be Detected</a:t>
            </a:r>
          </a:p>
          <a:p>
            <a:pPr lvl="2"/>
            <a:r>
              <a:rPr lang="en-US" sz="1800" dirty="0">
                <a:solidFill>
                  <a:srgbClr val="FFFFFF"/>
                </a:solidFill>
              </a:rPr>
              <a:t>Proprietary ICS Protocols Like S7comm Are Hard to Emulate</a:t>
            </a:r>
          </a:p>
          <a:p>
            <a:pPr lvl="2"/>
            <a:r>
              <a:rPr lang="en-US" sz="1800" dirty="0">
                <a:solidFill>
                  <a:srgbClr val="FFFFFF"/>
                </a:solidFill>
              </a:rPr>
              <a:t>Diversity and Customization of Real PLCs Is a Challenge</a:t>
            </a:r>
          </a:p>
          <a:p>
            <a:pPr lvl="1"/>
            <a:endParaRPr lang="en-US" sz="1800" dirty="0">
              <a:solidFill>
                <a:srgbClr val="FFFFFF"/>
              </a:solidFill>
            </a:endParaRPr>
          </a:p>
        </p:txBody>
      </p:sp>
    </p:spTree>
    <p:extLst>
      <p:ext uri="{BB962C8B-B14F-4D97-AF65-F5344CB8AC3E}">
        <p14:creationId xmlns:p14="http://schemas.microsoft.com/office/powerpoint/2010/main" val="407077591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5934D-9C32-686F-C40D-C288B679A504}"/>
              </a:ext>
            </a:extLst>
          </p:cNvPr>
          <p:cNvSpPr>
            <a:spLocks noGrp="1"/>
          </p:cNvSpPr>
          <p:nvPr>
            <p:ph type="title"/>
          </p:nvPr>
        </p:nvSpPr>
        <p:spPr/>
        <p:txBody>
          <a:bodyPr/>
          <a:lstStyle/>
          <a:p>
            <a:r>
              <a:rPr lang="en-US" dirty="0"/>
              <a:t>Protocols Simulation</a:t>
            </a:r>
          </a:p>
        </p:txBody>
      </p:sp>
      <p:sp>
        <p:nvSpPr>
          <p:cNvPr id="3" name="Content Placeholder 2">
            <a:extLst>
              <a:ext uri="{FF2B5EF4-FFF2-40B4-BE49-F238E27FC236}">
                <a16:creationId xmlns:a16="http://schemas.microsoft.com/office/drawing/2014/main" id="{F085B06C-3A4A-AAB8-3940-389EF0C76091}"/>
              </a:ext>
            </a:extLst>
          </p:cNvPr>
          <p:cNvSpPr>
            <a:spLocks noGrp="1"/>
          </p:cNvSpPr>
          <p:nvPr>
            <p:ph idx="1"/>
          </p:nvPr>
        </p:nvSpPr>
        <p:spPr/>
        <p:txBody>
          <a:bodyPr/>
          <a:lstStyle/>
          <a:p>
            <a:r>
              <a:rPr lang="en-US" dirty="0"/>
              <a:t>They simulate some protocols such as</a:t>
            </a:r>
          </a:p>
          <a:p>
            <a:pPr lvl="1"/>
            <a:r>
              <a:rPr lang="en-US" dirty="0"/>
              <a:t>TCP/IP -&gt; using fingerprint reversing allows accurate modeling of TCP, ICMP, and UDP probes at runtime.</a:t>
            </a:r>
          </a:p>
          <a:p>
            <a:pPr lvl="1"/>
            <a:r>
              <a:rPr lang="en-US" dirty="0"/>
              <a:t>S7Comm -&gt; this is core PLC communication protocol to be used by tools like Siemens </a:t>
            </a:r>
            <a:r>
              <a:rPr lang="en-US" b="1" dirty="0"/>
              <a:t>Step7</a:t>
            </a:r>
            <a:r>
              <a:rPr lang="en-US" dirty="0"/>
              <a:t> Manager, which is the tool used for programming and configuring Siemens PLCs, and S7Comm is the communication protocol used to exchange the data, but it is undocumented.</a:t>
            </a:r>
          </a:p>
          <a:p>
            <a:pPr lvl="2"/>
            <a:r>
              <a:rPr lang="en-US" dirty="0"/>
              <a:t>Reading and writing Ladder logic from PLCs</a:t>
            </a:r>
          </a:p>
          <a:p>
            <a:pPr lvl="1"/>
            <a:endParaRPr lang="en-US" dirty="0"/>
          </a:p>
        </p:txBody>
      </p:sp>
    </p:spTree>
    <p:extLst>
      <p:ext uri="{BB962C8B-B14F-4D97-AF65-F5344CB8AC3E}">
        <p14:creationId xmlns:p14="http://schemas.microsoft.com/office/powerpoint/2010/main" val="559753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AF93016-31D2-AB91-6FCD-35168E47DADA}"/>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Main Contribution</a:t>
            </a:r>
          </a:p>
        </p:txBody>
      </p:sp>
      <p:graphicFrame>
        <p:nvGraphicFramePr>
          <p:cNvPr id="17" name="Content Placeholder 2">
            <a:extLst>
              <a:ext uri="{FF2B5EF4-FFF2-40B4-BE49-F238E27FC236}">
                <a16:creationId xmlns:a16="http://schemas.microsoft.com/office/drawing/2014/main" id="{58C2C7C3-897C-03A0-7569-01029182CAAF}"/>
              </a:ext>
            </a:extLst>
          </p:cNvPr>
          <p:cNvGraphicFramePr>
            <a:graphicFrameLocks noGrp="1"/>
          </p:cNvGraphicFramePr>
          <p:nvPr>
            <p:ph idx="1"/>
            <p:extLst>
              <p:ext uri="{D42A27DB-BD31-4B8C-83A1-F6EECF244321}">
                <p14:modId xmlns:p14="http://schemas.microsoft.com/office/powerpoint/2010/main" val="217924534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1371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3393F7-963E-2BB9-ABD0-B23D0726F3F0}"/>
              </a:ext>
            </a:extLst>
          </p:cNvPr>
          <p:cNvSpPr>
            <a:spLocks noGrp="1"/>
          </p:cNvSpPr>
          <p:nvPr>
            <p:ph type="title"/>
          </p:nvPr>
        </p:nvSpPr>
        <p:spPr>
          <a:xfrm>
            <a:off x="8141110" y="639098"/>
            <a:ext cx="3587340" cy="3494790"/>
          </a:xfrm>
        </p:spPr>
        <p:txBody>
          <a:bodyPr vert="horz" lIns="91440" tIns="45720" rIns="91440" bIns="45720" rtlCol="0" anchor="b">
            <a:normAutofit/>
          </a:bodyPr>
          <a:lstStyle/>
          <a:p>
            <a:r>
              <a:rPr lang="en-US" sz="5400" dirty="0">
                <a:solidFill>
                  <a:schemeClr val="tx1">
                    <a:lumMod val="85000"/>
                    <a:lumOff val="15000"/>
                  </a:schemeClr>
                </a:solidFill>
              </a:rPr>
              <a:t>HoneyPLC Architecture</a:t>
            </a:r>
          </a:p>
        </p:txBody>
      </p:sp>
      <p:pic>
        <p:nvPicPr>
          <p:cNvPr id="7" name="Content Placeholder 6" descr="A diagram of a computer security system&#10;&#10;AI-generated content may be incorrect.">
            <a:extLst>
              <a:ext uri="{FF2B5EF4-FFF2-40B4-BE49-F238E27FC236}">
                <a16:creationId xmlns:a16="http://schemas.microsoft.com/office/drawing/2014/main" id="{5D26A485-85B4-56DB-07D7-FF542F83BF10}"/>
              </a:ext>
            </a:extLst>
          </p:cNvPr>
          <p:cNvPicPr>
            <a:picLocks noGrp="1" noChangeAspect="1"/>
          </p:cNvPicPr>
          <p:nvPr>
            <p:ph idx="1"/>
          </p:nvPr>
        </p:nvPicPr>
        <p:blipFill>
          <a:blip r:embed="rId3"/>
          <a:stretch>
            <a:fillRect/>
          </a:stretch>
        </p:blipFill>
        <p:spPr>
          <a:xfrm>
            <a:off x="1216476" y="165002"/>
            <a:ext cx="6210533" cy="6070796"/>
          </a:xfrm>
          <a:prstGeom prst="rect">
            <a:avLst/>
          </a:prstGeom>
        </p:spPr>
      </p:pic>
      <p:cxnSp>
        <p:nvCxnSpPr>
          <p:cNvPr id="18" name="Straight Connector 17">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4509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257F8-76A9-7FDC-6BD3-1270972924C4}"/>
              </a:ext>
            </a:extLst>
          </p:cNvPr>
          <p:cNvSpPr>
            <a:spLocks noGrp="1"/>
          </p:cNvSpPr>
          <p:nvPr>
            <p:ph type="title"/>
          </p:nvPr>
        </p:nvSpPr>
        <p:spPr/>
        <p:txBody>
          <a:bodyPr/>
          <a:lstStyle/>
          <a:p>
            <a:r>
              <a:rPr lang="en-US" dirty="0"/>
              <a:t>They provide Extensibility</a:t>
            </a:r>
          </a:p>
        </p:txBody>
      </p:sp>
      <p:sp>
        <p:nvSpPr>
          <p:cNvPr id="3" name="Content Placeholder 2">
            <a:extLst>
              <a:ext uri="{FF2B5EF4-FFF2-40B4-BE49-F238E27FC236}">
                <a16:creationId xmlns:a16="http://schemas.microsoft.com/office/drawing/2014/main" id="{5B27AB07-7089-3612-C8DC-47DA8F7E3685}"/>
              </a:ext>
            </a:extLst>
          </p:cNvPr>
          <p:cNvSpPr>
            <a:spLocks noGrp="1"/>
          </p:cNvSpPr>
          <p:nvPr>
            <p:ph idx="1"/>
          </p:nvPr>
        </p:nvSpPr>
        <p:spPr/>
        <p:txBody>
          <a:bodyPr>
            <a:normAutofit lnSpcReduction="10000"/>
          </a:bodyPr>
          <a:lstStyle/>
          <a:p>
            <a:r>
              <a:rPr lang="en-US" dirty="0"/>
              <a:t>PLC Profiles module:</a:t>
            </a:r>
          </a:p>
          <a:p>
            <a:pPr lvl="1"/>
            <a:r>
              <a:rPr lang="en-US" dirty="0"/>
              <a:t>It is a repo contains all the required data to simulate a given PLC.</a:t>
            </a:r>
          </a:p>
          <a:p>
            <a:pPr lvl="1"/>
            <a:r>
              <a:rPr lang="en-US" dirty="0"/>
              <a:t>It consists of 3 main modules:</a:t>
            </a:r>
          </a:p>
          <a:p>
            <a:pPr lvl="2"/>
            <a:r>
              <a:rPr lang="en-US" dirty="0"/>
              <a:t>SNMP MIB</a:t>
            </a:r>
          </a:p>
          <a:p>
            <a:pPr lvl="2"/>
            <a:r>
              <a:rPr lang="en-US" dirty="0"/>
              <a:t>Nmap fingerprint</a:t>
            </a:r>
          </a:p>
          <a:p>
            <a:pPr lvl="2"/>
            <a:r>
              <a:rPr lang="en-US" dirty="0"/>
              <a:t>Management Website</a:t>
            </a:r>
          </a:p>
          <a:p>
            <a:r>
              <a:rPr lang="en-US" dirty="0"/>
              <a:t>HoneyPLC profiler tool automates the creation of new HoneyPLC Profile.</a:t>
            </a:r>
          </a:p>
          <a:p>
            <a:pPr lvl="1"/>
            <a:r>
              <a:rPr lang="en-US" dirty="0"/>
              <a:t>It interfaces with three different applications:</a:t>
            </a:r>
          </a:p>
          <a:p>
            <a:pPr lvl="2"/>
            <a:r>
              <a:rPr lang="en-US" dirty="0"/>
              <a:t>Nmap	</a:t>
            </a:r>
            <a:r>
              <a:rPr lang="en-US" dirty="0" err="1"/>
              <a:t>Snmpwalk</a:t>
            </a:r>
            <a:r>
              <a:rPr lang="en-US" dirty="0"/>
              <a:t>		Wget</a:t>
            </a:r>
          </a:p>
          <a:p>
            <a:pPr lvl="2"/>
            <a:r>
              <a:rPr lang="en-US" dirty="0"/>
              <a:t>To obtain the profile for a target PLC, HoneyPLC Profiler requires the </a:t>
            </a:r>
            <a:r>
              <a:rPr lang="en-US" b="1" dirty="0"/>
              <a:t>IP address of the PLC device as the only input</a:t>
            </a:r>
            <a:r>
              <a:rPr lang="en-US" dirty="0"/>
              <a:t>.</a:t>
            </a:r>
          </a:p>
          <a:p>
            <a:pPr lvl="2"/>
            <a:r>
              <a:rPr lang="en-US" dirty="0"/>
              <a:t>Then the profiler obtains the three discrete sets of data -&gt; SNMP MIB, </a:t>
            </a:r>
            <a:r>
              <a:rPr lang="en-US" dirty="0" err="1"/>
              <a:t>nmap</a:t>
            </a:r>
            <a:r>
              <a:rPr lang="en-US" dirty="0"/>
              <a:t> fingerprints, and management website</a:t>
            </a:r>
          </a:p>
        </p:txBody>
      </p:sp>
    </p:spTree>
    <p:extLst>
      <p:ext uri="{BB962C8B-B14F-4D97-AF65-F5344CB8AC3E}">
        <p14:creationId xmlns:p14="http://schemas.microsoft.com/office/powerpoint/2010/main" val="1630146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2EC42-9A9E-F1C5-26BB-898AC3DD36CC}"/>
              </a:ext>
            </a:extLst>
          </p:cNvPr>
          <p:cNvSpPr>
            <a:spLocks noGrp="1"/>
          </p:cNvSpPr>
          <p:nvPr>
            <p:ph type="title"/>
          </p:nvPr>
        </p:nvSpPr>
        <p:spPr/>
        <p:txBody>
          <a:bodyPr/>
          <a:lstStyle/>
          <a:p>
            <a:r>
              <a:rPr lang="en-US" dirty="0"/>
              <a:t>Illustrative Use Case Scenario</a:t>
            </a:r>
          </a:p>
        </p:txBody>
      </p:sp>
      <p:sp>
        <p:nvSpPr>
          <p:cNvPr id="3" name="Content Placeholder 2">
            <a:extLst>
              <a:ext uri="{FF2B5EF4-FFF2-40B4-BE49-F238E27FC236}">
                <a16:creationId xmlns:a16="http://schemas.microsoft.com/office/drawing/2014/main" id="{FEB0D5F4-59B8-F5A1-B1DE-898BCC4CD0DB}"/>
              </a:ext>
            </a:extLst>
          </p:cNvPr>
          <p:cNvSpPr>
            <a:spLocks noGrp="1"/>
          </p:cNvSpPr>
          <p:nvPr>
            <p:ph idx="1"/>
          </p:nvPr>
        </p:nvSpPr>
        <p:spPr/>
        <p:txBody>
          <a:bodyPr>
            <a:normAutofit fontScale="70000" lnSpcReduction="20000"/>
          </a:bodyPr>
          <a:lstStyle/>
          <a:p>
            <a:r>
              <a:rPr lang="en-US" dirty="0"/>
              <a:t>The first step in using HoneyPLC is to choose the PLC profile which is required to be simulated.</a:t>
            </a:r>
          </a:p>
          <a:p>
            <a:r>
              <a:rPr lang="en-US" dirty="0"/>
              <a:t>When Attacker try to contact the honeypot, he will first start with fingerprinting the system, so all TCP/IP requests will be handled by the HoneyPLC personality Engine, which returns the fingerprint results of the simulated PLC (Honeyd).</a:t>
            </a:r>
          </a:p>
          <a:p>
            <a:r>
              <a:rPr lang="en-US" dirty="0"/>
              <a:t>Attacker will try to use </a:t>
            </a:r>
            <a:r>
              <a:rPr lang="en-US" b="1" dirty="0"/>
              <a:t>S7Comm connection to check what PLC memory blocks are available</a:t>
            </a:r>
            <a:r>
              <a:rPr lang="en-US" dirty="0"/>
              <a:t>, which is a very important step to be able to modify the inner ladder logic code of PLC</a:t>
            </a:r>
          </a:p>
          <a:p>
            <a:pPr lvl="1"/>
            <a:r>
              <a:rPr lang="en-US" dirty="0"/>
              <a:t>Also A tool like </a:t>
            </a:r>
            <a:r>
              <a:rPr lang="en-US" b="1" dirty="0" err="1"/>
              <a:t>PLCScan</a:t>
            </a:r>
            <a:r>
              <a:rPr lang="en-US" dirty="0"/>
              <a:t> is used to scan all available PLC devices in the network, and which PLCs implement S7comm protocol, and list all PLC information including basic hardware, serial number, name of PLC and version</a:t>
            </a:r>
          </a:p>
          <a:p>
            <a:r>
              <a:rPr lang="en-US" dirty="0"/>
              <a:t>This attempt is handled by S7Comm module server, which later replies with the requested information.</a:t>
            </a:r>
          </a:p>
          <a:p>
            <a:r>
              <a:rPr lang="en-US" dirty="0"/>
              <a:t>Then S7Comm server is logging all the interactions, including the attacker IP address and memory block requests made to PLC</a:t>
            </a:r>
          </a:p>
          <a:p>
            <a:r>
              <a:rPr lang="en-US" dirty="0"/>
              <a:t>At this point, when the attacker identifies the PLC memory block suitable for injection, he will use S7Comm application like </a:t>
            </a:r>
            <a:r>
              <a:rPr lang="en-US" b="1" dirty="0" err="1"/>
              <a:t>PLCinject</a:t>
            </a:r>
            <a:r>
              <a:rPr lang="en-US" dirty="0"/>
              <a:t> to load ladder logic code into the PLC, effectively overwriting any pre-existing code and introducing a custom-made malicious payload. </a:t>
            </a:r>
          </a:p>
          <a:p>
            <a:r>
              <a:rPr lang="en-US" dirty="0"/>
              <a:t>S7Comm server will write the code into the dedicated HoneyPLC repo, which is </a:t>
            </a:r>
            <a:r>
              <a:rPr lang="en-US" dirty="0" err="1"/>
              <a:t>manged</a:t>
            </a:r>
            <a:r>
              <a:rPr lang="en-US" dirty="0"/>
              <a:t> by the Interaction Data module, which will store the Ladder Logic, and all the interaction logs. ( but what is the tool used for capturing the ladder logic ? )</a:t>
            </a:r>
          </a:p>
        </p:txBody>
      </p:sp>
    </p:spTree>
    <p:extLst>
      <p:ext uri="{BB962C8B-B14F-4D97-AF65-F5344CB8AC3E}">
        <p14:creationId xmlns:p14="http://schemas.microsoft.com/office/powerpoint/2010/main" val="3838474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BFC70F-BEAD-319A-C991-4D51F0BE2885}"/>
              </a:ext>
            </a:extLst>
          </p:cNvPr>
          <p:cNvSpPr>
            <a:spLocks noGrp="1"/>
          </p:cNvSpPr>
          <p:nvPr>
            <p:ph type="title"/>
          </p:nvPr>
        </p:nvSpPr>
        <p:spPr>
          <a:xfrm>
            <a:off x="1097280" y="286603"/>
            <a:ext cx="10058400" cy="1450757"/>
          </a:xfrm>
        </p:spPr>
        <p:txBody>
          <a:bodyPr>
            <a:normAutofit/>
          </a:bodyPr>
          <a:lstStyle/>
          <a:p>
            <a:r>
              <a:rPr lang="en-US" dirty="0"/>
              <a:t>S7Comm Server Module</a:t>
            </a:r>
          </a:p>
        </p:txBody>
      </p:sp>
      <p:cxnSp>
        <p:nvCxnSpPr>
          <p:cNvPr id="14" name="Straight Connector 13">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45F359D2-BF7B-FCCB-8896-CDAA5C535252}"/>
              </a:ext>
            </a:extLst>
          </p:cNvPr>
          <p:cNvSpPr>
            <a:spLocks noGrp="1"/>
          </p:cNvSpPr>
          <p:nvPr>
            <p:ph idx="1"/>
          </p:nvPr>
        </p:nvSpPr>
        <p:spPr>
          <a:xfrm>
            <a:off x="1097280" y="2108201"/>
            <a:ext cx="6437367" cy="3760891"/>
          </a:xfrm>
        </p:spPr>
        <p:txBody>
          <a:bodyPr>
            <a:normAutofit fontScale="77500" lnSpcReduction="20000"/>
          </a:bodyPr>
          <a:lstStyle/>
          <a:p>
            <a:r>
              <a:rPr lang="en-US" dirty="0"/>
              <a:t>It provides a sophisticated simulation of the Siemens proprietary protocol.</a:t>
            </a:r>
          </a:p>
          <a:p>
            <a:r>
              <a:rPr lang="en-US" dirty="0"/>
              <a:t>It simulates a real Siemens PLC and </a:t>
            </a:r>
            <a:r>
              <a:rPr lang="en-US" dirty="0" err="1"/>
              <a:t>exploses</a:t>
            </a:r>
            <a:r>
              <a:rPr lang="en-US" dirty="0"/>
              <a:t> several memory blocks via TCP port 102.</a:t>
            </a:r>
          </a:p>
          <a:p>
            <a:r>
              <a:rPr lang="en-US" dirty="0"/>
              <a:t>Siemens had not released the specifications of S7comm protocol and the information that is avail able has been collected by third parties like the Snap7 project [27] and the Wireshark Wiki [1].</a:t>
            </a:r>
          </a:p>
          <a:p>
            <a:r>
              <a:rPr lang="en-US" dirty="0"/>
              <a:t>They leveraged the Snap7 framework [27, 32] to write an S7comm server application in C++. </a:t>
            </a:r>
          </a:p>
          <a:p>
            <a:r>
              <a:rPr lang="en-US" dirty="0"/>
              <a:t>They modified and recompiled the source code of the main Snap7 library to add </a:t>
            </a:r>
            <a:r>
              <a:rPr lang="en-US" dirty="0" err="1"/>
              <a:t>thier</a:t>
            </a:r>
            <a:r>
              <a:rPr lang="en-US" dirty="0"/>
              <a:t> own features. These include logging the S7comm interactions, ladder logic capture, and PLC firmware specifications for all three Siemens PLC models. For example, CPU model, serial number, PLC name label, copyright among others.</a:t>
            </a:r>
          </a:p>
        </p:txBody>
      </p:sp>
      <p:pic>
        <p:nvPicPr>
          <p:cNvPr id="5" name="Content Placeholder 4">
            <a:extLst>
              <a:ext uri="{FF2B5EF4-FFF2-40B4-BE49-F238E27FC236}">
                <a16:creationId xmlns:a16="http://schemas.microsoft.com/office/drawing/2014/main" id="{7EA67AFD-784E-74C5-D636-C8512D3B0964}"/>
              </a:ext>
            </a:extLst>
          </p:cNvPr>
          <p:cNvPicPr>
            <a:picLocks noChangeAspect="1"/>
          </p:cNvPicPr>
          <p:nvPr/>
        </p:nvPicPr>
        <p:blipFill>
          <a:blip r:embed="rId2"/>
          <a:stretch>
            <a:fillRect/>
          </a:stretch>
        </p:blipFill>
        <p:spPr>
          <a:xfrm>
            <a:off x="8129006" y="2301342"/>
            <a:ext cx="3144043" cy="3374607"/>
          </a:xfrm>
          <a:prstGeom prst="rect">
            <a:avLst/>
          </a:prstGeom>
        </p:spPr>
      </p:pic>
      <p:sp>
        <p:nvSpPr>
          <p:cNvPr id="16" name="Rectangle 15">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44289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DCA563-D679-B3A4-01BD-5BDA7C9170A5}"/>
              </a:ext>
            </a:extLst>
          </p:cNvPr>
          <p:cNvSpPr>
            <a:spLocks noGrp="1"/>
          </p:cNvSpPr>
          <p:nvPr>
            <p:ph type="title"/>
          </p:nvPr>
        </p:nvSpPr>
        <p:spPr>
          <a:xfrm>
            <a:off x="8141110" y="639098"/>
            <a:ext cx="3401961" cy="3494790"/>
          </a:xfrm>
        </p:spPr>
        <p:txBody>
          <a:bodyPr vert="horz" lIns="91440" tIns="45720" rIns="91440" bIns="45720" rtlCol="0" anchor="b">
            <a:normAutofit/>
          </a:bodyPr>
          <a:lstStyle/>
          <a:p>
            <a:r>
              <a:rPr lang="en-US" sz="4600">
                <a:solidFill>
                  <a:schemeClr val="tx1">
                    <a:lumMod val="85000"/>
                    <a:lumOff val="15000"/>
                  </a:schemeClr>
                </a:solidFill>
              </a:rPr>
              <a:t>Tools Implementing S7Comm</a:t>
            </a:r>
          </a:p>
        </p:txBody>
      </p:sp>
      <p:cxnSp>
        <p:nvCxnSpPr>
          <p:cNvPr id="15" name="Straight Connector 14">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4" name="Content Placeholder 3">
            <a:extLst>
              <a:ext uri="{FF2B5EF4-FFF2-40B4-BE49-F238E27FC236}">
                <a16:creationId xmlns:a16="http://schemas.microsoft.com/office/drawing/2014/main" id="{B645D989-B0B2-BD2E-A7FC-2CB7710CD02C}"/>
              </a:ext>
            </a:extLst>
          </p:cNvPr>
          <p:cNvGraphicFramePr>
            <a:graphicFrameLocks noGrp="1"/>
          </p:cNvGraphicFramePr>
          <p:nvPr>
            <p:ph idx="1"/>
            <p:extLst>
              <p:ext uri="{D42A27DB-BD31-4B8C-83A1-F6EECF244321}">
                <p14:modId xmlns:p14="http://schemas.microsoft.com/office/powerpoint/2010/main" val="3116745534"/>
              </p:ext>
            </p:extLst>
          </p:nvPr>
        </p:nvGraphicFramePr>
        <p:xfrm>
          <a:off x="633999" y="765358"/>
          <a:ext cx="6912218" cy="4803607"/>
        </p:xfrm>
        <a:graphic>
          <a:graphicData uri="http://schemas.openxmlformats.org/drawingml/2006/table">
            <a:tbl>
              <a:tblPr>
                <a:solidFill>
                  <a:schemeClr val="accent1">
                    <a:lumMod val="20000"/>
                    <a:lumOff val="80000"/>
                  </a:schemeClr>
                </a:solidFill>
              </a:tblPr>
              <a:tblGrid>
                <a:gridCol w="2261189">
                  <a:extLst>
                    <a:ext uri="{9D8B030D-6E8A-4147-A177-3AD203B41FA5}">
                      <a16:colId xmlns:a16="http://schemas.microsoft.com/office/drawing/2014/main" val="662598410"/>
                    </a:ext>
                  </a:extLst>
                </a:gridCol>
                <a:gridCol w="2313895">
                  <a:extLst>
                    <a:ext uri="{9D8B030D-6E8A-4147-A177-3AD203B41FA5}">
                      <a16:colId xmlns:a16="http://schemas.microsoft.com/office/drawing/2014/main" val="1102811612"/>
                    </a:ext>
                  </a:extLst>
                </a:gridCol>
                <a:gridCol w="2337134">
                  <a:extLst>
                    <a:ext uri="{9D8B030D-6E8A-4147-A177-3AD203B41FA5}">
                      <a16:colId xmlns:a16="http://schemas.microsoft.com/office/drawing/2014/main" val="2794144598"/>
                    </a:ext>
                  </a:extLst>
                </a:gridCol>
              </a:tblGrid>
              <a:tr h="293407">
                <a:tc>
                  <a:txBody>
                    <a:bodyPr/>
                    <a:lstStyle/>
                    <a:p>
                      <a:r>
                        <a:rPr lang="en-US" sz="1200" cap="none" spc="0">
                          <a:solidFill>
                            <a:schemeClr val="tx1"/>
                          </a:solidFill>
                        </a:rPr>
                        <a:t>Tool / Library</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Purpose / Features</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Language / Platform</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86773778"/>
                  </a:ext>
                </a:extLst>
              </a:tr>
              <a:tr h="653898">
                <a:tc>
                  <a:txBody>
                    <a:bodyPr/>
                    <a:lstStyle/>
                    <a:p>
                      <a:r>
                        <a:rPr lang="en-US" sz="1200" b="1" cap="none" spc="0">
                          <a:solidFill>
                            <a:schemeClr val="tx1"/>
                          </a:solidFill>
                        </a:rPr>
                        <a:t>Snap7</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Client/server library to communicate with Siemens S7 PLCs.</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C++, Python, Java, etc.</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10737909"/>
                  </a:ext>
                </a:extLst>
              </a:tr>
              <a:tr h="653898">
                <a:tc>
                  <a:txBody>
                    <a:bodyPr/>
                    <a:lstStyle/>
                    <a:p>
                      <a:r>
                        <a:rPr lang="en-US" sz="1200" b="1" cap="none" spc="0">
                          <a:solidFill>
                            <a:schemeClr val="tx1"/>
                          </a:solidFill>
                        </a:rPr>
                        <a:t>PLCInject</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Offensive tool to </a:t>
                      </a:r>
                      <a:r>
                        <a:rPr lang="en-US" sz="1200" b="1" cap="none" spc="0">
                          <a:solidFill>
                            <a:schemeClr val="tx1"/>
                          </a:solidFill>
                        </a:rPr>
                        <a:t>inject S7Comm commands</a:t>
                      </a:r>
                      <a:r>
                        <a:rPr lang="en-US" sz="1200" cap="none" spc="0">
                          <a:solidFill>
                            <a:schemeClr val="tx1"/>
                          </a:solidFill>
                        </a:rPr>
                        <a:t> into Siemens PLCs over the network.</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Python (Scapy-based)</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82180179"/>
                  </a:ext>
                </a:extLst>
              </a:tr>
              <a:tr h="473652">
                <a:tc>
                  <a:txBody>
                    <a:bodyPr/>
                    <a:lstStyle/>
                    <a:p>
                      <a:r>
                        <a:rPr lang="en-US" sz="1200" b="1" cap="none" spc="0">
                          <a:solidFill>
                            <a:schemeClr val="tx1"/>
                          </a:solidFill>
                        </a:rPr>
                        <a:t>Scapy + S7Comm ext</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Scapy extension for crafting and sending raw S7Comm packets.</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Python</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587878499"/>
                  </a:ext>
                </a:extLst>
              </a:tr>
              <a:tr h="473652">
                <a:tc>
                  <a:txBody>
                    <a:bodyPr/>
                    <a:lstStyle/>
                    <a:p>
                      <a:r>
                        <a:rPr lang="en-US" sz="1200" b="1" cap="none" spc="0">
                          <a:solidFill>
                            <a:schemeClr val="tx1"/>
                          </a:solidFill>
                        </a:rPr>
                        <a:t>s7comm Wireshark</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Wireshark dissector plugin for decoding S7Comm packets.</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Wireshark plugin</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165557"/>
                  </a:ext>
                </a:extLst>
              </a:tr>
              <a:tr h="473652">
                <a:tc>
                  <a:txBody>
                    <a:bodyPr/>
                    <a:lstStyle/>
                    <a:p>
                      <a:r>
                        <a:rPr lang="en-US" sz="1200" b="1" cap="none" spc="0">
                          <a:solidFill>
                            <a:schemeClr val="tx1"/>
                          </a:solidFill>
                        </a:rPr>
                        <a:t>S7comm-plus plugin</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Extends Wireshark dissector to support S7-1500 and S7Comm+</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Wireshark plugin (open src)</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93076164"/>
                  </a:ext>
                </a:extLst>
              </a:tr>
              <a:tr h="653898">
                <a:tc>
                  <a:txBody>
                    <a:bodyPr/>
                    <a:lstStyle/>
                    <a:p>
                      <a:r>
                        <a:rPr lang="en-US" sz="1200" b="1" cap="none" spc="0">
                          <a:solidFill>
                            <a:schemeClr val="tx1"/>
                          </a:solidFill>
                        </a:rPr>
                        <a:t>PLCscan</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Scanner to identify S7Comm-enabled PLCs and gather metadata.</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Python / Nmap NSE</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37153534"/>
                  </a:ext>
                </a:extLst>
              </a:tr>
              <a:tr h="653898">
                <a:tc>
                  <a:txBody>
                    <a:bodyPr/>
                    <a:lstStyle/>
                    <a:p>
                      <a:r>
                        <a:rPr lang="en-US" sz="1200" b="1" cap="none" spc="0">
                          <a:solidFill>
                            <a:schemeClr val="tx1"/>
                          </a:solidFill>
                        </a:rPr>
                        <a:t>Siemens PLCSIM</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Siemens official emulator for S7 PLCs (mostly for engineering, not attack).</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Windows / Siemens TIA</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57283770"/>
                  </a:ext>
                </a:extLst>
              </a:tr>
              <a:tr h="473652">
                <a:tc>
                  <a:txBody>
                    <a:bodyPr/>
                    <a:lstStyle/>
                    <a:p>
                      <a:r>
                        <a:rPr lang="en-US" sz="1200" b="1" cap="none" spc="0">
                          <a:solidFill>
                            <a:schemeClr val="tx1"/>
                          </a:solidFill>
                        </a:rPr>
                        <a:t>Rogue7</a:t>
                      </a:r>
                      <a:endParaRPr lang="en-US" sz="1200" cap="none" spc="0">
                        <a:solidFill>
                          <a:schemeClr val="tx1"/>
                        </a:solidFill>
                      </a:endParaRP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PoC tool for injecting rogue logic blocks into Siemens PLCs.</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a:solidFill>
                            <a:schemeClr val="tx1"/>
                          </a:solidFill>
                        </a:rPr>
                        <a:t>Python / C++</a:t>
                      </a:r>
                    </a:p>
                  </a:txBody>
                  <a:tcPr marL="37066" marR="37066" marT="18533" marB="675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6534976"/>
                  </a:ext>
                </a:extLst>
              </a:tr>
            </a:tbl>
          </a:graphicData>
        </a:graphic>
      </p:graphicFrame>
    </p:spTree>
    <p:extLst>
      <p:ext uri="{BB962C8B-B14F-4D97-AF65-F5344CB8AC3E}">
        <p14:creationId xmlns:p14="http://schemas.microsoft.com/office/powerpoint/2010/main" val="1889356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998DE-0790-8CA3-F446-1CF4CC05D5DA}"/>
              </a:ext>
            </a:extLst>
          </p:cNvPr>
          <p:cNvSpPr>
            <a:spLocks noGrp="1"/>
          </p:cNvSpPr>
          <p:nvPr>
            <p:ph type="title"/>
          </p:nvPr>
        </p:nvSpPr>
        <p:spPr>
          <a:xfrm>
            <a:off x="1036320" y="286603"/>
            <a:ext cx="10058400" cy="1450757"/>
          </a:xfrm>
        </p:spPr>
        <p:txBody>
          <a:bodyPr>
            <a:normAutofit/>
          </a:bodyPr>
          <a:lstStyle/>
          <a:p>
            <a:r>
              <a:rPr lang="en-US" dirty="0"/>
              <a:t>SNMP Server</a:t>
            </a:r>
          </a:p>
        </p:txBody>
      </p:sp>
      <p:cxnSp>
        <p:nvCxnSpPr>
          <p:cNvPr id="17" name="Straight Connector 16">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diagram of a tree&#10;&#10;AI-generated content may be incorrect.">
            <a:extLst>
              <a:ext uri="{FF2B5EF4-FFF2-40B4-BE49-F238E27FC236}">
                <a16:creationId xmlns:a16="http://schemas.microsoft.com/office/drawing/2014/main" id="{82F631FD-6859-43BD-1EB9-1B13333495E9}"/>
              </a:ext>
            </a:extLst>
          </p:cNvPr>
          <p:cNvPicPr>
            <a:picLocks noChangeAspect="1"/>
          </p:cNvPicPr>
          <p:nvPr/>
        </p:nvPicPr>
        <p:blipFill>
          <a:blip r:embed="rId3"/>
          <a:stretch>
            <a:fillRect/>
          </a:stretch>
        </p:blipFill>
        <p:spPr>
          <a:xfrm>
            <a:off x="155631" y="2427555"/>
            <a:ext cx="4550830" cy="2936181"/>
          </a:xfrm>
          <a:prstGeom prst="rect">
            <a:avLst/>
          </a:prstGeom>
        </p:spPr>
      </p:pic>
      <p:sp>
        <p:nvSpPr>
          <p:cNvPr id="3" name="Content Placeholder 2">
            <a:extLst>
              <a:ext uri="{FF2B5EF4-FFF2-40B4-BE49-F238E27FC236}">
                <a16:creationId xmlns:a16="http://schemas.microsoft.com/office/drawing/2014/main" id="{34551034-3713-4A69-FE6F-F55167751908}"/>
              </a:ext>
            </a:extLst>
          </p:cNvPr>
          <p:cNvSpPr>
            <a:spLocks noGrp="1"/>
          </p:cNvSpPr>
          <p:nvPr>
            <p:ph idx="1"/>
          </p:nvPr>
        </p:nvSpPr>
        <p:spPr>
          <a:xfrm>
            <a:off x="4706460" y="2108201"/>
            <a:ext cx="6388260" cy="3760891"/>
          </a:xfrm>
        </p:spPr>
        <p:txBody>
          <a:bodyPr>
            <a:normAutofit/>
          </a:bodyPr>
          <a:lstStyle/>
          <a:p>
            <a:pPr>
              <a:lnSpc>
                <a:spcPct val="110000"/>
              </a:lnSpc>
            </a:pPr>
            <a:r>
              <a:rPr lang="en-US" sz="1500" dirty="0"/>
              <a:t>They implemented advanced simulation of SNMP Server with believable </a:t>
            </a:r>
            <a:r>
              <a:rPr lang="en-US" sz="1500" b="1" dirty="0"/>
              <a:t>MIB </a:t>
            </a:r>
            <a:r>
              <a:rPr lang="en-US" sz="1500" dirty="0"/>
              <a:t>data, allowing the honeypot to reply to any external SNMP server query</a:t>
            </a:r>
          </a:p>
          <a:p>
            <a:pPr>
              <a:lnSpc>
                <a:spcPct val="110000"/>
              </a:lnSpc>
            </a:pPr>
            <a:r>
              <a:rPr lang="en-US" sz="1500" dirty="0"/>
              <a:t>SNMP is used to monitor network connected devices and listens to requests over UDP port 161</a:t>
            </a:r>
          </a:p>
          <a:p>
            <a:pPr>
              <a:lnSpc>
                <a:spcPct val="110000"/>
              </a:lnSpc>
            </a:pPr>
            <a:r>
              <a:rPr lang="en-US" sz="1500" dirty="0"/>
              <a:t>Real PLCs implements SNMP server, so honeypot should also Implements it. </a:t>
            </a:r>
          </a:p>
          <a:p>
            <a:pPr>
              <a:lnSpc>
                <a:spcPct val="110000"/>
              </a:lnSpc>
            </a:pPr>
            <a:r>
              <a:rPr lang="en-US" sz="1500" dirty="0"/>
              <a:t>It uses </a:t>
            </a:r>
            <a:r>
              <a:rPr lang="en-US" sz="1500" b="1" dirty="0"/>
              <a:t>Management Information Base (MIB)</a:t>
            </a:r>
            <a:r>
              <a:rPr lang="en-US" sz="1500" dirty="0"/>
              <a:t> as its data structure, which defines the structure of the information that a network device can report or be configured with using SNMP.</a:t>
            </a:r>
          </a:p>
          <a:p>
            <a:pPr lvl="1">
              <a:lnSpc>
                <a:spcPct val="110000"/>
              </a:lnSpc>
            </a:pPr>
            <a:r>
              <a:rPr lang="en-US" sz="1500" dirty="0"/>
              <a:t>Each element is defined as object, and it reports what data can be queried or set on a device.</a:t>
            </a:r>
          </a:p>
          <a:p>
            <a:pPr lvl="1">
              <a:lnSpc>
                <a:spcPct val="110000"/>
              </a:lnSpc>
            </a:pPr>
            <a:r>
              <a:rPr lang="en-US" sz="1500" dirty="0"/>
              <a:t>It is in form of Hierarchical tree of object </a:t>
            </a:r>
            <a:r>
              <a:rPr lang="en-US" sz="1500" dirty="0" err="1"/>
              <a:t>identifers</a:t>
            </a:r>
            <a:r>
              <a:rPr lang="en-US" sz="1500" dirty="0"/>
              <a:t> (OIDs)</a:t>
            </a:r>
          </a:p>
        </p:txBody>
      </p:sp>
      <p:sp>
        <p:nvSpPr>
          <p:cNvPr id="18" name="Rectangle 17">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02724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C86BB-AF0A-8DD4-905A-A3D8BD4CE046}"/>
              </a:ext>
            </a:extLst>
          </p:cNvPr>
          <p:cNvSpPr>
            <a:spLocks noGrp="1"/>
          </p:cNvSpPr>
          <p:nvPr>
            <p:ph type="title"/>
          </p:nvPr>
        </p:nvSpPr>
        <p:spPr>
          <a:xfrm>
            <a:off x="1036320" y="286603"/>
            <a:ext cx="10058400" cy="1450757"/>
          </a:xfrm>
        </p:spPr>
        <p:txBody>
          <a:bodyPr>
            <a:normAutofit/>
          </a:bodyPr>
          <a:lstStyle/>
          <a:p>
            <a:r>
              <a:rPr lang="en-US" dirty="0"/>
              <a:t>How SNMP/HTTP server works</a:t>
            </a:r>
          </a:p>
        </p:txBody>
      </p:sp>
      <p:cxnSp>
        <p:nvCxnSpPr>
          <p:cNvPr id="11" name="Straight Connector 10">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9E81229-0A6F-5C35-A675-A286D36BFB73}"/>
              </a:ext>
            </a:extLst>
          </p:cNvPr>
          <p:cNvSpPr>
            <a:spLocks noGrp="1"/>
          </p:cNvSpPr>
          <p:nvPr>
            <p:ph idx="1"/>
          </p:nvPr>
        </p:nvSpPr>
        <p:spPr>
          <a:xfrm>
            <a:off x="5080026" y="2002231"/>
            <a:ext cx="6811994" cy="4240082"/>
          </a:xfrm>
        </p:spPr>
        <p:txBody>
          <a:bodyPr>
            <a:normAutofit lnSpcReduction="10000"/>
          </a:bodyPr>
          <a:lstStyle/>
          <a:p>
            <a:pPr marL="342900" indent="-342900">
              <a:buFont typeface="+mj-lt"/>
              <a:buAutoNum type="arabicPeriod"/>
            </a:pPr>
            <a:r>
              <a:rPr lang="en-US" dirty="0"/>
              <a:t>SNMP Setup includes a Manager as well as Agent module</a:t>
            </a:r>
          </a:p>
          <a:p>
            <a:pPr marL="635508" lvl="1" indent="-342900"/>
            <a:r>
              <a:rPr lang="en-US" dirty="0"/>
              <a:t>Manager continually queries the Agent for up-to-date data</a:t>
            </a:r>
          </a:p>
          <a:p>
            <a:pPr marL="635508" lvl="1" indent="-342900"/>
            <a:r>
              <a:rPr lang="en-US" dirty="0"/>
              <a:t>Agent exposes a set of data known as MIB</a:t>
            </a:r>
          </a:p>
          <a:p>
            <a:pPr marL="818388" lvl="2" indent="-342900"/>
            <a:r>
              <a:rPr lang="en-US" dirty="0"/>
              <a:t>They simulate this process using python app called </a:t>
            </a:r>
            <a:r>
              <a:rPr lang="en-US" dirty="0" err="1"/>
              <a:t>snmpsim</a:t>
            </a:r>
            <a:endParaRPr lang="en-US" dirty="0"/>
          </a:p>
          <a:p>
            <a:pPr marL="342900" indent="-342900">
              <a:buFont typeface="+mj-lt"/>
              <a:buAutoNum type="arabicPeriod"/>
            </a:pPr>
            <a:r>
              <a:rPr lang="en-US" dirty="0"/>
              <a:t>When SNMP request is received by HoneyPLC</a:t>
            </a:r>
          </a:p>
          <a:p>
            <a:pPr marL="635508" lvl="1" indent="-342900"/>
            <a:r>
              <a:rPr lang="en-US" dirty="0"/>
              <a:t>Agent replies with an OID as real PLC would do.</a:t>
            </a:r>
          </a:p>
          <a:p>
            <a:pPr marL="342900" indent="-342900">
              <a:buFont typeface="+mj-lt"/>
              <a:buAutoNum type="arabicPeriod"/>
            </a:pPr>
            <a:r>
              <a:rPr lang="en-US" dirty="0"/>
              <a:t>HTTP Server provides an advanced simulation of the HTTP server of Real PLCs websites found in real PLCs</a:t>
            </a:r>
          </a:p>
          <a:p>
            <a:pPr marL="635508" lvl="1" indent="-342900"/>
            <a:r>
              <a:rPr lang="en-US" dirty="0"/>
              <a:t>Most Siemens PLCs include an optional HTTP service to manage some of its internal configuration features.</a:t>
            </a:r>
          </a:p>
          <a:p>
            <a:pPr marL="635508" lvl="1" indent="-342900"/>
            <a:r>
              <a:rPr lang="en-US" dirty="0"/>
              <a:t>They implemented it with </a:t>
            </a:r>
            <a:r>
              <a:rPr lang="en-US" dirty="0" err="1"/>
              <a:t>lighttpd</a:t>
            </a:r>
            <a:r>
              <a:rPr lang="en-US" dirty="0"/>
              <a:t>, because it is very lightweight and good for serving static files, so it acts as the backend server.</a:t>
            </a:r>
          </a:p>
          <a:p>
            <a:pPr marL="292608" lvl="1" indent="0">
              <a:buNone/>
            </a:pPr>
            <a:endParaRPr lang="en-US" dirty="0"/>
          </a:p>
          <a:p>
            <a:pPr marL="342900" indent="-342900">
              <a:buFont typeface="+mj-lt"/>
              <a:buAutoNum type="arabicPeriod"/>
            </a:pPr>
            <a:endParaRPr lang="en-US" dirty="0"/>
          </a:p>
        </p:txBody>
      </p:sp>
      <p:sp>
        <p:nvSpPr>
          <p:cNvPr id="13" name="Rectangle 12">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F6C29C47-7AE4-DA11-A801-74B05985CE66}"/>
              </a:ext>
            </a:extLst>
          </p:cNvPr>
          <p:cNvPicPr>
            <a:picLocks noChangeAspect="1"/>
          </p:cNvPicPr>
          <p:nvPr/>
        </p:nvPicPr>
        <p:blipFill>
          <a:blip r:embed="rId3"/>
          <a:stretch>
            <a:fillRect/>
          </a:stretch>
        </p:blipFill>
        <p:spPr>
          <a:xfrm>
            <a:off x="299980" y="1895846"/>
            <a:ext cx="4645514" cy="4290635"/>
          </a:xfrm>
          <a:prstGeom prst="rect">
            <a:avLst/>
          </a:prstGeom>
        </p:spPr>
      </p:pic>
    </p:spTree>
    <p:extLst>
      <p:ext uri="{BB962C8B-B14F-4D97-AF65-F5344CB8AC3E}">
        <p14:creationId xmlns:p14="http://schemas.microsoft.com/office/powerpoint/2010/main" val="2695695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C79C2-BF2A-FC12-0A87-E00093FB0A9B}"/>
              </a:ext>
            </a:extLst>
          </p:cNvPr>
          <p:cNvSpPr>
            <a:spLocks noGrp="1"/>
          </p:cNvSpPr>
          <p:nvPr>
            <p:ph type="title"/>
          </p:nvPr>
        </p:nvSpPr>
        <p:spPr/>
        <p:txBody>
          <a:bodyPr/>
          <a:lstStyle/>
          <a:p>
            <a:r>
              <a:rPr lang="en-US" dirty="0"/>
              <a:t>Ladder Logic Collection</a:t>
            </a:r>
          </a:p>
        </p:txBody>
      </p:sp>
      <p:sp>
        <p:nvSpPr>
          <p:cNvPr id="3" name="Content Placeholder 2">
            <a:extLst>
              <a:ext uri="{FF2B5EF4-FFF2-40B4-BE49-F238E27FC236}">
                <a16:creationId xmlns:a16="http://schemas.microsoft.com/office/drawing/2014/main" id="{5F8881A3-B983-D37E-75AD-E4E72D8A242E}"/>
              </a:ext>
            </a:extLst>
          </p:cNvPr>
          <p:cNvSpPr>
            <a:spLocks noGrp="1"/>
          </p:cNvSpPr>
          <p:nvPr>
            <p:ph idx="1"/>
          </p:nvPr>
        </p:nvSpPr>
        <p:spPr/>
        <p:txBody>
          <a:bodyPr/>
          <a:lstStyle/>
          <a:p>
            <a:pPr>
              <a:buFont typeface="Wingdings" panose="05000000000000000000" pitchFamily="2" charset="2"/>
              <a:buChar char="q"/>
            </a:pPr>
            <a:r>
              <a:rPr lang="en-US" dirty="0"/>
              <a:t>They write any ladder logic program that attacker uploads.</a:t>
            </a:r>
          </a:p>
          <a:p>
            <a:pPr>
              <a:buFont typeface="Wingdings" panose="05000000000000000000" pitchFamily="2" charset="2"/>
              <a:buChar char="q"/>
            </a:pPr>
            <a:r>
              <a:rPr lang="en-US" dirty="0"/>
              <a:t>They implemented this feature using C++ in similar </a:t>
            </a:r>
            <a:r>
              <a:rPr lang="en-US" dirty="0" err="1"/>
              <a:t>fashon</a:t>
            </a:r>
            <a:r>
              <a:rPr lang="en-US" dirty="0"/>
              <a:t> to S7Comm Server, and modified Snap7 Framework main libraries to integrate this feature</a:t>
            </a:r>
          </a:p>
          <a:p>
            <a:pPr>
              <a:buFont typeface="Wingdings" panose="05000000000000000000" pitchFamily="2" charset="2"/>
              <a:buChar char="q"/>
            </a:pPr>
            <a:r>
              <a:rPr lang="en-US" dirty="0"/>
              <a:t>So, the captured ladder logic is written into HoneyPLC filesystem with the corresponding timestamp</a:t>
            </a:r>
          </a:p>
          <a:p>
            <a:pPr lvl="1">
              <a:buFont typeface="Wingdings" panose="05000000000000000000" pitchFamily="2" charset="2"/>
              <a:buChar char="q"/>
            </a:pPr>
            <a:r>
              <a:rPr lang="en-US" dirty="0"/>
              <a:t>Then Later it can be analyzed manually at the byte level to expose the ladder logic instructions and extract the new attack patterns.</a:t>
            </a:r>
          </a:p>
        </p:txBody>
      </p:sp>
    </p:spTree>
    <p:extLst>
      <p:ext uri="{BB962C8B-B14F-4D97-AF65-F5344CB8AC3E}">
        <p14:creationId xmlns:p14="http://schemas.microsoft.com/office/powerpoint/2010/main" val="3368900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A951D-C816-9067-EF69-6B5F8D70EA97}"/>
              </a:ext>
            </a:extLst>
          </p:cNvPr>
          <p:cNvSpPr>
            <a:spLocks noGrp="1"/>
          </p:cNvSpPr>
          <p:nvPr>
            <p:ph type="title"/>
          </p:nvPr>
        </p:nvSpPr>
        <p:spPr/>
        <p:txBody>
          <a:bodyPr/>
          <a:lstStyle/>
          <a:p>
            <a:r>
              <a:rPr lang="en-US" dirty="0"/>
              <a:t>Interaction Logs capturer</a:t>
            </a:r>
          </a:p>
        </p:txBody>
      </p:sp>
      <p:sp>
        <p:nvSpPr>
          <p:cNvPr id="3" name="Content Placeholder 2">
            <a:extLst>
              <a:ext uri="{FF2B5EF4-FFF2-40B4-BE49-F238E27FC236}">
                <a16:creationId xmlns:a16="http://schemas.microsoft.com/office/drawing/2014/main" id="{AB579925-1561-3986-3A40-C81B3F808F6B}"/>
              </a:ext>
            </a:extLst>
          </p:cNvPr>
          <p:cNvSpPr>
            <a:spLocks noGrp="1"/>
          </p:cNvSpPr>
          <p:nvPr>
            <p:ph idx="1"/>
          </p:nvPr>
        </p:nvSpPr>
        <p:spPr/>
        <p:txBody>
          <a:bodyPr/>
          <a:lstStyle/>
          <a:p>
            <a:pPr>
              <a:buFont typeface="Wingdings" panose="05000000000000000000" pitchFamily="2" charset="2"/>
              <a:buChar char="q"/>
            </a:pPr>
            <a:r>
              <a:rPr lang="en-US" dirty="0"/>
              <a:t>They log all logs produced by S7comm servers, SNMP agent.</a:t>
            </a:r>
          </a:p>
          <a:p>
            <a:pPr lvl="1">
              <a:buFont typeface="Wingdings" panose="05000000000000000000" pitchFamily="2" charset="2"/>
              <a:buChar char="q"/>
            </a:pPr>
            <a:r>
              <a:rPr lang="en-US" dirty="0"/>
              <a:t>They include IP address of originating host, timestamp, memory Block ID in case of reading and writing, OIDs</a:t>
            </a:r>
          </a:p>
          <a:p>
            <a:pPr>
              <a:buFont typeface="Wingdings" panose="05000000000000000000" pitchFamily="2" charset="2"/>
              <a:buChar char="q"/>
            </a:pPr>
            <a:r>
              <a:rPr lang="en-US" dirty="0"/>
              <a:t>Also, they log all the ladder logic programs that get injected via the S7comm server.</a:t>
            </a:r>
          </a:p>
          <a:p>
            <a:pPr>
              <a:buFont typeface="Wingdings" panose="05000000000000000000" pitchFamily="2" charset="2"/>
              <a:buChar char="q"/>
            </a:pPr>
            <a:r>
              <a:rPr lang="en-US" dirty="0"/>
              <a:t>Finally, </a:t>
            </a:r>
            <a:r>
              <a:rPr lang="en-US" dirty="0" err="1"/>
              <a:t>lighttpd</a:t>
            </a:r>
            <a:r>
              <a:rPr lang="en-US" dirty="0"/>
              <a:t> logs which shows the interactions with the HTTP server.</a:t>
            </a:r>
          </a:p>
        </p:txBody>
      </p:sp>
    </p:spTree>
    <p:extLst>
      <p:ext uri="{BB962C8B-B14F-4D97-AF65-F5344CB8AC3E}">
        <p14:creationId xmlns:p14="http://schemas.microsoft.com/office/powerpoint/2010/main" val="2723480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B2833-D7B0-FE2D-F1D8-9E9E1AEC2D0A}"/>
              </a:ext>
            </a:extLst>
          </p:cNvPr>
          <p:cNvSpPr>
            <a:spLocks noGrp="1"/>
          </p:cNvSpPr>
          <p:nvPr>
            <p:ph type="title"/>
          </p:nvPr>
        </p:nvSpPr>
        <p:spPr/>
        <p:txBody>
          <a:bodyPr>
            <a:normAutofit/>
          </a:bodyPr>
          <a:lstStyle/>
          <a:p>
            <a:r>
              <a:rPr lang="en-US" dirty="0"/>
              <a:t>Evaluation</a:t>
            </a:r>
          </a:p>
        </p:txBody>
      </p:sp>
      <p:sp>
        <p:nvSpPr>
          <p:cNvPr id="3" name="Content Placeholder 2">
            <a:extLst>
              <a:ext uri="{FF2B5EF4-FFF2-40B4-BE49-F238E27FC236}">
                <a16:creationId xmlns:a16="http://schemas.microsoft.com/office/drawing/2014/main" id="{81C73FC8-8023-6F7B-9740-F53F3C85DA5B}"/>
              </a:ext>
            </a:extLst>
          </p:cNvPr>
          <p:cNvSpPr>
            <a:spLocks noGrp="1"/>
          </p:cNvSpPr>
          <p:nvPr>
            <p:ph idx="1"/>
          </p:nvPr>
        </p:nvSpPr>
        <p:spPr/>
        <p:txBody>
          <a:bodyPr/>
          <a:lstStyle/>
          <a:p>
            <a:r>
              <a:rPr lang="en-US" dirty="0"/>
              <a:t>They started their evaluation by asking 3 main experimental questions, which are based on the limitations of the previous existing approaches.</a:t>
            </a:r>
          </a:p>
          <a:p>
            <a:pPr marL="342900" indent="-342900">
              <a:buFont typeface="+mj-lt"/>
              <a:buAutoNum type="arabicPeriod"/>
            </a:pPr>
            <a:r>
              <a:rPr lang="en-US" dirty="0"/>
              <a:t>Can HoneyPLC support Different real PLCs.</a:t>
            </a:r>
          </a:p>
          <a:p>
            <a:pPr marL="342900" indent="-342900">
              <a:buFont typeface="+mj-lt"/>
              <a:buAutoNum type="arabicPeriod"/>
            </a:pPr>
            <a:r>
              <a:rPr lang="en-US" dirty="0"/>
              <a:t>Can HoneyPLC conceal/hide its honeypot nature from attackers.</a:t>
            </a:r>
          </a:p>
          <a:p>
            <a:pPr marL="342900" indent="-342900">
              <a:buFont typeface="+mj-lt"/>
              <a:buAutoNum type="arabicPeriod"/>
            </a:pPr>
            <a:r>
              <a:rPr lang="en-US" dirty="0"/>
              <a:t>Can HoneyPLC effectively capture Ladder Logic Code ? </a:t>
            </a:r>
          </a:p>
          <a:p>
            <a:r>
              <a:rPr lang="en-US" dirty="0"/>
              <a:t>And Their Evaluation shows that the answer for the three questions is </a:t>
            </a:r>
            <a:r>
              <a:rPr lang="en-US" b="1" dirty="0"/>
              <a:t>yes.</a:t>
            </a:r>
          </a:p>
        </p:txBody>
      </p:sp>
    </p:spTree>
    <p:extLst>
      <p:ext uri="{BB962C8B-B14F-4D97-AF65-F5344CB8AC3E}">
        <p14:creationId xmlns:p14="http://schemas.microsoft.com/office/powerpoint/2010/main" val="89904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BD645E-0C13-1609-3097-33E97E2A932A}"/>
              </a:ext>
            </a:extLst>
          </p:cNvPr>
          <p:cNvSpPr>
            <a:spLocks noGrp="1"/>
          </p:cNvSpPr>
          <p:nvPr>
            <p:ph type="title"/>
          </p:nvPr>
        </p:nvSpPr>
        <p:spPr>
          <a:xfrm>
            <a:off x="878911" y="643468"/>
            <a:ext cx="3177847" cy="1674180"/>
          </a:xfrm>
        </p:spPr>
        <p:txBody>
          <a:bodyPr>
            <a:normAutofit/>
          </a:bodyPr>
          <a:lstStyle/>
          <a:p>
            <a:r>
              <a:rPr lang="en-US" sz="3700" dirty="0"/>
              <a:t>Q1: Support different real PLCS ? YES</a:t>
            </a:r>
          </a:p>
        </p:txBody>
      </p:sp>
      <p:cxnSp>
        <p:nvCxnSpPr>
          <p:cNvPr id="12" name="Straight Connector 11">
            <a:extLst>
              <a:ext uri="{FF2B5EF4-FFF2-40B4-BE49-F238E27FC236}">
                <a16:creationId xmlns:a16="http://schemas.microsoft.com/office/drawing/2014/main" id="{EEB57AA8-F021-480C-A9E2-F899133136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62164" y="2478513"/>
            <a:ext cx="292608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616894A-C79B-D35E-4541-83157386CDAB}"/>
              </a:ext>
            </a:extLst>
          </p:cNvPr>
          <p:cNvSpPr>
            <a:spLocks noGrp="1"/>
          </p:cNvSpPr>
          <p:nvPr>
            <p:ph idx="1"/>
          </p:nvPr>
        </p:nvSpPr>
        <p:spPr>
          <a:xfrm>
            <a:off x="858064" y="2639380"/>
            <a:ext cx="3205049" cy="3229714"/>
          </a:xfrm>
        </p:spPr>
        <p:txBody>
          <a:bodyPr>
            <a:normAutofit/>
          </a:bodyPr>
          <a:lstStyle/>
          <a:p>
            <a:pPr>
              <a:lnSpc>
                <a:spcPct val="110000"/>
              </a:lnSpc>
              <a:buFont typeface="Arial" panose="020B0604020202020204" pitchFamily="34" charset="0"/>
              <a:buChar char="•"/>
            </a:pPr>
            <a:r>
              <a:rPr lang="en-US" sz="1500"/>
              <a:t>They managed to simulate 3 Siemens PLCs with the PLC profile module, it took around 5 mins to create each profile of them.</a:t>
            </a:r>
          </a:p>
          <a:p>
            <a:pPr lvl="1">
              <a:lnSpc>
                <a:spcPct val="110000"/>
              </a:lnSpc>
              <a:buFont typeface="Arial" panose="020B0604020202020204" pitchFamily="34" charset="0"/>
              <a:buChar char="•"/>
            </a:pPr>
            <a:r>
              <a:rPr lang="en-US" sz="1500"/>
              <a:t>S7-300	S7-1200		S7-1500</a:t>
            </a:r>
          </a:p>
          <a:p>
            <a:pPr>
              <a:lnSpc>
                <a:spcPct val="110000"/>
              </a:lnSpc>
              <a:buFont typeface="Arial" panose="020B0604020202020204" pitchFamily="34" charset="0"/>
              <a:buChar char="•"/>
            </a:pPr>
            <a:r>
              <a:rPr lang="en-US" sz="1500"/>
              <a:t>They also managed to simulate 2 non-Siemens PLCs, which provides some generality</a:t>
            </a:r>
          </a:p>
          <a:p>
            <a:pPr lvl="1">
              <a:lnSpc>
                <a:spcPct val="110000"/>
              </a:lnSpc>
              <a:buFont typeface="Arial" panose="020B0604020202020204" pitchFamily="34" charset="0"/>
              <a:buChar char="•"/>
            </a:pPr>
            <a:r>
              <a:rPr lang="en-US" sz="1500"/>
              <a:t>Allen-Bradley MicroLogix 1100	ABB PM554-TP-ETH</a:t>
            </a:r>
          </a:p>
          <a:p>
            <a:pPr>
              <a:lnSpc>
                <a:spcPct val="110000"/>
              </a:lnSpc>
              <a:buFont typeface="Arial" panose="020B0604020202020204" pitchFamily="34" charset="0"/>
              <a:buChar char="•"/>
            </a:pPr>
            <a:endParaRPr lang="en-US" sz="1500"/>
          </a:p>
        </p:txBody>
      </p:sp>
      <p:pic>
        <p:nvPicPr>
          <p:cNvPr id="5" name="Picture 4" descr="Several electronic devices on a table&#10;&#10;AI-generated content may be incorrect.">
            <a:extLst>
              <a:ext uri="{FF2B5EF4-FFF2-40B4-BE49-F238E27FC236}">
                <a16:creationId xmlns:a16="http://schemas.microsoft.com/office/drawing/2014/main" id="{7386DD17-7D42-0C13-D7F1-C76C3A28D0B1}"/>
              </a:ext>
            </a:extLst>
          </p:cNvPr>
          <p:cNvPicPr>
            <a:picLocks noChangeAspect="1"/>
          </p:cNvPicPr>
          <p:nvPr/>
        </p:nvPicPr>
        <p:blipFill>
          <a:blip r:embed="rId3"/>
          <a:stretch>
            <a:fillRect/>
          </a:stretch>
        </p:blipFill>
        <p:spPr>
          <a:xfrm>
            <a:off x="4653447" y="1119583"/>
            <a:ext cx="6892560" cy="4273387"/>
          </a:xfrm>
          <a:prstGeom prst="rect">
            <a:avLst/>
          </a:prstGeom>
        </p:spPr>
      </p:pic>
      <p:sp>
        <p:nvSpPr>
          <p:cNvPr id="14" name="Rectangle 13">
            <a:extLst>
              <a:ext uri="{FF2B5EF4-FFF2-40B4-BE49-F238E27FC236}">
                <a16:creationId xmlns:a16="http://schemas.microsoft.com/office/drawing/2014/main" id="{6BF36B24-6632-4516-9692-73146289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08812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7C30F-8A93-196B-4894-9CBE9778FF3B}"/>
              </a:ext>
            </a:extLst>
          </p:cNvPr>
          <p:cNvSpPr>
            <a:spLocks noGrp="1"/>
          </p:cNvSpPr>
          <p:nvPr>
            <p:ph type="title"/>
          </p:nvPr>
        </p:nvSpPr>
        <p:spPr/>
        <p:txBody>
          <a:bodyPr>
            <a:normAutofit/>
          </a:bodyPr>
          <a:lstStyle/>
          <a:p>
            <a:r>
              <a:rPr lang="en-US" sz="4500" dirty="0"/>
              <a:t>Recommendations for non-Siemens PLCs</a:t>
            </a:r>
          </a:p>
        </p:txBody>
      </p:sp>
      <p:sp>
        <p:nvSpPr>
          <p:cNvPr id="3" name="Content Placeholder 2">
            <a:extLst>
              <a:ext uri="{FF2B5EF4-FFF2-40B4-BE49-F238E27FC236}">
                <a16:creationId xmlns:a16="http://schemas.microsoft.com/office/drawing/2014/main" id="{89C74EE4-27B9-0A31-6136-E2A0A30F8777}"/>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It is necessary to identify the network services they provide, because different vendors may implement a variety of protocols on different ports. </a:t>
            </a:r>
          </a:p>
          <a:p>
            <a:pPr>
              <a:buFont typeface="Arial" panose="020B0604020202020204" pitchFamily="34" charset="0"/>
              <a:buChar char="•"/>
            </a:pPr>
            <a:r>
              <a:rPr lang="en-US" dirty="0"/>
              <a:t>Both non-Siemens PLCs failed to support SNMP services, which prevents the HoneyPLC from retrieving MIB database</a:t>
            </a:r>
          </a:p>
          <a:p>
            <a:pPr>
              <a:buFont typeface="Arial" panose="020B0604020202020204" pitchFamily="34" charset="0"/>
              <a:buChar char="•"/>
            </a:pPr>
            <a:r>
              <a:rPr lang="en-US" dirty="0"/>
              <a:t>Allen-Bradley MicroLogix implements Ethernet/IP on port 2222 for configuration purposes, which is different from Siemens models that use the S7comm protocol, which will affect the retrieved profiles and may need to be processed manually case-by-case.</a:t>
            </a:r>
          </a:p>
          <a:p>
            <a:pPr>
              <a:buFont typeface="Arial" panose="020B0604020202020204" pitchFamily="34" charset="0"/>
              <a:buChar char="•"/>
            </a:pPr>
            <a:r>
              <a:rPr lang="en-US" dirty="0"/>
              <a:t>Siemens uses S7Comm to load Ladder logic, while Allen-Bradley MicroLogix 1100 uses the </a:t>
            </a:r>
            <a:r>
              <a:rPr lang="en-US" dirty="0" err="1"/>
              <a:t>EthernNet</a:t>
            </a:r>
            <a:r>
              <a:rPr lang="en-US" dirty="0"/>
              <a:t>/IP protocol, while ABB uses Nucleus Sand DB, so they need to manually modify Honeyd templates to simulate the ABB and Allen PLCs, but this results in not having true emulation.</a:t>
            </a:r>
          </a:p>
        </p:txBody>
      </p:sp>
    </p:spTree>
    <p:extLst>
      <p:ext uri="{BB962C8B-B14F-4D97-AF65-F5344CB8AC3E}">
        <p14:creationId xmlns:p14="http://schemas.microsoft.com/office/powerpoint/2010/main" val="5572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A38E39-E51C-9A07-B4C9-4A2473D2CDB9}"/>
              </a:ext>
            </a:extLst>
          </p:cNvPr>
          <p:cNvSpPr>
            <a:spLocks noGrp="1"/>
          </p:cNvSpPr>
          <p:nvPr>
            <p:ph type="title"/>
          </p:nvPr>
        </p:nvSpPr>
        <p:spPr>
          <a:xfrm>
            <a:off x="6411685" y="634946"/>
            <a:ext cx="5127171" cy="1450757"/>
          </a:xfrm>
        </p:spPr>
        <p:txBody>
          <a:bodyPr>
            <a:normAutofit/>
          </a:bodyPr>
          <a:lstStyle/>
          <a:p>
            <a:r>
              <a:rPr lang="en-US" sz="4300"/>
              <a:t>Q2: Resilience to Reconnaissance - YES</a:t>
            </a:r>
          </a:p>
        </p:txBody>
      </p:sp>
      <p:pic>
        <p:nvPicPr>
          <p:cNvPr id="5" name="Picture 4" descr="A screenshot of a graph&#10;&#10;AI-generated content may be incorrect.">
            <a:extLst>
              <a:ext uri="{FF2B5EF4-FFF2-40B4-BE49-F238E27FC236}">
                <a16:creationId xmlns:a16="http://schemas.microsoft.com/office/drawing/2014/main" id="{57D848DA-DF0E-82E6-FE79-3487D42A4162}"/>
              </a:ext>
            </a:extLst>
          </p:cNvPr>
          <p:cNvPicPr>
            <a:picLocks noChangeAspect="1"/>
          </p:cNvPicPr>
          <p:nvPr/>
        </p:nvPicPr>
        <p:blipFill>
          <a:blip r:embed="rId2"/>
          <a:stretch>
            <a:fillRect/>
          </a:stretch>
        </p:blipFill>
        <p:spPr>
          <a:xfrm>
            <a:off x="643192" y="928708"/>
            <a:ext cx="5115347" cy="4680542"/>
          </a:xfrm>
          <a:prstGeom prst="rect">
            <a:avLst/>
          </a:prstGeom>
        </p:spPr>
      </p:pic>
      <p:cxnSp>
        <p:nvCxnSpPr>
          <p:cNvPr id="12" name="Straight Connector 11">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4F13977-50A1-7405-D079-D3B08E31F199}"/>
              </a:ext>
            </a:extLst>
          </p:cNvPr>
          <p:cNvSpPr>
            <a:spLocks noGrp="1"/>
          </p:cNvSpPr>
          <p:nvPr>
            <p:ph idx="1"/>
          </p:nvPr>
        </p:nvSpPr>
        <p:spPr>
          <a:xfrm>
            <a:off x="6411684" y="2407436"/>
            <a:ext cx="5127172" cy="3461658"/>
          </a:xfrm>
        </p:spPr>
        <p:txBody>
          <a:bodyPr>
            <a:normAutofit fontScale="92500" lnSpcReduction="10000"/>
          </a:bodyPr>
          <a:lstStyle/>
          <a:p>
            <a:pPr>
              <a:lnSpc>
                <a:spcPct val="110000"/>
              </a:lnSpc>
              <a:buFont typeface="Wingdings" panose="05000000000000000000" pitchFamily="2" charset="2"/>
              <a:buChar char="q"/>
            </a:pPr>
            <a:r>
              <a:rPr lang="en-US" sz="1400" dirty="0"/>
              <a:t>They tested it against </a:t>
            </a:r>
            <a:r>
              <a:rPr lang="en-US" sz="1400" b="1" dirty="0"/>
              <a:t>NMAP </a:t>
            </a:r>
            <a:r>
              <a:rPr lang="en-US" sz="1400" dirty="0"/>
              <a:t>and </a:t>
            </a:r>
            <a:r>
              <a:rPr lang="en-US" sz="1400" b="1" dirty="0"/>
              <a:t>PLCSCAN</a:t>
            </a:r>
          </a:p>
          <a:p>
            <a:pPr>
              <a:lnSpc>
                <a:spcPct val="110000"/>
              </a:lnSpc>
              <a:buFont typeface="Wingdings" panose="05000000000000000000" pitchFamily="2" charset="2"/>
              <a:buChar char="q"/>
            </a:pPr>
            <a:r>
              <a:rPr lang="en-US" sz="1400" b="1" dirty="0"/>
              <a:t>They used the following components:</a:t>
            </a:r>
          </a:p>
          <a:p>
            <a:pPr lvl="1">
              <a:lnSpc>
                <a:spcPct val="110000"/>
              </a:lnSpc>
              <a:buFont typeface="Wingdings" panose="05000000000000000000" pitchFamily="2" charset="2"/>
              <a:buChar char="q"/>
            </a:pPr>
            <a:r>
              <a:rPr lang="en-US" sz="1400" b="1" dirty="0"/>
              <a:t>Desktop running Ubuntu 18.04, Honeyd v1.6d, </a:t>
            </a:r>
            <a:r>
              <a:rPr lang="en-US" sz="1400" b="1" dirty="0" err="1"/>
              <a:t>lighttpd</a:t>
            </a:r>
            <a:r>
              <a:rPr lang="en-US" sz="1400" b="1" dirty="0"/>
              <a:t> v1.4.45, </a:t>
            </a:r>
            <a:r>
              <a:rPr lang="en-US" sz="1400" b="1" dirty="0" err="1"/>
              <a:t>snmpsim</a:t>
            </a:r>
            <a:r>
              <a:rPr lang="en-US" sz="1400" b="1" dirty="0"/>
              <a:t> v0.4.7 and all its dependencies</a:t>
            </a:r>
          </a:p>
          <a:p>
            <a:pPr lvl="1">
              <a:lnSpc>
                <a:spcPct val="110000"/>
              </a:lnSpc>
              <a:buFont typeface="Wingdings" panose="05000000000000000000" pitchFamily="2" charset="2"/>
              <a:buChar char="q"/>
            </a:pPr>
            <a:r>
              <a:rPr lang="en-US" sz="1400" b="1" dirty="0"/>
              <a:t>Laptop including Nmap 7.80, and three Siemens PLC fingerprints in </a:t>
            </a:r>
            <a:r>
              <a:rPr lang="en-US" sz="1400" b="1" dirty="0" err="1"/>
              <a:t>nmap-os-db</a:t>
            </a:r>
            <a:r>
              <a:rPr lang="en-US" sz="1400" b="1" dirty="0"/>
              <a:t>, and the latest version of </a:t>
            </a:r>
            <a:r>
              <a:rPr lang="en-US" sz="1400" b="1" dirty="0" err="1"/>
              <a:t>PLCScan</a:t>
            </a:r>
            <a:r>
              <a:rPr lang="en-US" sz="1400" b="1" dirty="0"/>
              <a:t> from </a:t>
            </a:r>
            <a:r>
              <a:rPr lang="en-US" sz="1400" b="1" dirty="0" err="1"/>
              <a:t>github</a:t>
            </a:r>
            <a:r>
              <a:rPr lang="en-US" sz="1400" b="1" dirty="0"/>
              <a:t>, and connected the two hosts (desktop, and laptop) via Ethernet cable.</a:t>
            </a:r>
          </a:p>
          <a:p>
            <a:pPr>
              <a:lnSpc>
                <a:spcPct val="110000"/>
              </a:lnSpc>
              <a:buFont typeface="Wingdings" panose="05000000000000000000" pitchFamily="2" charset="2"/>
              <a:buChar char="q"/>
            </a:pPr>
            <a:r>
              <a:rPr lang="en-US" sz="1400" b="1" dirty="0"/>
              <a:t>They performed the scan with OS detection feature, and each PLC model was scanned 10 times, and they also scanned HoneyPLC, and the results shows that they were so close to the real (except for S7-1500) </a:t>
            </a:r>
          </a:p>
          <a:p>
            <a:pPr>
              <a:lnSpc>
                <a:spcPct val="110000"/>
              </a:lnSpc>
              <a:buFont typeface="Wingdings" panose="05000000000000000000" pitchFamily="2" charset="2"/>
              <a:buChar char="q"/>
            </a:pPr>
            <a:r>
              <a:rPr lang="en-US" sz="1400" b="1" dirty="0"/>
              <a:t>But methods like </a:t>
            </a:r>
            <a:r>
              <a:rPr lang="en-US" sz="1400" b="1" dirty="0" err="1"/>
              <a:t>Conpot</a:t>
            </a:r>
            <a:r>
              <a:rPr lang="en-US" sz="1400" b="1" dirty="0"/>
              <a:t> was identified 100% confidence that they are </a:t>
            </a:r>
            <a:r>
              <a:rPr lang="en-US" sz="1400" b="1" dirty="0" err="1"/>
              <a:t>linux</a:t>
            </a:r>
            <a:r>
              <a:rPr lang="en-US" sz="1400" b="1" dirty="0"/>
              <a:t> kernels</a:t>
            </a:r>
          </a:p>
        </p:txBody>
      </p:sp>
      <p:sp>
        <p:nvSpPr>
          <p:cNvPr id="14" name="Rectangle 13">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69303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F6F32-CD45-BF9D-837A-FDCD29557EF1}"/>
              </a:ext>
            </a:extLst>
          </p:cNvPr>
          <p:cNvSpPr>
            <a:spLocks noGrp="1"/>
          </p:cNvSpPr>
          <p:nvPr>
            <p:ph type="title"/>
          </p:nvPr>
        </p:nvSpPr>
        <p:spPr>
          <a:xfrm>
            <a:off x="6411685" y="634946"/>
            <a:ext cx="5127171" cy="1450757"/>
          </a:xfrm>
        </p:spPr>
        <p:txBody>
          <a:bodyPr>
            <a:normAutofit/>
          </a:bodyPr>
          <a:lstStyle/>
          <a:p>
            <a:r>
              <a:rPr lang="en-US" dirty="0"/>
              <a:t>Shodan Test</a:t>
            </a:r>
          </a:p>
        </p:txBody>
      </p:sp>
      <p:pic>
        <p:nvPicPr>
          <p:cNvPr id="5" name="Picture 4" descr="A graph with numbers and lines&#10;&#10;AI-generated content may be incorrect.">
            <a:extLst>
              <a:ext uri="{FF2B5EF4-FFF2-40B4-BE49-F238E27FC236}">
                <a16:creationId xmlns:a16="http://schemas.microsoft.com/office/drawing/2014/main" id="{151F3DDD-2820-AF55-5456-8B531FE969C0}"/>
              </a:ext>
            </a:extLst>
          </p:cNvPr>
          <p:cNvPicPr>
            <a:picLocks noChangeAspect="1"/>
          </p:cNvPicPr>
          <p:nvPr/>
        </p:nvPicPr>
        <p:blipFill>
          <a:blip r:embed="rId3"/>
          <a:stretch>
            <a:fillRect/>
          </a:stretch>
        </p:blipFill>
        <p:spPr>
          <a:xfrm>
            <a:off x="653144" y="1153039"/>
            <a:ext cx="5572292" cy="4806101"/>
          </a:xfrm>
          <a:prstGeom prst="rect">
            <a:avLst/>
          </a:prstGeom>
        </p:spPr>
      </p:pic>
      <p:cxnSp>
        <p:nvCxnSpPr>
          <p:cNvPr id="21" name="Straight Connector 20">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F1125D3-CB47-B634-0A84-1B50A4984319}"/>
              </a:ext>
            </a:extLst>
          </p:cNvPr>
          <p:cNvSpPr>
            <a:spLocks noGrp="1"/>
          </p:cNvSpPr>
          <p:nvPr>
            <p:ph idx="1"/>
          </p:nvPr>
        </p:nvSpPr>
        <p:spPr>
          <a:xfrm>
            <a:off x="6411684" y="2407436"/>
            <a:ext cx="5127172" cy="3461658"/>
          </a:xfrm>
        </p:spPr>
        <p:txBody>
          <a:bodyPr>
            <a:normAutofit lnSpcReduction="10000"/>
          </a:bodyPr>
          <a:lstStyle/>
          <a:p>
            <a:pPr>
              <a:lnSpc>
                <a:spcPct val="110000"/>
              </a:lnSpc>
              <a:buFont typeface="Arial" panose="020B0604020202020204" pitchFamily="34" charset="0"/>
              <a:buChar char="•"/>
            </a:pPr>
            <a:r>
              <a:rPr lang="en-US" sz="1400" dirty="0"/>
              <a:t>They deployed three AWS EC2 instances accessible from the Internet with the following specs:</a:t>
            </a:r>
          </a:p>
          <a:p>
            <a:pPr lvl="1">
              <a:lnSpc>
                <a:spcPct val="110000"/>
              </a:lnSpc>
              <a:buFont typeface="Arial" panose="020B0604020202020204" pitchFamily="34" charset="0"/>
              <a:buChar char="•"/>
            </a:pPr>
            <a:r>
              <a:rPr lang="en-US" sz="1400" dirty="0"/>
              <a:t>2 vCPUs, 4GB Ram, Ubuntu 18.04, exposing TCP ports 80, 102 and UDP port 161, and deployed HoneyPLC on each of them with the three Siemens profiles</a:t>
            </a:r>
          </a:p>
          <a:p>
            <a:pPr>
              <a:lnSpc>
                <a:spcPct val="110000"/>
              </a:lnSpc>
              <a:buFont typeface="Arial" panose="020B0604020202020204" pitchFamily="34" charset="0"/>
              <a:buChar char="•"/>
            </a:pPr>
            <a:r>
              <a:rPr lang="en-US" sz="1400" dirty="0"/>
              <a:t>It took one week by Shodan to provide the results:</a:t>
            </a:r>
          </a:p>
          <a:p>
            <a:pPr lvl="1">
              <a:lnSpc>
                <a:spcPct val="110000"/>
              </a:lnSpc>
              <a:buFont typeface="Arial" panose="020B0604020202020204" pitchFamily="34" charset="0"/>
              <a:buChar char="•"/>
            </a:pPr>
            <a:r>
              <a:rPr lang="en-US" sz="1400" dirty="0"/>
              <a:t>S7-300 shows 0.0 Honey score -&gt; totally not a honeypot</a:t>
            </a:r>
          </a:p>
          <a:p>
            <a:pPr lvl="2">
              <a:lnSpc>
                <a:spcPct val="110000"/>
              </a:lnSpc>
              <a:buFont typeface="Arial" panose="020B0604020202020204" pitchFamily="34" charset="0"/>
              <a:buChar char="•"/>
            </a:pPr>
            <a:r>
              <a:rPr lang="en-US" sz="1400" dirty="0"/>
              <a:t>That is why this is used in </a:t>
            </a:r>
            <a:r>
              <a:rPr lang="en-US" sz="1400" dirty="0" err="1"/>
              <a:t>ICSPot</a:t>
            </a:r>
            <a:r>
              <a:rPr lang="en-US" sz="1400" dirty="0"/>
              <a:t>.</a:t>
            </a:r>
          </a:p>
          <a:p>
            <a:pPr lvl="1">
              <a:lnSpc>
                <a:spcPct val="110000"/>
              </a:lnSpc>
              <a:buFont typeface="Arial" panose="020B0604020202020204" pitchFamily="34" charset="0"/>
              <a:buChar char="•"/>
            </a:pPr>
            <a:r>
              <a:rPr lang="en-US" sz="1400" dirty="0"/>
              <a:t>S7-1200, S7-1500 shows 0.3 Honey score comparable with the real PLCs</a:t>
            </a:r>
          </a:p>
          <a:p>
            <a:pPr>
              <a:lnSpc>
                <a:spcPct val="110000"/>
              </a:lnSpc>
              <a:buFont typeface="Arial" panose="020B0604020202020204" pitchFamily="34" charset="0"/>
              <a:buChar char="•"/>
            </a:pPr>
            <a:r>
              <a:rPr lang="en-US" sz="1400" dirty="0" err="1"/>
              <a:t>Conpot</a:t>
            </a:r>
            <a:r>
              <a:rPr lang="en-US" sz="1400" dirty="0"/>
              <a:t> was indexed by Shodan, and was assigned 0.3 Honey score</a:t>
            </a:r>
          </a:p>
        </p:txBody>
      </p:sp>
      <p:sp>
        <p:nvSpPr>
          <p:cNvPr id="23" name="Rectangle 22">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35941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39EDE72-75C1-3B92-680F-35062FAA2367}"/>
              </a:ext>
            </a:extLst>
          </p:cNvPr>
          <p:cNvSpPr>
            <a:spLocks noGrp="1"/>
          </p:cNvSpPr>
          <p:nvPr>
            <p:ph type="title"/>
          </p:nvPr>
        </p:nvSpPr>
        <p:spPr>
          <a:xfrm>
            <a:off x="492370" y="516836"/>
            <a:ext cx="3084844" cy="1961086"/>
          </a:xfrm>
        </p:spPr>
        <p:txBody>
          <a:bodyPr>
            <a:normAutofit/>
          </a:bodyPr>
          <a:lstStyle/>
          <a:p>
            <a:r>
              <a:rPr lang="en-US" sz="4000">
                <a:solidFill>
                  <a:srgbClr val="FFFFFF"/>
                </a:solidFill>
              </a:rPr>
              <a:t>Internet Interaction Experiment</a:t>
            </a:r>
          </a:p>
        </p:txBody>
      </p:sp>
      <p:cxnSp>
        <p:nvCxnSpPr>
          <p:cNvPr id="14" name="Straight Connector 13">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09C15C9-39F6-43F3-637F-7A2281B432FA}"/>
              </a:ext>
            </a:extLst>
          </p:cNvPr>
          <p:cNvSpPr>
            <a:spLocks noGrp="1"/>
          </p:cNvSpPr>
          <p:nvPr>
            <p:ph idx="1"/>
          </p:nvPr>
        </p:nvSpPr>
        <p:spPr>
          <a:xfrm>
            <a:off x="571752" y="2799654"/>
            <a:ext cx="3005462" cy="3189665"/>
          </a:xfrm>
        </p:spPr>
        <p:txBody>
          <a:bodyPr>
            <a:normAutofit/>
          </a:bodyPr>
          <a:lstStyle/>
          <a:p>
            <a:pPr>
              <a:buFont typeface="Wingdings" panose="05000000000000000000" pitchFamily="2" charset="2"/>
              <a:buChar char="q"/>
            </a:pPr>
            <a:r>
              <a:rPr lang="en-US">
                <a:solidFill>
                  <a:srgbClr val="FFFFFF"/>
                </a:solidFill>
              </a:rPr>
              <a:t>They exposed the EC2 instance to the internet for 5 months period</a:t>
            </a:r>
          </a:p>
          <a:p>
            <a:pPr>
              <a:buFont typeface="Wingdings" panose="05000000000000000000" pitchFamily="2" charset="2"/>
              <a:buChar char="q"/>
            </a:pPr>
            <a:r>
              <a:rPr lang="en-US">
                <a:solidFill>
                  <a:srgbClr val="FFFFFF"/>
                </a:solidFill>
              </a:rPr>
              <a:t>They logged  more than 5GB recorded data</a:t>
            </a:r>
          </a:p>
        </p:txBody>
      </p:sp>
      <p:pic>
        <p:nvPicPr>
          <p:cNvPr id="5" name="Picture 4">
            <a:extLst>
              <a:ext uri="{FF2B5EF4-FFF2-40B4-BE49-F238E27FC236}">
                <a16:creationId xmlns:a16="http://schemas.microsoft.com/office/drawing/2014/main" id="{C684B241-43B0-BD42-E91C-1F854F360D82}"/>
              </a:ext>
            </a:extLst>
          </p:cNvPr>
          <p:cNvPicPr>
            <a:picLocks noChangeAspect="1"/>
          </p:cNvPicPr>
          <p:nvPr/>
        </p:nvPicPr>
        <p:blipFill>
          <a:blip r:embed="rId3"/>
          <a:stretch>
            <a:fillRect/>
          </a:stretch>
        </p:blipFill>
        <p:spPr>
          <a:xfrm>
            <a:off x="4907528" y="640080"/>
            <a:ext cx="6467060" cy="5577840"/>
          </a:xfrm>
          <a:prstGeom prst="rect">
            <a:avLst/>
          </a:prstGeom>
        </p:spPr>
      </p:pic>
    </p:spTree>
    <p:extLst>
      <p:ext uri="{BB962C8B-B14F-4D97-AF65-F5344CB8AC3E}">
        <p14:creationId xmlns:p14="http://schemas.microsoft.com/office/powerpoint/2010/main" val="2938937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5F288EE-97E3-075B-DABC-2F631171CDE8}"/>
              </a:ext>
            </a:extLst>
          </p:cNvPr>
          <p:cNvSpPr>
            <a:spLocks noGrp="1"/>
          </p:cNvSpPr>
          <p:nvPr>
            <p:ph type="title"/>
          </p:nvPr>
        </p:nvSpPr>
        <p:spPr>
          <a:xfrm>
            <a:off x="492370" y="516836"/>
            <a:ext cx="3084844" cy="1961086"/>
          </a:xfrm>
        </p:spPr>
        <p:txBody>
          <a:bodyPr>
            <a:normAutofit/>
          </a:bodyPr>
          <a:lstStyle/>
          <a:p>
            <a:r>
              <a:rPr lang="en-US" sz="3400">
                <a:solidFill>
                  <a:srgbClr val="FFFFFF"/>
                </a:solidFill>
              </a:rPr>
              <a:t>S7Comm Connections Received by Geolocations</a:t>
            </a:r>
          </a:p>
        </p:txBody>
      </p:sp>
      <p:cxnSp>
        <p:nvCxnSpPr>
          <p:cNvPr id="16" name="Straight Connector 15">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DA3AA265-DD19-5C22-3ECA-CDD606EF7F6E}"/>
              </a:ext>
            </a:extLst>
          </p:cNvPr>
          <p:cNvSpPr>
            <a:spLocks noGrp="1"/>
          </p:cNvSpPr>
          <p:nvPr>
            <p:ph idx="1"/>
          </p:nvPr>
        </p:nvSpPr>
        <p:spPr>
          <a:xfrm>
            <a:off x="571752" y="2799654"/>
            <a:ext cx="3005462" cy="3189665"/>
          </a:xfrm>
        </p:spPr>
        <p:txBody>
          <a:bodyPr>
            <a:normAutofit lnSpcReduction="10000"/>
          </a:bodyPr>
          <a:lstStyle/>
          <a:p>
            <a:r>
              <a:rPr lang="en-US" dirty="0">
                <a:solidFill>
                  <a:schemeClr val="bg1"/>
                </a:solidFill>
              </a:rPr>
              <a:t>It can be noted that countries with most connections have historically been either the target or the initiators of attacks against ICS</a:t>
            </a:r>
          </a:p>
          <a:p>
            <a:r>
              <a:rPr lang="en-US" dirty="0">
                <a:solidFill>
                  <a:schemeClr val="bg1"/>
                </a:solidFill>
              </a:rPr>
              <a:t>At the time of writing the paper they did not record any attempt to upload ladder logic.</a:t>
            </a:r>
          </a:p>
        </p:txBody>
      </p:sp>
      <p:pic>
        <p:nvPicPr>
          <p:cNvPr id="5" name="Content Placeholder 4" descr="A table of geolocations&#10;&#10;AI-generated content may be incorrect.">
            <a:extLst>
              <a:ext uri="{FF2B5EF4-FFF2-40B4-BE49-F238E27FC236}">
                <a16:creationId xmlns:a16="http://schemas.microsoft.com/office/drawing/2014/main" id="{E0B35890-8A23-BE71-ECD8-8FA0885C5F24}"/>
              </a:ext>
            </a:extLst>
          </p:cNvPr>
          <p:cNvPicPr>
            <a:picLocks noChangeAspect="1"/>
          </p:cNvPicPr>
          <p:nvPr/>
        </p:nvPicPr>
        <p:blipFill>
          <a:blip r:embed="rId2"/>
          <a:stretch>
            <a:fillRect/>
          </a:stretch>
        </p:blipFill>
        <p:spPr>
          <a:xfrm>
            <a:off x="5331063" y="640080"/>
            <a:ext cx="5619989" cy="5577840"/>
          </a:xfrm>
          <a:prstGeom prst="rect">
            <a:avLst/>
          </a:prstGeom>
        </p:spPr>
      </p:pic>
    </p:spTree>
    <p:extLst>
      <p:ext uri="{BB962C8B-B14F-4D97-AF65-F5344CB8AC3E}">
        <p14:creationId xmlns:p14="http://schemas.microsoft.com/office/powerpoint/2010/main" val="2868600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C90237B-9040-DB0A-D6F1-20934E044A33}"/>
              </a:ext>
            </a:extLst>
          </p:cNvPr>
          <p:cNvSpPr>
            <a:spLocks noGrp="1"/>
          </p:cNvSpPr>
          <p:nvPr>
            <p:ph type="title"/>
          </p:nvPr>
        </p:nvSpPr>
        <p:spPr>
          <a:xfrm>
            <a:off x="492370" y="516836"/>
            <a:ext cx="3084844" cy="1961086"/>
          </a:xfrm>
        </p:spPr>
        <p:txBody>
          <a:bodyPr>
            <a:normAutofit/>
          </a:bodyPr>
          <a:lstStyle/>
          <a:p>
            <a:r>
              <a:rPr lang="en-US" sz="4000">
                <a:solidFill>
                  <a:srgbClr val="FFFFFF"/>
                </a:solidFill>
              </a:rPr>
              <a:t>Injecting Ladder Logic</a:t>
            </a:r>
          </a:p>
        </p:txBody>
      </p:sp>
      <p:cxnSp>
        <p:nvCxnSpPr>
          <p:cNvPr id="14" name="Straight Connector 13">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3AA2346-3978-3D63-A5DF-F0CC626FA43B}"/>
              </a:ext>
            </a:extLst>
          </p:cNvPr>
          <p:cNvSpPr>
            <a:spLocks noGrp="1"/>
          </p:cNvSpPr>
          <p:nvPr>
            <p:ph idx="1"/>
          </p:nvPr>
        </p:nvSpPr>
        <p:spPr>
          <a:xfrm>
            <a:off x="571752" y="2799654"/>
            <a:ext cx="3005462" cy="3189665"/>
          </a:xfrm>
        </p:spPr>
        <p:txBody>
          <a:bodyPr>
            <a:normAutofit/>
          </a:bodyPr>
          <a:lstStyle/>
          <a:p>
            <a:pPr>
              <a:lnSpc>
                <a:spcPct val="110000"/>
              </a:lnSpc>
            </a:pPr>
            <a:r>
              <a:rPr lang="en-US" sz="1400" dirty="0">
                <a:solidFill>
                  <a:srgbClr val="FFFFFF"/>
                </a:solidFill>
              </a:rPr>
              <a:t>Their experiments were successful as they were able to inject a sample ladder logic program into HoneyPLC using both, PL </a:t>
            </a:r>
            <a:r>
              <a:rPr lang="en-US" sz="1400" dirty="0" err="1">
                <a:solidFill>
                  <a:srgbClr val="FFFFFF"/>
                </a:solidFill>
              </a:rPr>
              <a:t>Cinject</a:t>
            </a:r>
            <a:r>
              <a:rPr lang="en-US" sz="1400" dirty="0">
                <a:solidFill>
                  <a:srgbClr val="FFFFFF"/>
                </a:solidFill>
              </a:rPr>
              <a:t> and the Step7 Manager. After the injection was completed, they logged into their honeypot file system and found the ladder logic file with its corresponding timestamp, which matched the contents of the blocks previously updated to </a:t>
            </a:r>
            <a:r>
              <a:rPr lang="en-US" sz="1400" dirty="0" err="1">
                <a:solidFill>
                  <a:srgbClr val="FFFFFF"/>
                </a:solidFill>
              </a:rPr>
              <a:t>PLCinject</a:t>
            </a:r>
            <a:endParaRPr lang="en-US" sz="1400" dirty="0">
              <a:solidFill>
                <a:srgbClr val="FFFFFF"/>
              </a:solidFill>
            </a:endParaRPr>
          </a:p>
        </p:txBody>
      </p:sp>
      <p:pic>
        <p:nvPicPr>
          <p:cNvPr id="5" name="Picture 4" descr="A diagram of a computer server&#10;&#10;AI-generated content may be incorrect.">
            <a:extLst>
              <a:ext uri="{FF2B5EF4-FFF2-40B4-BE49-F238E27FC236}">
                <a16:creationId xmlns:a16="http://schemas.microsoft.com/office/drawing/2014/main" id="{BD281E11-940D-A6FE-1D19-BF5AC6FB97AB}"/>
              </a:ext>
            </a:extLst>
          </p:cNvPr>
          <p:cNvPicPr>
            <a:picLocks noChangeAspect="1"/>
          </p:cNvPicPr>
          <p:nvPr/>
        </p:nvPicPr>
        <p:blipFill>
          <a:blip r:embed="rId2"/>
          <a:stretch>
            <a:fillRect/>
          </a:stretch>
        </p:blipFill>
        <p:spPr>
          <a:xfrm>
            <a:off x="4840560" y="640080"/>
            <a:ext cx="6600995" cy="5577840"/>
          </a:xfrm>
          <a:prstGeom prst="rect">
            <a:avLst/>
          </a:prstGeom>
        </p:spPr>
      </p:pic>
    </p:spTree>
    <p:extLst>
      <p:ext uri="{BB962C8B-B14F-4D97-AF65-F5344CB8AC3E}">
        <p14:creationId xmlns:p14="http://schemas.microsoft.com/office/powerpoint/2010/main" val="800685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DA8FF-06A8-007E-7AA0-DEDDBEDB2DDE}"/>
              </a:ext>
            </a:extLst>
          </p:cNvPr>
          <p:cNvSpPr>
            <a:spLocks noGrp="1"/>
          </p:cNvSpPr>
          <p:nvPr>
            <p:ph type="title"/>
          </p:nvPr>
        </p:nvSpPr>
        <p:spPr/>
        <p:txBody>
          <a:bodyPr/>
          <a:lstStyle/>
          <a:p>
            <a:r>
              <a:rPr lang="en-US" dirty="0"/>
              <a:t>Limitations – from the paper</a:t>
            </a:r>
          </a:p>
        </p:txBody>
      </p:sp>
      <p:sp>
        <p:nvSpPr>
          <p:cNvPr id="3" name="Content Placeholder 2">
            <a:extLst>
              <a:ext uri="{FF2B5EF4-FFF2-40B4-BE49-F238E27FC236}">
                <a16:creationId xmlns:a16="http://schemas.microsoft.com/office/drawing/2014/main" id="{1C11E42D-EA1A-DEA0-9DC4-9B8E8AD99D40}"/>
              </a:ext>
            </a:extLst>
          </p:cNvPr>
          <p:cNvSpPr>
            <a:spLocks noGrp="1"/>
          </p:cNvSpPr>
          <p:nvPr>
            <p:ph idx="1"/>
          </p:nvPr>
        </p:nvSpPr>
        <p:spPr/>
        <p:txBody>
          <a:bodyPr/>
          <a:lstStyle/>
          <a:p>
            <a:pPr marL="342900" indent="-342900">
              <a:buFont typeface="+mj-lt"/>
              <a:buAutoNum type="arabicPeriod"/>
            </a:pPr>
            <a:r>
              <a:rPr lang="en-US" dirty="0"/>
              <a:t>HoneyPLC does not provide support for modeling </a:t>
            </a:r>
            <a:r>
              <a:rPr lang="en-US"/>
              <a:t>physical interactions </a:t>
            </a:r>
            <a:r>
              <a:rPr lang="en-US" dirty="0"/>
              <a:t>as depicted by PLCs in practice -&gt; This is solved via ICS-POT</a:t>
            </a:r>
          </a:p>
          <a:p>
            <a:pPr marL="342900" indent="-342900">
              <a:buFont typeface="+mj-lt"/>
              <a:buAutoNum type="arabicPeriod"/>
            </a:pPr>
            <a:r>
              <a:rPr lang="en-US" dirty="0"/>
              <a:t>Second, despite numerous attempts, they were unable to test HoneyPLC against Stuxnet, so it is not fully tested against real malware</a:t>
            </a:r>
          </a:p>
          <a:p>
            <a:pPr marL="342900" indent="-342900">
              <a:buFont typeface="+mj-lt"/>
              <a:buAutoNum type="arabicPeriod"/>
            </a:pPr>
            <a:r>
              <a:rPr lang="en-US" dirty="0"/>
              <a:t>They does not support various communication protocols such as Modbus, and does not simulate for ICS system, they just create honeypot for PLCs</a:t>
            </a:r>
          </a:p>
          <a:p>
            <a:pPr marL="342900" indent="-342900">
              <a:buFont typeface="+mj-lt"/>
              <a:buAutoNum type="arabicPeriod"/>
            </a:pPr>
            <a:r>
              <a:rPr lang="en-US" dirty="0"/>
              <a:t>They does not perform malware analysis on the captured malwares, this must be performed manually.</a:t>
            </a:r>
          </a:p>
        </p:txBody>
      </p:sp>
    </p:spTree>
    <p:extLst>
      <p:ext uri="{BB962C8B-B14F-4D97-AF65-F5344CB8AC3E}">
        <p14:creationId xmlns:p14="http://schemas.microsoft.com/office/powerpoint/2010/main" val="305096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B1B6-1057-58FC-CB24-50F778FE267D}"/>
              </a:ext>
            </a:extLst>
          </p:cNvPr>
          <p:cNvSpPr>
            <a:spLocks noGrp="1"/>
          </p:cNvSpPr>
          <p:nvPr>
            <p:ph type="title"/>
          </p:nvPr>
        </p:nvSpPr>
        <p:spPr/>
        <p:txBody>
          <a:bodyPr/>
          <a:lstStyle/>
          <a:p>
            <a:r>
              <a:rPr lang="en-US" dirty="0"/>
              <a:t>More Limitations - Concluded</a:t>
            </a:r>
          </a:p>
        </p:txBody>
      </p:sp>
      <p:sp>
        <p:nvSpPr>
          <p:cNvPr id="3" name="Content Placeholder 2">
            <a:extLst>
              <a:ext uri="{FF2B5EF4-FFF2-40B4-BE49-F238E27FC236}">
                <a16:creationId xmlns:a16="http://schemas.microsoft.com/office/drawing/2014/main" id="{17BB38A0-B9F3-8398-4E62-F0CB6E0E47D7}"/>
              </a:ext>
            </a:extLst>
          </p:cNvPr>
          <p:cNvSpPr>
            <a:spLocks noGrp="1"/>
          </p:cNvSpPr>
          <p:nvPr>
            <p:ph idx="1"/>
          </p:nvPr>
        </p:nvSpPr>
        <p:spPr/>
        <p:txBody>
          <a:bodyPr/>
          <a:lstStyle/>
          <a:p>
            <a:pPr>
              <a:buFont typeface="Wingdings" panose="05000000000000000000" pitchFamily="2" charset="2"/>
              <a:buChar char="q"/>
            </a:pPr>
            <a:r>
              <a:rPr lang="en-US" dirty="0"/>
              <a:t>They focus only on PLC, and does not provide the full system simulation by </a:t>
            </a:r>
            <a:r>
              <a:rPr lang="en-US" dirty="0" err="1"/>
              <a:t>integerating</a:t>
            </a:r>
            <a:r>
              <a:rPr lang="en-US" dirty="0"/>
              <a:t> HMIs for example</a:t>
            </a:r>
          </a:p>
          <a:p>
            <a:pPr>
              <a:buFont typeface="Wingdings" panose="05000000000000000000" pitchFamily="2" charset="2"/>
              <a:buChar char="q"/>
            </a:pPr>
            <a:r>
              <a:rPr lang="en-US" dirty="0"/>
              <a:t>They do not integrate or simulate physical processes.</a:t>
            </a:r>
          </a:p>
          <a:p>
            <a:pPr>
              <a:buFont typeface="Wingdings" panose="05000000000000000000" pitchFamily="2" charset="2"/>
              <a:buChar char="q"/>
            </a:pPr>
            <a:r>
              <a:rPr lang="en-US" dirty="0"/>
              <a:t>Manual configuration is still required to customize devices profiles ( especially for those non-Siemens PLCs)</a:t>
            </a:r>
          </a:p>
          <a:p>
            <a:pPr>
              <a:buFont typeface="Wingdings" panose="05000000000000000000" pitchFamily="2" charset="2"/>
              <a:buChar char="q"/>
            </a:pPr>
            <a:r>
              <a:rPr lang="en-US" dirty="0"/>
              <a:t>Does not contain IDS or any defensive mechanisms, so it may be easy to be detected by attacker.</a:t>
            </a:r>
          </a:p>
        </p:txBody>
      </p:sp>
    </p:spTree>
    <p:extLst>
      <p:ext uri="{BB962C8B-B14F-4D97-AF65-F5344CB8AC3E}">
        <p14:creationId xmlns:p14="http://schemas.microsoft.com/office/powerpoint/2010/main" val="3896798093"/>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Bembo"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Nova Ligh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445</TotalTime>
  <Words>3041</Words>
  <Application>Microsoft Office PowerPoint</Application>
  <PresentationFormat>Widescreen</PresentationFormat>
  <Paragraphs>218</Paragraphs>
  <Slides>24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Arial</vt:lpstr>
      <vt:lpstr>Arial Nova Light</vt:lpstr>
      <vt:lpstr>Bembo</vt:lpstr>
      <vt:lpstr>Calibri</vt:lpstr>
      <vt:lpstr>Wingdings</vt:lpstr>
      <vt:lpstr>RetrospectVTI</vt:lpstr>
      <vt:lpstr>HoneyPLC</vt:lpstr>
      <vt:lpstr>What is HoneyPLC</vt:lpstr>
      <vt:lpstr>Why is it difficult to have High interaction ICS honeypot</vt:lpstr>
      <vt:lpstr>Protocols Simulation</vt:lpstr>
      <vt:lpstr>Main Contribution</vt:lpstr>
      <vt:lpstr>HoneyPLC Architecture</vt:lpstr>
      <vt:lpstr>They provide Extensibility</vt:lpstr>
      <vt:lpstr>Illustrative Use Case Scenario</vt:lpstr>
      <vt:lpstr>S7Comm Server Module</vt:lpstr>
      <vt:lpstr>Tools Implementing S7Comm</vt:lpstr>
      <vt:lpstr>SNMP Server</vt:lpstr>
      <vt:lpstr>How SNMP/HTTP server works</vt:lpstr>
      <vt:lpstr>Ladder Logic Collection</vt:lpstr>
      <vt:lpstr>Interaction Logs capturer</vt:lpstr>
      <vt:lpstr>Evaluation</vt:lpstr>
      <vt:lpstr>Q1: Support different real PLCS ? YES</vt:lpstr>
      <vt:lpstr>Recommendations for non-Siemens PLCs</vt:lpstr>
      <vt:lpstr>Q2: Resilience to Reconnaissance - YES</vt:lpstr>
      <vt:lpstr>Shodan Test</vt:lpstr>
      <vt:lpstr>Internet Interaction Experiment</vt:lpstr>
      <vt:lpstr>S7Comm Connections Received by Geolocations</vt:lpstr>
      <vt:lpstr>Injecting Ladder Logic</vt:lpstr>
      <vt:lpstr>Limitations – from the paper</vt:lpstr>
      <vt:lpstr>More Limitations - Concluded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عبدالعزيز صلاح محمد عبده نعمه الله</dc:creator>
  <cp:lastModifiedBy>عبدالعزيز صلاح محمد عبده نعمه الله</cp:lastModifiedBy>
  <cp:revision>30</cp:revision>
  <dcterms:created xsi:type="dcterms:W3CDTF">2025-08-03T13:24:13Z</dcterms:created>
  <dcterms:modified xsi:type="dcterms:W3CDTF">2025-10-15T13:12:20Z</dcterms:modified>
</cp:coreProperties>
</file>